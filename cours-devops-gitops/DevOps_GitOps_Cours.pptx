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51c669f-35a4-dfbe-4605-ad09bb887ce6}">
          <p14:sldIdLst>
            <p14:sldId id="257"/>
          </p14:sldIdLst>
        </p14:section>
        <p14:section name="Débutant" id="{e79b478e-9675-20f5-c27a-2fde6a7577eb}">
          <p14:sldIdLst>
            <p14:sldId id="258"/>
            <p14:sldId id="259"/>
            <p14:sldId id="260"/>
            <p14:sldId id="261"/>
            <p14:sldId id="262"/>
            <p14:sldId id="263"/>
            <p14:sldId id="264"/>
            <p14:sldId id="265"/>
            <p14:sldId id="266"/>
            <p14:sldId id="267"/>
            <p14:sldId id="268"/>
          </p14:sldIdLst>
        </p14:section>
        <p14:section name="Intermédiaire" id="{1d4bed46-656b-f222-fc6f-2a9daec77f4e}">
          <p14:sldIdLst>
            <p14:sldId id="269"/>
            <p14:sldId id="270"/>
            <p14:sldId id="271"/>
            <p14:sldId id="272"/>
            <p14:sldId id="273"/>
            <p14:sldId id="274"/>
            <p14:sldId id="275"/>
            <p14:sldId id="276"/>
            <p14:sldId id="277"/>
            <p14:sldId id="278"/>
            <p14:sldId id="279"/>
          </p14:sldIdLst>
        </p14:section>
        <p14:section name="GitOps" id="{063bd9f7-ce85-dc9f-348d-aa07ad9de1a8}">
          <p14:sldIdLst>
            <p14:sldId id="280"/>
            <p14:sldId id="281"/>
            <p14:sldId id="282"/>
            <p14:sldId id="283"/>
            <p14:sldId id="284"/>
            <p14:sldId id="285"/>
            <p14:sldId id="286"/>
            <p14:sldId id="287"/>
            <p14:sldId id="288"/>
            <p14:sldId id="289"/>
            <p14:sldId id="290"/>
            <p14:sldId id="291"/>
            <p14:sldId id="292"/>
            <p14:sldId id="293"/>
            <p14:sldId id="294"/>
            <p14:sldId id="295"/>
          </p14:sldIdLst>
        </p14:section>
        <p14:section name="Expert" id="{523bde64-039a-e750-7788-49ab4261769c}">
          <p14:sldIdLst>
            <p14:sldId id="296"/>
            <p14:sldId id="297"/>
            <p14:sldId id="298"/>
            <p14:sldId id="299"/>
            <p14:sldId id="300"/>
            <p14:sldId id="301"/>
            <p14:sldId id="302"/>
            <p14:sldId id="303"/>
            <p14:sldId id="304"/>
            <p14:sldId id="305"/>
            <p14:sldId id="306"/>
            <p14:sldId id="307"/>
            <p14:sldId id="308"/>
          </p14:sldIdLst>
        </p14:section>
        <p14:section name="Conclusion" id="{8423dc71-bd92-fb29-aa0a-e8dc84cbb9b5}">
          <p14:sldIdLst>
            <p14:sldId id="309"/>
            <p14:sldId id="310"/>
            <p14:sldId id="311"/>
          </p14:sldIdLst>
        </p14:section>
        <p14:section name="Synthèse et glossaire" id="{e1e84073-1904-ef71-be5a-03cf5e524935}">
          <p14:sldIdLst>
            <p14:sldId id="312"/>
            <p14:sldId id="313"/>
            <p14:sldId id="314"/>
          </p14:sldIdLst>
        </p14:section>
        <p14:section name="Corrigés des TP" id="{5379dad3-455e-a726-27d7-1776f8eec4d8}">
          <p14:sldIdLst>
            <p14:sldId id="315"/>
            <p14:sldId id="316"/>
            <p14:sldId id="317"/>
            <p14:sldId id="318"/>
            <p14:sldId id="319"/>
            <p14:sldId id="320"/>
            <p14:sldId id="321"/>
            <p14:sldId id="322"/>
            <p14:sldId id="323"/>
            <p14:sldId id="324"/>
            <p14:sldId id="325"/>
            <p14:sldId id="326"/>
            <p14:sldId id="327"/>
            <p14:sldId id="328"/>
            <p14:sldId id="32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3 min
Objectif : Poser le cadre, le public visé et le déroulé en 4 niveaux.
À dire :
Présentez-vous, annoncez que le cours va du débutant à l'expert et qu'on avance par niveaux : bases DevOps, pratiques intermédiaires, GitOps, puis sujets experts. Précisez que chaque niveau se termine par un TP et que les corrigés sont en annexe. Demandez aux participants de ne pas regarder l'annexe avant d'avoir essayé.
Question à poser : Qui a déjà utilisé Git, Docker ou Kubernetes ? Cela permet d'ajuster le rythme.
Piège ou point d'attention : Ne pas survendre : DevOps et GitOps ne sont pas des outils à installer mais des façons de travailler.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3 min
Objectif : Donner la carte du cours et le volume horaire.
À dire :
Parcourez les quatre colonnes. Le cours représente environ 4 heures de présentation, plus 11 heures de travaux pratiques répartis sur les quatre niveaux (1 h 30, 3 h, 2 h, 1 h 30 et 3 h). Quatre quiz de fin de niveau, d'environ 8 minutes chacun, vérifient les acquis. Chaque colonne cite son ou ses TP. Expliquez que les niveaux sont cumulatifs : GitOps suppose de comprendre le CI/CD, l'IaC et Kubernetes.
Question à poser : Quel niveau vous intéresse le plus ? Cela aide à décider où passer plus de temps.
Piège ou point d'attention : Un public débutant peut s'arrêter après le niveau intermédiaire et revenir plus tard sur GitOps.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1 min
Objectif : Introduire le niveau débutant.
À dire :
Annoncez l'objectif : comprendre pourquoi le DevOps existe, ce qu'il recouvre et à quoi ressemble un pipeline. Aucun prérequis technique n'est nécessaire pour cette partie.
Question à poser : Avez-vous déjà vécu une mise en production difficile ?
Piège ou point d'attention : Laisser deux ou trois témoignages, pas plus : ils servent de fil rouge pour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Faire comprendre l'origine du DevOps : un conflit d'objectifs.
À dire :
Les développeurs sont jugés sur la capacité à livrer du changement, les équipes d'exploitation sur la stabilité. Ces objectifs s'opposent : plus on change, plus on risque de casser. Résultat : des livraisons rares, volumineuses et risquées, des reproches mutuels et le « mur de la confusion » où chaque équipe jette la responsabilité de l'autre côté. La phrase « ça marche sur ma machine » symbolise ce mur.
Question à poser : Dans votre organisation, qui est réveillé la nuit quand la production tombe ?
Piège ou point d'attention : Ne pas caricaturer : les deux équipes ont raison dans leur logique. Le DevOps aligne les objectifs, il ne désigne pas un coupable.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Définir le DevOps comme culture, pratiques et outils.
À dire :
DevOps vient de Development et Operations. Ce n'est ni un outil ni un poste : c'est une culture de collaboration et de responsabilité partagée, appuyée par l'automatisation, la mesure et le partage des connaissances. Le modèle CALMS résume cela : Culture, Automation, Lean, Measurement, Sharing. Insistez sur le fait qu'acheter un outil ne rend pas une équipe DevOps.
Question à poser : Un « ingénieur DevOps » seul dans son coin fait-il du DevOps ?
Piège ou point d'attention : Confusion fréquente : créer une équipe DevOps séparée recrée un silo de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4 min
Objectif : Montrer le cycle continu de la planification à la supervision.
À dire :
Les huit phases forment une boucle : planifier, coder, construire, tester, publier, déployer, opérer, superviser. La partie haute est surtout côté développement, la partie basse côté exploitation, mais personne n'est propriétaire d'une seule moitié. Le point clé est le retour : ce que l'on observe en production alimente la planification suivante.
Question à poser : Quelle phase est la plus faible dans votre équipe aujourd'hui ?
Piège ou point d'attention : Ne pas présenter la boucle comme une suite de phases rigides : les cycles sont courts et se chevauchent.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4 min
Objectif : Présenter les six pratiques qui structurent le DevOps.
À dire :
Contrôle de version pour tout le code, intégration continue, livraison continue, infrastructure as code, supervision et feedback rapide. Annoncez que chacune sera détaillée ensuite. Le point commun : réduire la taille et le risque de chaque changement en les rendant automatisables et mesurables.
Question à poser : Laquelle de ces pratiques existe déjà chez vous, même partiellement ?
Piège ou point d'attention : Ne pas tout vouloir adopter d'un coup : on commence par le contrôle de version et la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Faire visualiser le chemin d'un commit jusqu'à la production.
À dire :
Cinq étapes : commit, build, tests, package, déploiement. Chaque push sur Git déclenche le pipeline. Si une étape échoue, le pipeline s'arrête et l'auteur est prévenu tout de suite. Règle d'or : un pipeline rapide, idéalement moins de dix minutes, et un build rouge est corrigé avant toute autre chose. Le build est la responsabilité de toute l'équipe, pas seulement de son auteur.
Question à poser : Combien de temps met votre pipeline actuel, et que se passe-t-il quand il échoue ?
Piège ou point d'attention : Un pipeline lent ou instable pousse les gens à le contourner : surveillez la durée et la fiabilité.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4 min
Objectif : Visualiser la chaîne complète du développeur à la production avec son retour d'information.
À dire :
Suivez le flux de gauche à droite : le développeur pousse son code dans Git, la CI construit, teste et analyse, l'image versionnée est stockée dans un registre, puis déployée en staging et en production. La supervision, en bas, observe la production et renvoie un retour rapide au développeur : c'est ce qui ferme la boucle DevOps. Faites remarquer qu'une seule étape manuelle ou lente ralentit toute la chaîne.
Question à poser : Où se situe aujourd'hui le goulot d'étranglement dans votre chaîne ?
Piège ou point d'attention : Ne pas oublier le retour d'information : une chaîne sans supervision n'est qu'une chaîne de livraison, pas une boucle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Distinguer trois notions souvent confondues.
À dire :
L'intégration continue compile et teste chaque commit. La livraison continue garantit que le code est toujours prêt à être déployé, mais le passage en production reste une décision manuelle. Le déploiement continu supprime cette décision : tout changement validé part seul en production. La différence tient à l'approbation humaine avant la production. Le déploiement continu exige une très bonne couverture de tests et une bonne observabilité.
Question à poser : Dans quel cas un déploiement manuel reste-t-il justifié ?
Piège ou point d'attention : Le sigle CD est ambigu : précisez toujours Delivery ou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4 min
Objectif : Situer les outils sans en faire une liste à apprendre par cœur.
À dire :
Chaque phase a ses outils : Git pour le code, GitHub Actions, GitLab CI ou Jenkins pour le CI/CD, Docker pour les conteneurs, Kubernetes ou OpenShift pour l'orchestration, Terraform ou Ansible pour l'infrastructure, Prometheus et Grafana pour la supervision. Les outils changent, les principes restent : choisissez selon le contexte et l'écosystème de l'équipe.
Question à poser : Quels outils de ce tableau utilisez-vous déjà ?
Piège ou point d'attention : Éviter la guerre des outils : l'important est le principe, pas la marque.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1 h 30
Objectif : Construire un pipeline GitHub Actions qui teste une petite application.
À dire :
Donnez la consigne puis laissez les participants travailler. Les étapes : créer le dépôt, ajouter le fichier ci.yml, brancher lint et tests, casser volontairement un test, constater l'échec, corriger, ajouter un badge. Faites constater que l'échec bloque la fusion si la protection de branche est activée. Le corrigé est en annexe.
Question à poser : Qu'avez-vous ressenti en voyant le pipeline rouge juste après votre push ?
Piège ou point d'attention : Erreurs courantes : mauvais chemin du fichier (il doit être dans .github/workflows), version de Node absente, scripts npm inexistants.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8 min
Objectif : Vérifier les acquis du niveau débutant.
À dire :
Laisser 5 minutes de réflexion individuelle, puis faire voter à main levée pour chaque réponse avant de révéler la bonne. Le corrigé détaillé est en annexe.
Question à poser : Quelle question vous a le plus fait hésiter, et pourquoi ?
Piège ou point d'attention : Ne pas révéler les réponses avant que chacun ait répondu : ne pas corriger pendant la saisie.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1 min
Objectif : Introduire le niveau intermédiaire.
À dire :
Cette partie couvre l'infrastructure as code, les conteneurs, les stratégies de déploiement, l'observabilité, la sécurité intégrée et la mesure de la performance. Elle prépare directement GitOps.
Question à poser : Qui a déjà écrit un Dockerfile ou un manifeste Kubernetes ?
Piège ou point d'attention : Vérifier que le public débutant n'est pas perdu avant d'avancer.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Comprendre qu'on décrit l'infrastructure comme du code versionné.
À dire :
Au lieu de cliquer dans une console, on décrit les ressources dans des fichiers stockés dans Git. Avantages : reproductibilité (mêmes fichiers, même résultat), revue de code, historique et retour arrière. Terraform est déclaratif : on décrit l'état voulu et l'outil calcule les actions. Ansible sert surtout à configurer des machines. Sur l'exemple, montrez la ressource aws_instance et les commandes plan puis apply : le plan montre les changements avant de les appliquer.
Question à poser : Que se passe-t-il si quelqu'un modifie une ressource à la main dans la console ?
Piège ou point d'attention : Ne pas confondre déclaratif et procédural. Ne jamais appliquer sans avoir lu le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Expliquer le rôle de Docker et de Kubernetes.
À dire :
Un conteneur empaquette l'application et ses dépendances dans une image portable et immuable : il règle le « ça marche sur ma machine ». Montrez le Dockerfile : image de base, répertoire de travail, copie, installation, commande de démarrage. Kubernetes orchestre ces conteneurs à grande échelle : placement, redémarrage automatique, mise à l'échelle, mises à jour progressives. Le schéma image, registre, pods, service résume le chemin.
Question à poser : Quelle différence entre une image et un conteneur ?
Piège ou point d'attention : Un conteneur n'est pas une machine virtuelle : il partage le noyau de l'hôte.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Comprendre le rôle des composants du control plane et des nœuds.
À dire :
Toute interaction passe par l'API Server, que l'on appelle avec kubectl ou depuis la CI. etcd conserve l'état du cluster, le scheduler décide sur quel nœud placer chaque pod, le controller manager fait converger l'état réel vers l'état voulu. Sur chaque nœud worker, le kubelet démarre et surveille les pods, et kube-proxy gère le réseau des services. Insistez sur le principe de boucle de contrôle : c'est exactement ce que GitOps reprendra à l'échelle des dépôts.
Question à poser : Que se passe-t-il si un nœud tombe ? Quel composant réagit ?
Piège ou point d'attention : Ne pas confondre control plane (qui décide) et nœuds worker (qui exécutent). Les noms de composants varient selon les distributions.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Comparer rolling, blue/green et canary.
À dire :
Rolling update : on remplace les instances une par une, simple et sans coupure, mais le retour arrière est plus lent. Blue/green : deux environnements identiques, on bascule le trafic d'un coup, retour instantané mais coût doublé. Canary : la nouvelle version reçoit d'abord 5 % du trafic, puis davantage, ce qui limite le risque mais complique la mise en œuvre. Le choix dépend du risque acceptable et du budget.
Question à poser : Pour une application bancaire et pour un blog, quelle stratégie choisiriez-vous ?
Piège ou point d'attention : Le canary n'a d'intérêt que si l'on mesure vraiment la santé de la nouvelle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Distinguer surveiller et comprendre, et présenter les trois piliers.
À dire :
Le monitoring dit que quelque chose va mal, l'observabilité aide à comprendre pourquoi. Trois piliers complémentaires : les métriques (CPU, latence, taux d'erreurs avec Prometheus et Grafana), les logs (Loki, ELK) et les traces (OpenTelemetry, Jaeger). Alertez sur les symptômes vécus par les utilisateurs (objectifs de niveau de service, erreurs, latence) plutôt que sur chaque CPU à 80 %.
Question à poser : Avez-vous déjà reçu une alerte inutile à trois heures du matin ?
Piège ou point d'attention : Trop d'alertes tue l'alerte : chaque alerte doit déclencher une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4 min
Objectif : Relier les trois types de signaux aux outils qui les collectent.
À dire :
Les services exposent des métriques que Prometheus récupère par scraping, produisent des logs collectés par Loki et envoient des traces via OpenTelemetry vers Tempo ou Jaeger. Grafana lit les trois sources et permet de les corréler dans un même tableau de bord. Prometheus évalue des règles et envoie les alertes à Alertmanager, qui les route vers Slack, le courriel ou l'astreinte.
Question à poser : Quel signal consulteriez-vous en premier pour une lenteur, et lequel pour une erreur ponctuelle ?
Piège ou point d'attention : Des outils différents peuvent remplir chaque rôle (ELK, Datadog, etc.) : le schéma montre le principe, pas une obligation.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Montrer comment intégrer la sécurité au pipeline.
À dire :
Le principe du shift-left consiste à détecter les problèmes de sécurité le plus tôt possible, car ils coûtent moins cher à corriger. À chaque étape, un contrôle : analyse statique du code, analyse des dépendances, scan d'images (Trivy, Grype), tests dynamiques, surveillance à l'exécution (Falco). Les secrets ne vont jamais dans Git : on utilise un coffre. La sécurité devient une responsabilité partagée.
Question à poser : Qui, aujourd'hui, valide la sécurité de vos livraisons, et à quel moment ?
Piège ou point d'attention : Un scan qui bloque tout sans tri sera désactivé : réglez les seuils de gravité.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Présenter les quatre métriques de performance de livraison.
À dire :
Deux métriques de vitesse : fréquence de déploiement et délai de livraison. Deux de stabilité : taux d'échec des changements et temps de restauration. Les repères « Elite » du rapport DORA sont un déploiement à la demande, un délai inférieur à un jour, un taux d'échec de 0 à 15 % et une restauration en moins d'une heure. Message clé : les équipes performantes sont à la fois rapides et stables, il n'y a pas de compromis.
Question à poser : Quelle est votre fréquence de déploiement actuelle ?
Piège ou point d'attention : Ces repères datent d'un rapport précis : vérifiez les valeurs de la dernière édition avant de les citer comme objectif. Une métrique utilisée pour juger les personnes est vite faussée.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3 h
Objectif : Conteneuriser, déployer sur un cluster local et décrire l'infrastructure en code.
À dire :
Présentez les cinq étapes : Dockerfile et build, cluster kind, manifestes Deployment et Service, Terraform avec le fournisseur docker, mise à jour progressive puis rollback. Prévoyez du temps d'installation des outils. Insistez sur terraform plan avant apply.
Question à poser : Comment savez-vous que votre application tourne bien dans le cluster ?
Piège ou point d'attention : Avec kind, l'image locale doit être chargée dans le cluster, sinon le pod reste en erreur de téléchargement d'image. Prévoir une marge si le réseau est 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8 min
Objectif : Vérifier les acquis du niveau intermédiaire.
À dire :
Faire répondre en binômes, puis comparer les réponses. Demandez de justifier le choix avant de donner la bonne réponse. Le corrigé détaillé est en annexe.
Question à poser : Quelle question vous a le plus fait hésiter, et pourquoi ?
Piège ou point d'attention : Ne pas révéler les réponses avant que chacun ait répondu : ne pas corriger pendant la saisie.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1 min
Objectif : Introduire le niveau GitOps.
À dire :
Annoncez que GitOps prolonge ce qui précède : Git devient la source unique de vérité et un agent applique automatiquement l'état décrit. Cette partie contient le plus gros du cours et deux TP.
Question à poser : Que se passerait-il si plus personne n'avait accès direct à la production ?
Piège ou point d'attention : Vérifier que Kubernetes est compris avant d'aller plus loin.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Définir GitOps et ses bénéfices.
À dire :
GitOps est un mode d'exploitation où l'état désiré du système est décrit de façon déclarative dans Git, et où un agent réconcilie en continu l'état réel avec cet état désiré. Le terme a été popularisé par Weaveworks en 2017. Formule à retenir : IaC + Git + pull request + réconciliation automatique. Bénéfices : auditabilité (chaque changement est un commit), retour arrière simple (git revert) et sécurité renforcée (pas d'accès direct au cluster).
Question à poser : En quoi un commit Git est-il un meilleur journal d'audit qu'un historique de commandes ?
Piège ou point d'attention : GitOps s'applique surtout à Kubernetes mais n'y est pas limité. Ce n'est pas un remplaçant du DevOps, c'en est une pratique.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Faire mémoriser les quatre principes du groupe OpenGitOps.
À dire :
1. Déclaratif : on décrit l'état voulu, pas les étapes. 2. Versionné et immuable : l'état désiré est dans Git avec son historique. 3. Tiré automatiquement : des agents récupèrent l'état depuis la source. 4. Réconcilié en continu : les agents corrigent toute dérive. Faites reformuler chaque principe avec ses propres mots.
Question à poser : Lequel de ces principes manque dans votre processus de déploiement actuel ?
Piège ou point d'attention : Le principe 3 est celui qui distingue le plus GitOps du CI/CD classique : l'agent tire, la CI ne pousse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Faire comprendre le cœur du fonctionnement de GitOps.
À dire :
La boucle tourne en permanence : l'agent lit l'état désiré dans Git, observe l'état réel du cluster, compare les deux pour détecter une dérive, puis applique les changements pour corriger l'écart, et recommence. Une dérive est tout écart entre Git et le cluster, par exemple un kubectl scale manuel. Avec selfHeal, l'agent la corrige tout seul. Faites le lien avec les boucles de contrôle de Kubernetes vues plus tôt.
Question à poser : Si je modifie un déploiement à la main, que se passe-t-il à la prochaine itération ?
Piège ou point d'attention : La boucle n'est pas instantanée : Argo CD interroge Git environ toutes les trois minutes sauf webhook ; la détection de dérive sur le cluster est plus rapide.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Comprendre la différence de modèle et ses conséquences de sécurité.
À dire :
Dans le modèle push, la CI exécute kubectl et détient les identifiants du cluster : surface d'attaque plus large et dérive non détectée. Dans le modèle pull, un agent dans le cluster lit Git et applique : aucun identifiant n'est exposé à l'extérieur et la dérive est corrigée. Dessinez les deux flux au tableau pour le montrer.
Question à poser : Où sont stockés aujourd'hui les identifiants qui permettent de déployer en production ?
Piège ou point d'attention : Le modèle pull n'élimine pas la CI : elle construit toujours l'image et met à jour le dépôt de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Décrire les composants et le flux d'un changement.
À dire :
Il y a deux dépôts : celui du code de l'application et celui de la configuration. La CI construit et teste, pousse l'image dans le registre, puis ouvre une pull request qui met à jour le tag d'image dans le dépôt de configuration. L'agent (Argo CD ou Flux) surveille ce dépôt, compare l'état Git à l'état du cluster et réconcilie.
Question à poser : Pourquoi sépare-t-on le code de la configuration ?
Piège ou point d'attention : Si la CI écrit dans le même dépôt que celui qu'elle surveille, on risque des boucles de déclenchement infinies.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7 min
Objectif : Montrer tous les composants et la frontière du cluster.
À dire :
En haut, hors du cluster : le développeur pousse le code, la CI construit l'image, la publie dans le registre et ouvre une pull request qui met à jour le tag dans le dépôt de configuration. Le développeur peut aussi modifier directement la configuration par pull request. Dans le cluster, Argo CD tire le dépôt de configuration (repo-server clone et rend les manifestes, l'application controller compare et applique), puis crée ou met à jour les ressources. Le cluster récupère l'image dans le registre. Soulignez qu'aucun flux entrant n'existe depuis la CI vers le cluster.
Question à poser : Quelle flèche disparaît dans ce schéma par rapport à un CD classique ?
Piège ou point d'attention : Le dépôt de configuration est le point critique : protégez-le par des revues obligatoires et des droits restreints.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Comparer les deux outils principaux sans trancher à la place du public.
À dire :
Les deux sont des projets CNCF gradués et fonctionnent en mode pull. Argo CD offre une interface web riche, une ressource Application et un pilotage multi-cluster centralisé. Flux est modulaire (GitOps Toolkit), natif Kubernetes et sans interface native, mais des outils tiers en proposent une. Choisissez selon le besoin de visualisation, l'échelle et les habitudes de l'équipe.
Question à poser : Votre équipe préfère-t-elle une interface graphique ou tout piloter en YAML ?
Piège ou point d'attention : Ne pas présenter l'un comme meilleur : les deux sont matures. Les fonctionnalités évoluent vite, vérifiez la documentation actuelle.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Lire ligne à ligne une ressource Application.
À dire :
La ressource Application relie un dépôt à un cluster. Source : dépôt, chemin et révision. Destination : cluster et namespace. La politique de synchronisation automated applique les changements sans clic. prune supprime les ressources retirées de Git. selfHeal annule les modifications faites à la main. Faites remarquer que tout cela est lui-même décrit en YAML, donc versionné.
Question à poser : Que se passe-t-il si on supprime un fichier du dépôt avec prune activé ?
Piège ou point d'attention : prune est puissant : testez-le d'abord sur un environnement non critique.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Donner une structure de dépôt de configuration éprouvée.
À dire :
Recommandation : un dépôt de configuration séparé du code applicatif. Pour les environnements, des dossiers plutôt que des branches : une base commune et un overlay par environnement (dev, staging, prod) avec Kustomize, ou des fichiers de valeurs avec Helm. La promotion d'un environnement à l'autre devient une pull request qui modifie le dossier suivant.
Question à poser : Combien d'environnements avez-vous, et comment les différencie-t-on aujourd'hui ?
Piège ou point d'attention : Une branche par environnement mène à des fusions pénibles et à des dérives silencieuses.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4 min
Objectif : Visualiser la promotion par pull request d'un dossier à l'autre.
À dire :
Le dépôt de configuration contient un dossier par environnement. Un changement est d'abord validé en dev, puis promu vers staging, puis vers prod, chaque étape étant une pull request. Dev et staging se synchronisent automatiquement, la production attend l'approbation avant de se synchroniser. Cela donne une traçabilité complète de ce qui est déployé où et par qui.
Question à poser : Qui doit approuver une promotion vers la production chez vous ?
Piège ou point d'attention : Promouvoir signifie copier la version validée, pas reconstruire l'image : l'artefact testé en staging est celui qui part en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Dérouler un changement de bout en bout.
À dire :
Six étapes : créer une branche, ouvrir une pull request, revue et CI (tests, politiques, approbation), fusion sur main, synchronisation par l'agent, vérification de la santé. Le déploiement se fait en fusionnant, pas en exécutant des commandes. Le retour arrière est un git revert, que l'agent applique en quelques secondes. Git log donne qui, quoi, quand et pourquoi.
Question à poser : Qui peut aujourd'hui déployer en production chez vous, et comment le prouve-t-on ?
Piège ou point d'attention : Si quelqu'un contourne ce flux avec kubectl, on perd la garantie de traçabilité.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4 min
Objectif : Synthétiser les différences en un tableau.
À dire :
Parcourez les lignes : source de vérité (pipeline contre Git), déploiement (push contre pull), dérive (non détectée contre corrigée), retour arrière (relancer un pipeline contre git revert), accès au cluster, audit. Rappelez que GitOps ne remplace pas DevOps : c'est une implémentation opérationnelle. La CI reste, c'est surtout la partie déploiement qui change.
Question à poser : Quelle ligne du tableau vous convaincrait le plus d'adopter GitOps ?
Piège ou point d'attention : Ne pas opposer les deux de façon caricaturale.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2 h
Objectif : Déployer une application uniquement par commits Git.
À dire :
Étapes : installer Argo CD, accéder à l'interface, créer l'Application pointant sur overlays/dev, modifier le nombre de réplicas dans Git, puis faire un git revert. Règle du TP : une fois l'Application créée, personne n'applique plus rien avec kubectl.
Question à poser : Pourquoi le rollback est-il ici une simple commande Git ?
Piège ou point d'attention : Argo CD interroge Git environ toutes les trois minutes : proposer un rafraîchissement manuel pour ne pas attendre.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1 h 30
Objectif : Constater la correction de dérive et promouvoir un changement.
À dire :
Les participants activent selfHeal et prune, provoquent une dérive avec kubectl scale, observent le retour automatique à la valeur de Git, puis promeuvent une modification vers staging par pull request. Montrez que Git reste la seule source de vérité.
Question à poser : Pourquoi le changement manuel a-t-il été annulé, et est-ce souhaitable en cas d'urgence ?
Piège ou point d'attention : Prévoir une procédure d'urgence documentée (corriger dans Git en accéléré) plutôt que de désactiver selfHeal.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8 min
Objectif : Vérifier les acquis du niveau gitops.
À dire :
Faire répondre individuellement puis débattre des réponses divergentes. Les questions 2 et 3 sont les plus discriminantes. Le corrigé détaillé est en annexe.
Question à poser : Quelle question vous a le plus fait hésiter, et pourquoi ?
Piège ou point d'attention : Ne pas révéler les réponses avant que chacun ait répondu : ne pas corriger pendant la saisie.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1 min
Objectif : Introduire le niveau expert.
À dire :
Cette partie aborde ce qui se complique en production : secrets, multi-cluster, déploiement progressif, politiques, chaîne d'approvisionnement et plateforme interne.
Question à poser : Quel sujet de cette liste vous préoccupe le plus ?
Piège ou point d'attention : Prévenir que certains outils demandent du temps de prise en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7 min
Objectif : Résoudre le dilemme : tout dans Git, mais pas les secrets en clair.
À dire :
Trois familles de solutions. Chiffrer dans Git : Sealed Secrets (chiffrement asymétrique, clé dans le cluster) ou SOPS avec age ou un KMS (seules les valeurs sont chiffrées, le diff reste lisible). Référencer un coffre externe : External Secrets Operator avec Vault ou un gestionnaire cloud, rien n'est stocké dans Git et la rotation est centralisée. Règle : un secret en clair dans Git est compromis, même après suppression, à cause de l'historique.
Question à poser : Où sont stockés vos secrets aujourd'hui, et qui peut les lire ?
Piège ou point d'attention : Sealed Secrets n'est pas portable entre clusters sans partager la clé. Avec Argo CD, SOPS demande un greffon (KSOPS) alors que Flux le gère nativement.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Comparer les deux grandes approches de gestion des secrets en GitOps.
À dire :
Approche A : le développeur chiffre le secret (SOPS, Sealed Secrets) avant de le committer ; Git ne contient que la version chiffrée, qu'un composant du cluster (Flux, KSOPS, le contrôleur Sealed Secrets) déchiffre pour créer le secret Kubernetes lu par les pods. Approche B : Git ne contient qu'une référence (ExternalSecret) ; l'External Secrets Operator lit la valeur dans un coffre (Vault ou gestionnaire cloud) et crée le secret dans le cluster. Dans B, aucune valeur, même chiffrée, ne passe par Git.
Question à poser : Quelle approche convient à une organisation qui exige une rotation centralisée des secrets ?
Piège ou point d'attention : Dans les deux cas, le secret Kubernetes final est simplement encodé en base64 dans le cluster : protégez l'accès et activez le chiffrement au repos.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Gérer plusieurs clusters sans dupliquer les Applications.
À dire :
Une ApplicationSet génère des Applications à partir de générateurs : liste de clusters, dossiers Git, matrice. Un seul modèle produit une Application par cluster, avec des valeurs adaptées. Architecture courante : un Argo CD central qui pilote plusieurs clusters (hub-and-spoke), ou un Argo CD par cluster pour limiter l'impact d'une panne. La promotion entre régions se fait par pull request.
Question à poser : Combien de clusters avez-vous, et comment sont-ils alignés aujourd'hui ?
Piège ou point d'attention : Un Argo CD central devient un point critique : sauvegardez-le et surveillez-le.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Montrer comment un Argo CD central pilote plusieurs clusters.
À dire :
Un cluster de gestion héberge Argo CD et une ApplicationSet. Il lit le dépôt Git qui contient les modèles et les valeurs, puis génère une Application par cluster cible (ici deux clusters de production et un de staging, distingués par une étiquette). Un seul modèle produit N déploiements adaptés à chaque cible. Mentionnez l'alternative : un Argo CD par cluster, plus isolé mais plus lourd à administrer.
Question à poser : Que se passe-t-il si le cluster de gestion tombe ? Les applications continuent-elles de tourner ?
Piège ou point d'attention : Le cluster de gestion devient un point critique : sauvegardez-le, supervisez-le et limitez ses droits sur les clusters cibles.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Automatiser les déploiements canary et blue/green pilotés par des métriques.
À dire :
Argo Rollouts et Flagger font avancer une nouvelle version par paliers (par exemple 5, 25, 50 puis 100 %) et analysent des métriques à chaque palier, souvent depuis Prometheus. Si le taux d'erreur ou la latence dépasse un seuil, le retour arrière est automatique. Argo Rollouts remplace le Deployment par un Rollout, Flagger s'intègre à Flux et aux maillages de services.
Question à poser : Quelle métrique déciderait, chez vous, qu'une version est mauvaise ?
Piège ou point d'attention : Sans métriques fiables, la progressive delivery est un faux filet de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Expliquer la boucle automatique de la progressive delivery.
À dire :
Les utilisateurs arrivent sur l'ingress ou le maillage de services, qui répartit le trafic entre la version stable (par exemple 80 %) et la version canary (20 %). Les deux versions exposent des métriques que Prometheus collecte. Argo Rollouts interroge Prometheus pendant l'analyse : si les métriques respectent le seuil, il augmente la part du canary ; sinon il annule et ramène tout le trafic vers la version stable. L'ajustement des poids passe par l'ingress.
Question à poser : Quelle métrique seuil choisiriez-vous pour décider de l'échec du canary ?
Piège ou point d'attention : Sans trafic suffisant sur le canary, les métriques ne sont pas significatives : prévoir un volume minimal ou des tests synthétiques.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Faire respecter des règles automatiquement et sécuriser la chaîne de livraison.
À dire :
Les politiques (OPA Gatekeeper, Kyverno) refusent à l'admission les ressources non conformes : conteneur root, image non signée, absence de limites de ressources. Cosign et Sigstore signent les images et vérifient la signature. Un SBOM liste les composants d'un artefact (Syft) et les niveaux SLSA décrivent la fiabilité de la provenance du build. Ensemble, ils protègent contre les artefacts compromis.
Question à poser : Comment savez-vous que l'image en production est bien celle qu'a construite votre pipeline ?
Piège ou point d'attention : Commencer les politiques en mode audit avant de passer en mode blocage.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Situer GitOps dans une plateforme interne en libre-service.
À dire :
Les équipes plateforme réduisent la charge cognitive des développeurs en proposant un portail (par exemple Backstage), des golden paths (chemins balisés et supportés) et une infrastructure demandée par API (Crossplane). GitOps sert souvent de moteur de déploiement. Le développeur obtient un environnement ou un service par un modèle, sans connaître tous les détails de Kubernetes.
Question à poser : Qu'est-ce qui ralentit le plus vos développeurs pour obtenir un environnement ?
Piège ou point d'attention : Une plateforme est un produit : sans retour des utilisateurs internes, elle ne sera pas adoptée.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Montrer les couches d'une plateforme interne en libre-service.
À dire :
Les équipes produit formulent un besoin (un service, un environnement). Le portail développeur, par exemple Backstage, expose un catalogue, des templates et la documentation. Les golden paths sont des chemins balisés : modèles de services, pipelines et politiques prêts à l'emploi. En dessous, GitOps et Crossplane transforment ces demandes en ressources via Git et l'API Kubernetes, sur une infrastructure qui regroupe clusters, cloud, réseau et secrets. Chaque couche masque la complexité de celle du dessous.
Question à poser : Quelle couche ralentit le plus vos équipes aujourd'hui ?
Piège ou point d'attention : Une plateforme est un produit : sans retours des équipes produit, elle ne sera pas adoptée.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Éviter les erreurs fréquentes observées en pratique.
À dire :
Passez le tableau ligne par ligne : kubectl edit en production crée de la dérive, les secrets en clair sont une fuite définitive, une branche par environnement complique les fusions, mélanger code et configuration provoque des boucles de CI, le tag latest n'est pas reproductible, une synchronisation sans revue envoie les erreurs en production. Pour chacun, rappelez l'alternative.
Question à poser : Lequel de ces pièges avez-vous déjà rencontré ?
Piège ou point d'attention : Insister sur kubectl edit : c'est le contournement le plus tentant en cas d'urgence.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3 h
Objectif : Sécuriser un dépôt GitOps et déployer progressivement.
À dire :
Cinq étapes : chiffrer un secret avec SOPS et age, installer Kyverno, vérifier le refus d'un pod root, convertir le Deployment en Rollout canary, déployer une version défectueuse et observer le retour arrière. Travail conseillé en binômes.
Question à poser : Qu'est-ce qui a déclenché le retour arrière automatique ?
Piège ou point d'attention : Prévoir du temps pour installer les opérateurs. Ne jamais committer la clé privée 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8 min
Objectif : Vérifier les acquis du niveau expert.
À dire :
Faire répondre en petits groupes et laisser argumenter. Les questions 1 et 2 reviennent à la gestion des secrets : reliez-les au TP. Le corrigé détaillé est en annexe.
Question à poser : Quelle question vous a le plus fait hésiter, et pourquoi ?
Piège ou point d'attention : Ne pas révéler les réponses avant que chacun ait répondu : ne pas corriger pendant la saisie.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4 min
Objectif : Donner un plan de progression après le cours.
À dire :
Mois 1 : Git avancé, Linux, Docker et un pipeline GitHub Actions. Mois 2 : Terraform, Ansible, Kubernetes, Prometheus et Grafana. Mois 3 : Argo CD ou Flux, Kustomize ou Helm, secrets et politiques. Ensuite : progressive delivery, multi-cluster, platform engineering. Conseillez de tout pratiquer sur un même projet personnel, de bout en bout.
Question à poser : Quel projet réel pourriez-vous utiliser comme fil rouge ?
Piège ou point d'attention : Apprendre par la pratique : lire sans manipuler ne suffit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3 min
Objectif : Fixer quatre idées essentielles.
À dire :
DevOps est avant tout une culture outillée par l'automatisation. Le CI/CD livre vite, souvent et avec fiabilité. L'IaC décrit l'infrastructure comme du code. GitOps fait de Git la source de vérité et d'un agent la réconciliation continue. Demandez à chacun de citer l'idée qu'il retient.
Question à poser : Si vous ne deviez retenir qu'une chose, laquelle serait-ce ?
Piège ou point d'attention : Ne pas ajouter de nouveau contenu 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10 min
Objectif : Vérifier la compréhension de façon interactive.
À dire :
Posez les cinq questions à l'oral ou en binômes. Réponses : 1) c'est l'agent dans le cluster qui tire l'état depuis Git, pas la CI. 2) selfHeal annule automatiquement les changements manuels pour revenir à l'état de Git. 3) en faisant un git revert du commit, que l'agent applique. 4) avec un chiffrement dans Git (SOPS, Sealed Secrets) ou un coffre externe (External Secrets, Vault). 5) fréquence de déploiement, délai de livraison, taux d'échec des changements, temps de restauration.
Question à poser : Qui peut expliquer la réponse 1 à son voisin ?
Piège ou point d'attention : Laisser chercher avant de donner la réponse.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4 min
Objectif : Relier les quatre niveaux en une vue d'ensemble.
À dire :
Parcourez les quatre colonnes de gauche à droite. Le fil rouge est automatiser, versionner, réconcilier : on automatise la livraison (DevOps), on versionne tout ce qui la décrit (IaC), puis on laisse un agent réconcilier l'état réel avec Git (GitOps). Le niveau expert protège et fait passer à l'échelle cet ensemble.
Question à poser : Quel niveau pensez-vous pouvoir appliquer en premier dans votre contexte ?
Piège ou point d'attention : Ce slide sert aussi de support de révision : laissez-le affiché pendant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3 min
Objectif : Fournir un vocabulaire commun.
À dire :
Lisez rapidement les termes de Blue/Green à IaC et demandez si un mot reste flou. Ce glossaire peut être distribué comme aide-mémoire.
Question à poser : Quel terme de cette liste serait à expliquer à un collègue non technique ?
Piège ou point d'attention : Les définitions sont volontairement courtes : renvoyez vers les slides détaillés si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3 min
Objectif : Compléter le vocabulaire.
À dire :
Termes d'Image à Shift-left. Faites reformuler un ou deux termes par les participants, par exemple réconciliation et observabilité.
Question à poser : Quelle différence entre rollback et réconciliation ?
Piège ou point d'attention : Ne pas confondre Kustomize (personnalisation de YAML) et Helm (paquets avec modèles).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1 min
Objectif : Annoncer l'annexe des solutions.
À dire :
Les quatorze slides suivants donnent les solutions de référence des dix TP et des quatre quiz. À utiliser après avoir essayé : les noms (ORG, shop, URL, versions) sont à adapter. Les solutions n'ont pas été exécutées sur votre environnement : faites un essai à blanc avant la séance.
Question à poser : Qui souhaite montrer sa solution au groupe ?
Piège ou point d'attention : Les versions d'outils évoluent : vérifiez les commandes et les champs avant de les donner.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Valider la solution du premier pipeline.
À dire :
Le fichier se place dans .github/workflows/ci.yml. Il se déclenche sur push et pull_request, récupère le code, installe Node, puis lance installation, lint et tests. Adaptez la version de Node et les scripts npm au projet. Montrez le badge à coller dans le README et la protection de la branche main avec les contrôles obligatoires, pour que l'échec bloque la fusion.
Question à poser : Que se passe-t-il si la protection de branche n'est pas activée ?
Piège ou point d'attention : Le badge doit pointer vers le bon dépôt : remplacer ORG et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Corriger le Dockerfile et le Deployment.
À dire :
Le Dockerfile copie d'abord le fichier de dépendances pour profiter du cache des couches, installe sans les dépendances de développement, puis copie le code. Avec kind, il faut charger l'image dans le cluster avec kind load docker-image. Le Deployment utilise imagePullPolicy IfNotPresent pour ne pas chercher l'image dans un registre.
Question à poser : Pourquoi copie-t-on package.json avant le reste du code ?
Piège ou point d'attention : Sans kind load, le pod reste en erreur de téléchargement d'image.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Corriger le Service, la mise à jour et Terraform.
À dire :
Le Service sélectionne les pods par étiquette et redirige le port 80 vers le port 3000. Le port-forward permet de tester en local. set image lance une mise à jour progressive, rollout status la suit et rollout undo revient à la version précédente. Côté Terraform, le fournisseur kreuzwerker/docker permet de pratiquer sans compte cloud : on déclare une image et un conteneur, plan puis apply, et on termine par destroy.
Question à poser : Que montre terraform plan que apply ne montre pas ?
Piège ou point d'attention : Penser à lancer terraform init avant plan, et à détruire les ressources en fin de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Corriger l'installation d'Argo CD.
À dire :
On crée le namespace, on applique le manifeste officiel, puis on ouvre un port-forward vers le service argocd-server. L'utilisateur initial est admin et le mot de passe se lit dans le secret argocd-initial-admin-secret. Une fois le mot de passe changé, ce secret peut être supprimé.
Question à poser : Pourquoi ne pas exposer directement l'interface sur Internet ?
Piège ou point d'attention : Le certificat est auto-signé : le navigateur affichera un avertissement en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Corriger l'Application et le rollback par Git.
À dire :
L'Application pointe sur overlays/dev du dépôt de configuration. CreateNamespace=true crée le namespace s'il manque. La synchronisation automatique applique chaque commit. Pour le rollback, on fait un git revert puis un push : avec la synchronisation automatique, la commande argocd app rollback n'est pas utilisable. Argo CD vérifie Git environ toutes les trois minutes : utilisez Refresh ou un webhook.
Question à poser : Pourquoi préfère-t-on git revert à une modification manuelle du cluster ?
Piège ou point d'attention : Remplacer ORG par le bon compte. Si rien ne se passe, vérifier le chemin et la 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Corriger la dérive et la promotion par pull request.
À dire :
Avec selfHeal et prune activés, un kubectl scale est annulé en quelques secondes : le nombre de pods revient à la valeur de Git. Pour promouvoir, on modifie le tag d'image dans overlays/staging/kustomization.yaml sur une branche dédiée, on ouvre une pull request, puis on fusionne : Argo CD synchronise staging.
Question à poser : Que faire si une correction urgente doit passer plus vite que la revue ?
Piège ou point d'attention : Ne pas désactiver selfHeal pour contourner un incident : passer par Git, avec une revue accélérée.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Corriger le chiffrement des secrets avec SOPS et age.
À dire :
On génère une clé age, puis SOPS chiffre uniquement les champs data et stringData grâce à l'option encrypted-regex, ce qui garde un diff lisible. On committe le fichier chiffré, jamais la clé privée : key.txt est ajouté au .gitignore. Le grep qui retourne 0 prouve qu'aucune valeur n'est en clair. Le déchiffrement se fait avec la variable SOPS_AGE_KEY_FILE.
Question à poser : Que faire si la clé privée a fuité ?
Piège ou point d'attention : Flux déchiffre SOPS nativement; avec Argo CD, passer par KSOPS ou External Secrets.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Corriger la politique qui interdit les conteneurs root.
À dire :
La ClusterPolicy en mode Enforce valide que les pods ont runAsNonRoot à true. Un pod lancé avec une image standard sans cette configuration est refusé avec le message de la politique. Un pod conforme déclare runAsNonRoot et utilise une image qui ne tourne pas en root, par exemple nginxinc/nginx-unprivileged.
Question à poser : Pourquoi commencer par le mode audit en production ?
Piège ou point d'attention : Selon la version de Kyverno, validationFailureAction est remplacé par validate.failureAction (à partir de la 1.13) mais l'ancien champ reste accepté.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Corriger la conversion en Rollout canary.
À dire :
Le Rollout remplace le Deployment et garde la même section template. La stratégie canary avance à 20 %, pause de 30 secondes, 50 %, analyse automatique, puis 100 %. Le plugin kubectl argo rollouts permet de suivre la progression. Avec une image défectueuse, l'analyse échoue, le statut passe à Degraded et la version stable est rétablie automatiquement.
Question à poser : Que se passe-t-il pendant la pause de 30 secondes ?
Piège ou point d'attention : Le plugin kubectl argo rollouts doit être installé séparément.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6 min
Objectif : Corriger l'AnalysisTemplate basé sur Prometheus.
À dire :
L'AnalysisTemplate interroge Prometheus toutes les 30 secondes. La version est jugée saine si au moins 95 % des requêtes ne sont pas en erreur 5xx (successCondition result[0] &gt;= 0.95). failureLimit à 1 tolère un seul échec de mesure avant l'abandon. L'adresse de Prometheus et le nom de la métrique sont à adapter à l'environnement.
Question à poser : Comment choisir un seuil de 95 % plutôt que 99 % ?
Piège ou point d'attention : Si la métrique n'existe pas, l'analyse échoue : vérifier la requête dans Prometheus avant de lancer le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Expliquer chaque bonne réponse, et pas seulement la donner.
À dire :
Lisez chaque réponse avec son explication, puis demandez quelle option fausse était la plus tentante et pourquoi. Revenez au slide du cours correspondant si une notion reste floue.
Question à poser : Qui a eu tout juste, et qui peut expliquer la question la plus difficile ?
Piège ou point d'attention : Les distracteurs sont des confusions réelles (outil contre culture, pull contre push) : exploitez-les.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Expliquer chaque bonne réponse, et pas seulement la donner.
À dire :
Lisez chaque réponse avec son explication, puis demandez quelle option fausse était la plus tentante et pourquoi. Revenez au slide du cours correspondant si une notion reste floue.
Question à poser : Qui a eu tout juste, et qui peut expliquer la question la plus difficile ?
Piège ou point d'attention : Les distracteurs sont des confusions réelles (outil contre culture, pull contre push) : exploitez-les.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Expliquer chaque bonne réponse, et pas seulement la donner.
À dire :
Lisez chaque réponse avec son explication, puis demandez quelle option fausse était la plus tentante et pourquoi. Revenez au slide du cours correspondant si une notion reste floue.
Question à poser : Qui a eu tout juste, et qui peut expliquer la question la plus difficile ?
Piège ou point d'attention : Les distracteurs sont des confusions réelles (outil contre culture, pull contre push) : exploitez-les.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conseillée : 5 min
Objectif : Expliquer chaque bonne réponse, et pas seulement la donner.
À dire :
Lisez chaque réponse avec son explication, puis demandez quelle option fausse était la plus tentante et pourquoi. Revenez au slide du cours correspondant si une notion reste floue.
Question à poser : Qui a eu tout juste, et qui peut expliquer la question la plus difficile ?
Piège ou point d'attention : Les distracteurs sont des confusions réelles (outil contre culture, pull contre push) : exploitez-les.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2800" b="1" dirty="0">
                <a:solidFill>
                  <a:srgbClr val="0F172A"/>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2800" b="1" dirty="0">
                <a:solidFill>
                  <a:srgbClr val="FFFFFF"/>
                </a:solidFill>
                <a:latin typeface="Cambria" pitchFamily="34" charset="0"/>
                <a:ea typeface="Cambria" pitchFamily="34" charset="-122"/>
                <a:cs typeface="Cambria" pitchFamily="34" charset="-120"/>
              </a:defRPr>
            </a:lvl1pPr>
          </a:lstStyle>
          <a:p>
            <a:pPr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2.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2.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slideLayout" Target="../slideLayouts/slideLayout2.xml"/><Relationship Id="rId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188720"/>
            <a:ext cx="786384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DevOps &amp; GitOps</a:t>
            </a:r>
            <a:endParaRPr lang="en-US" sz="5400" dirty="0"/>
          </a:p>
        </p:txBody>
      </p:sp>
      <p:sp>
        <p:nvSpPr>
          <p:cNvPr id="3" name="Text 1"/>
          <p:cNvSpPr txBox="1"/>
          <p:nvPr/>
        </p:nvSpPr>
        <p:spPr>
          <a:xfrm>
            <a:off x="640080" y="2286000"/>
            <a:ext cx="7863840" cy="548640"/>
          </a:xfrm>
          <a:prstGeom prst="rect">
            <a:avLst/>
          </a:prstGeom>
          <a:noFill/>
          <a:ln/>
        </p:spPr>
        <p:txBody>
          <a:bodyPr wrap="square" lIns="0" tIns="0" rIns="0" bIns="0" rtlCol="0" anchor="ctr"/>
          <a:lstStyle/>
          <a:p>
            <a:pPr indent="0" marL="0">
              <a:buNone/>
            </a:pPr>
            <a:r>
              <a:rPr lang="en-US" sz="2200" dirty="0">
                <a:solidFill>
                  <a:srgbClr val="5EEAD4"/>
                </a:solidFill>
              </a:rPr>
              <a:t>Méthodologie, pratiques et outils — du débutant à l'expert</a:t>
            </a:r>
            <a:endParaRPr lang="en-US" sz="2200" dirty="0"/>
          </a:p>
        </p:txBody>
      </p:sp>
      <p:sp>
        <p:nvSpPr>
          <p:cNvPr id="4" name="Shape 2"/>
          <p:cNvSpPr/>
          <p:nvPr/>
        </p:nvSpPr>
        <p:spPr>
          <a:xfrm>
            <a:off x="640080" y="3383280"/>
            <a:ext cx="1828800" cy="411480"/>
          </a:xfrm>
          <a:prstGeom prst="roundRect">
            <a:avLst>
              <a:gd name="adj" fmla="val 44444"/>
            </a:avLst>
          </a:prstGeom>
          <a:solidFill>
            <a:srgbClr val="0D9488"/>
          </a:solidFill>
          <a:ln/>
        </p:spPr>
      </p:sp>
      <p:sp>
        <p:nvSpPr>
          <p:cNvPr id="5" name="Text 3"/>
          <p:cNvSpPr txBox="1"/>
          <p:nvPr/>
        </p:nvSpPr>
        <p:spPr>
          <a:xfrm>
            <a:off x="640080" y="3383280"/>
            <a:ext cx="1828800" cy="411480"/>
          </a:xfrm>
          <a:prstGeom prst="rect">
            <a:avLst/>
          </a:prstGeom>
          <a:noFill/>
          <a:ln/>
        </p:spPr>
        <p:txBody>
          <a:bodyPr wrap="square" lIns="0" tIns="0" rIns="0" bIns="0" rtlCol="0" anchor="ctr"/>
          <a:lstStyle/>
          <a:p>
            <a:pPr algn="ctr" indent="0" marL="0">
              <a:buNone/>
            </a:pPr>
            <a:r>
              <a:rPr lang="en-US" sz="1300" b="1" dirty="0">
                <a:solidFill>
                  <a:srgbClr val="FFFFFF"/>
                </a:solidFill>
              </a:rPr>
              <a:t>DÉBUTANT</a:t>
            </a:r>
            <a:endParaRPr lang="en-US" sz="1300" dirty="0"/>
          </a:p>
        </p:txBody>
      </p:sp>
      <p:sp>
        <p:nvSpPr>
          <p:cNvPr id="6" name="Shape 4"/>
          <p:cNvSpPr/>
          <p:nvPr/>
        </p:nvSpPr>
        <p:spPr>
          <a:xfrm>
            <a:off x="2606040" y="3383280"/>
            <a:ext cx="1828800" cy="411480"/>
          </a:xfrm>
          <a:prstGeom prst="roundRect">
            <a:avLst>
              <a:gd name="adj" fmla="val 44444"/>
            </a:avLst>
          </a:prstGeom>
          <a:solidFill>
            <a:srgbClr val="0EA5E9"/>
          </a:solidFill>
          <a:ln/>
        </p:spPr>
      </p:sp>
      <p:sp>
        <p:nvSpPr>
          <p:cNvPr id="7" name="Text 5"/>
          <p:cNvSpPr txBox="1"/>
          <p:nvPr/>
        </p:nvSpPr>
        <p:spPr>
          <a:xfrm>
            <a:off x="2606040" y="3383280"/>
            <a:ext cx="1828800" cy="411480"/>
          </a:xfrm>
          <a:prstGeom prst="rect">
            <a:avLst/>
          </a:prstGeom>
          <a:noFill/>
          <a:ln/>
        </p:spPr>
        <p:txBody>
          <a:bodyPr wrap="square" lIns="0" tIns="0" rIns="0" bIns="0" rtlCol="0" anchor="ctr"/>
          <a:lstStyle/>
          <a:p>
            <a:pPr algn="ctr" indent="0" marL="0">
              <a:buNone/>
            </a:pPr>
            <a:r>
              <a:rPr lang="en-US" sz="1300" b="1" dirty="0">
                <a:solidFill>
                  <a:srgbClr val="FFFFFF"/>
                </a:solidFill>
              </a:rPr>
              <a:t>INTERMÉDIAIRE</a:t>
            </a:r>
            <a:endParaRPr lang="en-US" sz="1300" dirty="0"/>
          </a:p>
        </p:txBody>
      </p:sp>
      <p:sp>
        <p:nvSpPr>
          <p:cNvPr id="8" name="Shape 6"/>
          <p:cNvSpPr/>
          <p:nvPr/>
        </p:nvSpPr>
        <p:spPr>
          <a:xfrm>
            <a:off x="4572000" y="3383280"/>
            <a:ext cx="1828800" cy="411480"/>
          </a:xfrm>
          <a:prstGeom prst="roundRect">
            <a:avLst>
              <a:gd name="adj" fmla="val 44444"/>
            </a:avLst>
          </a:prstGeom>
          <a:solidFill>
            <a:srgbClr val="7C3AED"/>
          </a:solidFill>
          <a:ln/>
        </p:spPr>
      </p:sp>
      <p:sp>
        <p:nvSpPr>
          <p:cNvPr id="9" name="Text 7"/>
          <p:cNvSpPr txBox="1"/>
          <p:nvPr/>
        </p:nvSpPr>
        <p:spPr>
          <a:xfrm>
            <a:off x="4572000" y="3383280"/>
            <a:ext cx="1828800" cy="411480"/>
          </a:xfrm>
          <a:prstGeom prst="rect">
            <a:avLst/>
          </a:prstGeom>
          <a:noFill/>
          <a:ln/>
        </p:spPr>
        <p:txBody>
          <a:bodyPr wrap="square" lIns="0" tIns="0" rIns="0" bIns="0" rtlCol="0" anchor="ctr"/>
          <a:lstStyle/>
          <a:p>
            <a:pPr algn="ctr" indent="0" marL="0">
              <a:buNone/>
            </a:pPr>
            <a:r>
              <a:rPr lang="en-US" sz="1300" b="1" dirty="0">
                <a:solidFill>
                  <a:srgbClr val="FFFFFF"/>
                </a:solidFill>
              </a:rPr>
              <a:t>GITOPS</a:t>
            </a:r>
            <a:endParaRPr lang="en-US" sz="1300" dirty="0"/>
          </a:p>
        </p:txBody>
      </p:sp>
      <p:sp>
        <p:nvSpPr>
          <p:cNvPr id="10" name="Shape 8"/>
          <p:cNvSpPr/>
          <p:nvPr/>
        </p:nvSpPr>
        <p:spPr>
          <a:xfrm>
            <a:off x="6537960" y="3383280"/>
            <a:ext cx="1828800" cy="411480"/>
          </a:xfrm>
          <a:prstGeom prst="roundRect">
            <a:avLst>
              <a:gd name="adj" fmla="val 44444"/>
            </a:avLst>
          </a:prstGeom>
          <a:solidFill>
            <a:srgbClr val="F97316"/>
          </a:solidFill>
          <a:ln/>
        </p:spPr>
      </p:sp>
      <p:sp>
        <p:nvSpPr>
          <p:cNvPr id="11" name="Text 9"/>
          <p:cNvSpPr txBox="1"/>
          <p:nvPr/>
        </p:nvSpPr>
        <p:spPr>
          <a:xfrm>
            <a:off x="6537960" y="3383280"/>
            <a:ext cx="1828800" cy="411480"/>
          </a:xfrm>
          <a:prstGeom prst="rect">
            <a:avLst/>
          </a:prstGeom>
          <a:noFill/>
          <a:ln/>
        </p:spPr>
        <p:txBody>
          <a:bodyPr wrap="square" lIns="0" tIns="0" rIns="0" bIns="0" rtlCol="0" anchor="ctr"/>
          <a:lstStyle/>
          <a:p>
            <a:pPr algn="ctr" indent="0" marL="0">
              <a:buNone/>
            </a:pPr>
            <a:r>
              <a:rPr lang="en-US" sz="1300" b="1" dirty="0">
                <a:solidFill>
                  <a:srgbClr val="FFFFFF"/>
                </a:solidFill>
              </a:rPr>
              <a:t>EXPERT</a:t>
            </a:r>
            <a:endParaRPr lang="en-US" sz="1300" dirty="0"/>
          </a:p>
        </p:txBody>
      </p:sp>
      <p:sp>
        <p:nvSpPr>
          <p:cNvPr id="12" name="Auteur"/>
          <p:cNvSpPr txBox="1"/>
          <p:nvPr/>
        </p:nvSpPr>
        <p:spPr>
          <a:xfrm>
            <a:off x="640080" y="4023360"/>
            <a:ext cx="7863840" cy="731520"/>
          </a:xfrm>
          <a:prstGeom prst="rect">
            <a:avLst/>
          </a:prstGeom>
          <a:noFill/>
          <a:ln/>
        </p:spPr>
        <p:txBody>
          <a:bodyPr wrap="square" lIns="0" tIns="0" rIns="0" bIns="0" rtlCol="0" anchor="t"/>
          <a:lstStyle/>
          <a:p>
            <a:pPr indent="0" marL="0">
              <a:buNone/>
            </a:pPr>
            <a:r>
              <a:rPr lang="en-US" sz="2000" b="1" dirty="0">
                <a:solidFill>
                  <a:srgbClr val="FFFFFF"/>
                </a:solidFill>
              </a:rPr>
              <a:t>NZEMBOUONG Patrick</a:t>
            </a:r>
            <a:endParaRPr lang="en-US" sz="2000" dirty="0"/>
          </a:p>
          <a:p>
            <a:pPr indent="0" marL="0">
              <a:buNone/>
            </a:pPr>
            <a:r>
              <a:rPr lang="en-US" sz="1500" dirty="0">
                <a:solidFill>
                  <a:srgbClr val="5EEAD4"/>
                </a:solidFill>
              </a:rPr>
              <a:t>Ingénieur DevOps &amp; Kubernetes</a:t>
            </a:r>
            <a:endParaRPr lang="en-US" sz="2000" dirty="0"/>
          </a:p>
        </p:txBody>
      </p:sp>
      <p:sp>
        <p:nvSpPr>
          <p:cNvPr id="14"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Parcours du cours</a:t>
            </a:r>
            <a:endParaRPr lang="en-US" sz="2800" dirty="0"/>
          </a:p>
        </p:txBody>
      </p:sp>
      <p:sp>
        <p:nvSpPr>
          <p:cNvPr id="4" name="Shape 1"/>
          <p:cNvSpPr/>
          <p:nvPr/>
        </p:nvSpPr>
        <p:spPr>
          <a:xfrm>
            <a:off x="457200" y="1280160"/>
            <a:ext cx="1938528" cy="3108960"/>
          </a:xfrm>
          <a:prstGeom prst="roundRect">
            <a:avLst>
              <a:gd name="adj" fmla="val 3774"/>
            </a:avLst>
          </a:prstGeom>
          <a:solidFill>
            <a:srgbClr val="F1F5F9"/>
          </a:solidFill>
          <a:ln/>
        </p:spPr>
      </p:sp>
      <p:sp>
        <p:nvSpPr>
          <p:cNvPr id="5" name="Shape 2"/>
          <p:cNvSpPr/>
          <p:nvPr/>
        </p:nvSpPr>
        <p:spPr>
          <a:xfrm>
            <a:off x="594360" y="1417320"/>
            <a:ext cx="548640" cy="548640"/>
          </a:xfrm>
          <a:prstGeom prst="ellipse">
            <a:avLst/>
          </a:prstGeom>
          <a:solidFill>
            <a:srgbClr val="0D9488"/>
          </a:solidFill>
          <a:ln/>
        </p:spPr>
      </p:sp>
      <p:sp>
        <p:nvSpPr>
          <p:cNvPr id="6" name="Text 3"/>
          <p:cNvSpPr txBox="1"/>
          <p:nvPr/>
        </p:nvSpPr>
        <p:spPr>
          <a:xfrm>
            <a:off x="594360" y="14173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7" name="Text 4"/>
          <p:cNvSpPr txBox="1"/>
          <p:nvPr/>
        </p:nvSpPr>
        <p:spPr>
          <a:xfrm>
            <a:off x="594360" y="2103120"/>
            <a:ext cx="1691640" cy="411480"/>
          </a:xfrm>
          <a:prstGeom prst="rect">
            <a:avLst/>
          </a:prstGeom>
          <a:noFill/>
          <a:ln/>
        </p:spPr>
        <p:txBody>
          <a:bodyPr wrap="square" lIns="0" tIns="0" rIns="0" bIns="0" rtlCol="0" anchor="ctr"/>
          <a:lstStyle/>
          <a:p>
            <a:pPr indent="0" marL="0">
              <a:buNone/>
            </a:pPr>
            <a:r>
              <a:rPr lang="en-US" sz="1800" b="1" dirty="0">
                <a:solidFill>
                  <a:srgbClr val="0F172A"/>
                </a:solidFill>
              </a:rPr>
              <a:t>Débutant</a:t>
            </a:r>
            <a:endParaRPr lang="en-US" sz="1800" dirty="0"/>
          </a:p>
        </p:txBody>
      </p:sp>
      <p:sp>
        <p:nvSpPr>
          <p:cNvPr id="8" name="Text 5"/>
          <p:cNvSpPr txBox="1"/>
          <p:nvPr/>
        </p:nvSpPr>
        <p:spPr>
          <a:xfrm>
            <a:off x="594360" y="2560320"/>
            <a:ext cx="1691640" cy="1737360"/>
          </a:xfrm>
          <a:prstGeom prst="rect">
            <a:avLst/>
          </a:prstGeom>
          <a:noFill/>
          <a:ln/>
        </p:spPr>
        <p:txBody>
          <a:bodyPr wrap="square" lIns="0" tIns="0" rIns="0" bIns="0" rtlCol="0" anchor="t"/>
          <a:lstStyle/>
          <a:p>
            <a:pPr indent="0" marL="0">
              <a:buNone/>
            </a:pPr>
            <a:r>
              <a:rPr lang="en-US" sz="1400" dirty="0">
                <a:solidFill>
                  <a:srgbClr val="1E293B"/>
                </a:solidFill>
              </a:rPr>
              <a:t>Pourquoi DevOps, culture, CI/CD, outils. TP : premier pipeline</a:t>
            </a:r>
            <a:endParaRPr lang="en-US" sz="1400" dirty="0"/>
          </a:p>
        </p:txBody>
      </p:sp>
      <p:sp>
        <p:nvSpPr>
          <p:cNvPr id="9" name="Shape 6"/>
          <p:cNvSpPr/>
          <p:nvPr/>
        </p:nvSpPr>
        <p:spPr>
          <a:xfrm>
            <a:off x="2542032" y="1280160"/>
            <a:ext cx="1938528" cy="3108960"/>
          </a:xfrm>
          <a:prstGeom prst="roundRect">
            <a:avLst>
              <a:gd name="adj" fmla="val 3774"/>
            </a:avLst>
          </a:prstGeom>
          <a:solidFill>
            <a:srgbClr val="F1F5F9"/>
          </a:solidFill>
          <a:ln/>
        </p:spPr>
      </p:sp>
      <p:sp>
        <p:nvSpPr>
          <p:cNvPr id="10" name="Shape 7"/>
          <p:cNvSpPr/>
          <p:nvPr/>
        </p:nvSpPr>
        <p:spPr>
          <a:xfrm>
            <a:off x="2679192" y="1417320"/>
            <a:ext cx="548640" cy="548640"/>
          </a:xfrm>
          <a:prstGeom prst="ellipse">
            <a:avLst/>
          </a:prstGeom>
          <a:solidFill>
            <a:srgbClr val="0EA5E9"/>
          </a:solidFill>
          <a:ln/>
        </p:spPr>
      </p:sp>
      <p:sp>
        <p:nvSpPr>
          <p:cNvPr id="11" name="Text 8"/>
          <p:cNvSpPr txBox="1"/>
          <p:nvPr/>
        </p:nvSpPr>
        <p:spPr>
          <a:xfrm>
            <a:off x="2679192" y="14173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2" name="Text 9"/>
          <p:cNvSpPr txBox="1"/>
          <p:nvPr/>
        </p:nvSpPr>
        <p:spPr>
          <a:xfrm>
            <a:off x="2679192" y="2103120"/>
            <a:ext cx="1691640" cy="411480"/>
          </a:xfrm>
          <a:prstGeom prst="rect">
            <a:avLst/>
          </a:prstGeom>
          <a:noFill/>
          <a:ln/>
        </p:spPr>
        <p:txBody>
          <a:bodyPr wrap="square" lIns="0" tIns="0" rIns="0" bIns="0" rtlCol="0" anchor="ctr"/>
          <a:lstStyle/>
          <a:p>
            <a:pPr indent="0" marL="0">
              <a:buNone/>
            </a:pPr>
            <a:r>
              <a:rPr lang="en-US" sz="1800" b="1" dirty="0">
                <a:solidFill>
                  <a:srgbClr val="0F172A"/>
                </a:solidFill>
              </a:rPr>
              <a:t>Intermédiaire</a:t>
            </a:r>
            <a:endParaRPr lang="en-US" sz="1800" dirty="0"/>
          </a:p>
        </p:txBody>
      </p:sp>
      <p:sp>
        <p:nvSpPr>
          <p:cNvPr id="13" name="Text 10"/>
          <p:cNvSpPr txBox="1"/>
          <p:nvPr/>
        </p:nvSpPr>
        <p:spPr>
          <a:xfrm>
            <a:off x="2679192" y="2560320"/>
            <a:ext cx="1691640" cy="1737360"/>
          </a:xfrm>
          <a:prstGeom prst="rect">
            <a:avLst/>
          </a:prstGeom>
          <a:noFill/>
          <a:ln/>
        </p:spPr>
        <p:txBody>
          <a:bodyPr wrap="square" lIns="0" tIns="0" rIns="0" bIns="0" rtlCol="0" anchor="t"/>
          <a:lstStyle/>
          <a:p>
            <a:pPr indent="0" marL="0">
              <a:buNone/>
            </a:pPr>
            <a:r>
              <a:rPr lang="en-US" sz="1400" dirty="0">
                <a:solidFill>
                  <a:srgbClr val="1E293B"/>
                </a:solidFill>
              </a:rPr>
              <a:t>IaC, conteneurs, déploiements, observabilité, DevSecOps, DORA. TP : Docker, Kubernetes, Terraform</a:t>
            </a:r>
            <a:endParaRPr lang="en-US" sz="1400" dirty="0"/>
          </a:p>
        </p:txBody>
      </p:sp>
      <p:sp>
        <p:nvSpPr>
          <p:cNvPr id="14" name="Shape 11"/>
          <p:cNvSpPr/>
          <p:nvPr/>
        </p:nvSpPr>
        <p:spPr>
          <a:xfrm>
            <a:off x="4626864" y="1280160"/>
            <a:ext cx="1938528" cy="3108960"/>
          </a:xfrm>
          <a:prstGeom prst="roundRect">
            <a:avLst>
              <a:gd name="adj" fmla="val 3774"/>
            </a:avLst>
          </a:prstGeom>
          <a:solidFill>
            <a:srgbClr val="F1F5F9"/>
          </a:solidFill>
          <a:ln/>
        </p:spPr>
      </p:sp>
      <p:sp>
        <p:nvSpPr>
          <p:cNvPr id="15" name="Shape 12"/>
          <p:cNvSpPr/>
          <p:nvPr/>
        </p:nvSpPr>
        <p:spPr>
          <a:xfrm>
            <a:off x="4764024" y="1417320"/>
            <a:ext cx="548640" cy="548640"/>
          </a:xfrm>
          <a:prstGeom prst="ellipse">
            <a:avLst/>
          </a:prstGeom>
          <a:solidFill>
            <a:srgbClr val="7C3AED"/>
          </a:solidFill>
          <a:ln/>
        </p:spPr>
      </p:sp>
      <p:sp>
        <p:nvSpPr>
          <p:cNvPr id="16" name="Text 13"/>
          <p:cNvSpPr txBox="1"/>
          <p:nvPr/>
        </p:nvSpPr>
        <p:spPr>
          <a:xfrm>
            <a:off x="4764024" y="14173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7" name="Text 14"/>
          <p:cNvSpPr txBox="1"/>
          <p:nvPr/>
        </p:nvSpPr>
        <p:spPr>
          <a:xfrm>
            <a:off x="4764024" y="2103120"/>
            <a:ext cx="1691640" cy="411480"/>
          </a:xfrm>
          <a:prstGeom prst="rect">
            <a:avLst/>
          </a:prstGeom>
          <a:noFill/>
          <a:ln/>
        </p:spPr>
        <p:txBody>
          <a:bodyPr wrap="square" lIns="0" tIns="0" rIns="0" bIns="0" rtlCol="0" anchor="ctr"/>
          <a:lstStyle/>
          <a:p>
            <a:pPr indent="0" marL="0">
              <a:buNone/>
            </a:pPr>
            <a:r>
              <a:rPr lang="en-US" sz="1800" b="1" dirty="0">
                <a:solidFill>
                  <a:srgbClr val="0F172A"/>
                </a:solidFill>
              </a:rPr>
              <a:t>GitOps</a:t>
            </a:r>
            <a:endParaRPr lang="en-US" sz="1800" dirty="0"/>
          </a:p>
        </p:txBody>
      </p:sp>
      <p:sp>
        <p:nvSpPr>
          <p:cNvPr id="18" name="Text 15"/>
          <p:cNvSpPr txBox="1"/>
          <p:nvPr/>
        </p:nvSpPr>
        <p:spPr>
          <a:xfrm>
            <a:off x="4764024" y="2560320"/>
            <a:ext cx="1691640" cy="1737360"/>
          </a:xfrm>
          <a:prstGeom prst="rect">
            <a:avLst/>
          </a:prstGeom>
          <a:noFill/>
          <a:ln/>
        </p:spPr>
        <p:txBody>
          <a:bodyPr wrap="square" lIns="0" tIns="0" rIns="0" bIns="0" rtlCol="0" anchor="t"/>
          <a:lstStyle/>
          <a:p>
            <a:pPr indent="0" marL="0">
              <a:buNone/>
            </a:pPr>
            <a:r>
              <a:rPr lang="en-US" sz="1400" dirty="0">
                <a:solidFill>
                  <a:srgbClr val="1E293B"/>
                </a:solidFill>
              </a:rPr>
              <a:t>Principes, push vs pull, Argo CD / Flux, workflow. 2 TP : Argo CD, dérive</a:t>
            </a:r>
            <a:endParaRPr lang="en-US" sz="1400" dirty="0"/>
          </a:p>
        </p:txBody>
      </p:sp>
      <p:sp>
        <p:nvSpPr>
          <p:cNvPr id="19" name="Shape 16"/>
          <p:cNvSpPr/>
          <p:nvPr/>
        </p:nvSpPr>
        <p:spPr>
          <a:xfrm>
            <a:off x="6711696" y="1280160"/>
            <a:ext cx="1938528" cy="3108960"/>
          </a:xfrm>
          <a:prstGeom prst="roundRect">
            <a:avLst>
              <a:gd name="adj" fmla="val 3774"/>
            </a:avLst>
          </a:prstGeom>
          <a:solidFill>
            <a:srgbClr val="F1F5F9"/>
          </a:solidFill>
          <a:ln/>
        </p:spPr>
      </p:sp>
      <p:sp>
        <p:nvSpPr>
          <p:cNvPr id="20" name="Shape 17"/>
          <p:cNvSpPr/>
          <p:nvPr/>
        </p:nvSpPr>
        <p:spPr>
          <a:xfrm>
            <a:off x="6848856" y="1417320"/>
            <a:ext cx="548640" cy="548640"/>
          </a:xfrm>
          <a:prstGeom prst="ellipse">
            <a:avLst/>
          </a:prstGeom>
          <a:solidFill>
            <a:srgbClr val="F97316"/>
          </a:solidFill>
          <a:ln/>
        </p:spPr>
      </p:sp>
      <p:sp>
        <p:nvSpPr>
          <p:cNvPr id="21" name="Text 18"/>
          <p:cNvSpPr txBox="1"/>
          <p:nvPr/>
        </p:nvSpPr>
        <p:spPr>
          <a:xfrm>
            <a:off x="6848856" y="14173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2" name="Text 19"/>
          <p:cNvSpPr txBox="1"/>
          <p:nvPr/>
        </p:nvSpPr>
        <p:spPr>
          <a:xfrm>
            <a:off x="6848856" y="2103120"/>
            <a:ext cx="1691640" cy="411480"/>
          </a:xfrm>
          <a:prstGeom prst="rect">
            <a:avLst/>
          </a:prstGeom>
          <a:noFill/>
          <a:ln/>
        </p:spPr>
        <p:txBody>
          <a:bodyPr wrap="square" lIns="0" tIns="0" rIns="0" bIns="0" rtlCol="0" anchor="ctr"/>
          <a:lstStyle/>
          <a:p>
            <a:pPr indent="0" marL="0">
              <a:buNone/>
            </a:pPr>
            <a:r>
              <a:rPr lang="en-US" sz="1800" b="1" dirty="0">
                <a:solidFill>
                  <a:srgbClr val="0F172A"/>
                </a:solidFill>
              </a:rPr>
              <a:t>Expert</a:t>
            </a:r>
            <a:endParaRPr lang="en-US" sz="1800" dirty="0"/>
          </a:p>
        </p:txBody>
      </p:sp>
      <p:sp>
        <p:nvSpPr>
          <p:cNvPr id="23" name="Text 20"/>
          <p:cNvSpPr txBox="1"/>
          <p:nvPr/>
        </p:nvSpPr>
        <p:spPr>
          <a:xfrm>
            <a:off x="6848856" y="2560320"/>
            <a:ext cx="1691640" cy="1737360"/>
          </a:xfrm>
          <a:prstGeom prst="rect">
            <a:avLst/>
          </a:prstGeom>
          <a:noFill/>
          <a:ln/>
        </p:spPr>
        <p:txBody>
          <a:bodyPr wrap="square" lIns="0" tIns="0" rIns="0" bIns="0" rtlCol="0" anchor="t"/>
          <a:lstStyle/>
          <a:p>
            <a:pPr indent="0" marL="0">
              <a:buNone/>
            </a:pPr>
            <a:r>
              <a:rPr lang="en-US" sz="1400" dirty="0">
                <a:solidFill>
                  <a:srgbClr val="1E293B"/>
                </a:solidFill>
              </a:rPr>
              <a:t>Secrets, multi-cluster, policy as code, supply chain, platform engineering. TP : secrets, politiques, canary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40080" y="1097280"/>
            <a:ext cx="2743200" cy="1463040"/>
          </a:xfrm>
          <a:prstGeom prst="rect">
            <a:avLst/>
          </a:prstGeom>
          <a:noFill/>
          <a:ln/>
        </p:spPr>
        <p:txBody>
          <a:bodyPr wrap="square" lIns="0" tIns="0" rIns="0" bIns="0" rtlCol="0" anchor="ctr"/>
          <a:lstStyle/>
          <a:p>
            <a:pPr indent="0" marL="0">
              <a:buNone/>
            </a:pPr>
            <a:r>
              <a:rPr lang="en-US" sz="9600" b="1" dirty="0">
                <a:solidFill>
                  <a:srgbClr val="0D9488"/>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640080" y="2651760"/>
            <a:ext cx="78638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Les bases du DevOps</a:t>
            </a:r>
            <a:endParaRPr lang="en-US" sz="3800" dirty="0"/>
          </a:p>
        </p:txBody>
      </p:sp>
      <p:sp>
        <p:nvSpPr>
          <p:cNvPr id="4" name="Text 2"/>
          <p:cNvSpPr txBox="1"/>
          <p:nvPr/>
        </p:nvSpPr>
        <p:spPr>
          <a:xfrm>
            <a:off x="640080" y="3474720"/>
            <a:ext cx="7863840" cy="731520"/>
          </a:xfrm>
          <a:prstGeom prst="rect">
            <a:avLst/>
          </a:prstGeom>
          <a:noFill/>
          <a:ln/>
        </p:spPr>
        <p:txBody>
          <a:bodyPr wrap="square" lIns="0" tIns="0" rIns="0" bIns="0" rtlCol="0" anchor="ctr"/>
          <a:lstStyle/>
          <a:p>
            <a:pPr indent="0" marL="0">
              <a:buNone/>
            </a:pPr>
            <a:r>
              <a:rPr lang="en-US" sz="1800" dirty="0">
                <a:solidFill>
                  <a:srgbClr val="CBD5E1"/>
                </a:solidFill>
              </a:rPr>
              <a:t>Comprendre le problème, la culture et le pipeline</a:t>
            </a:r>
            <a:endParaRPr lang="en-US" sz="1800" dirty="0"/>
          </a:p>
        </p:txBody>
      </p:sp>
      <p:sp>
        <p:nvSpPr>
          <p:cNvPr id="6"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Le problème : Dev contre Ops</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sp>
        <p:nvSpPr>
          <p:cNvPr id="6" name="Carte"/>
          <p:cNvSpPr/>
          <p:nvPr/>
        </p:nvSpPr>
        <p:spPr>
          <a:xfrm>
            <a:off x="457200" y="1280160"/>
            <a:ext cx="2468880" cy="2011680"/>
          </a:xfrm>
          <a:prstGeom prst="roundRect">
            <a:avLst>
              <a:gd name="adj" fmla="val 3636"/>
            </a:avLst>
          </a:prstGeom>
          <a:solidFill>
            <a:srgbClr val="F1F5F9"/>
          </a:solidFill>
          <a:ln/>
        </p:spPr>
      </p:sp>
      <p:sp>
        <p:nvSpPr>
          <p:cNvPr id="7" name="Pastille"/>
          <p:cNvSpPr/>
          <p:nvPr/>
        </p:nvSpPr>
        <p:spPr>
          <a:xfrm>
            <a:off x="594360" y="1417320"/>
            <a:ext cx="457200" cy="457200"/>
          </a:xfrm>
          <a:prstGeom prst="ellipse">
            <a:avLst/>
          </a:prstGeom>
          <a:solidFill>
            <a:srgbClr val="0EA5E9"/>
          </a:solidFill>
          <a:ln/>
        </p:spPr>
      </p:sp>
      <p:pic>
        <p:nvPicPr>
          <p:cNvPr id="8" name="Image 0" descr="Les Développeurs">    </p:cNvPr>
          <p:cNvPicPr>
            <a:picLocks noChangeAspect="1"/>
          </p:cNvPicPr>
          <p:nvPr/>
        </p:nvPicPr>
        <p:blipFill>
          <a:blip r:embed="rId1"/>
          <a:stretch>
            <a:fillRect/>
          </a:stretch>
        </p:blipFill>
        <p:spPr>
          <a:xfrm>
            <a:off x="704088" y="1527048"/>
            <a:ext cx="237744" cy="237744"/>
          </a:xfrm>
          <a:prstGeom prst="rect">
            <a:avLst/>
          </a:prstGeom>
        </p:spPr>
      </p:pic>
      <p:sp>
        <p:nvSpPr>
          <p:cNvPr id="9" name="Text 5"/>
          <p:cNvSpPr txBox="1"/>
          <p:nvPr/>
        </p:nvSpPr>
        <p:spPr>
          <a:xfrm>
            <a:off x="594360" y="1965960"/>
            <a:ext cx="2194560" cy="365760"/>
          </a:xfrm>
          <a:prstGeom prst="rect">
            <a:avLst/>
          </a:prstGeom>
          <a:noFill/>
          <a:ln/>
        </p:spPr>
        <p:txBody>
          <a:bodyPr wrap="square" lIns="0" tIns="0" rIns="0" bIns="0" rtlCol="0" anchor="ctr"/>
          <a:lstStyle/>
          <a:p>
            <a:pPr indent="0" marL="0">
              <a:buNone/>
            </a:pPr>
            <a:r>
              <a:rPr lang="en-US" sz="1600" b="1" dirty="0">
                <a:solidFill>
                  <a:srgbClr val="0F172A"/>
                </a:solidFill>
              </a:rPr>
              <a:t>Les Développeurs</a:t>
            </a:r>
            <a:endParaRPr lang="en-US" sz="1600" dirty="0"/>
          </a:p>
        </p:txBody>
      </p:sp>
      <p:sp>
        <p:nvSpPr>
          <p:cNvPr id="10" name="Text 6"/>
          <p:cNvSpPr txBox="1"/>
          <p:nvPr/>
        </p:nvSpPr>
        <p:spPr>
          <a:xfrm>
            <a:off x="594360" y="2350008"/>
            <a:ext cx="2194560" cy="86868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Veulent livrer des nouveautés vite.</a:t>
            </a:r>
            <a:endParaRPr lang="en-US" sz="1400" dirty="0"/>
          </a:p>
          <a:p>
            <a:pPr indent="0" marL="0">
              <a:spcAft>
                <a:spcPts val="300"/>
              </a:spcAft>
              <a:buNone/>
            </a:pPr>
            <a:r>
              <a:rPr lang="en-US" sz="1400" dirty="0">
                <a:solidFill>
                  <a:srgbClr val="1E293B"/>
                </a:solidFill>
              </a:rPr>
              <a:t>Objectif : le changement</a:t>
            </a:r>
            <a:endParaRPr lang="en-US" sz="1400" dirty="0"/>
          </a:p>
        </p:txBody>
      </p:sp>
      <p:sp>
        <p:nvSpPr>
          <p:cNvPr id="11" name="Carte"/>
          <p:cNvSpPr/>
          <p:nvPr/>
        </p:nvSpPr>
        <p:spPr>
          <a:xfrm>
            <a:off x="6217920" y="1280160"/>
            <a:ext cx="2468880" cy="2011680"/>
          </a:xfrm>
          <a:prstGeom prst="roundRect">
            <a:avLst>
              <a:gd name="adj" fmla="val 3636"/>
            </a:avLst>
          </a:prstGeom>
          <a:solidFill>
            <a:srgbClr val="F1F5F9"/>
          </a:solidFill>
          <a:ln/>
        </p:spPr>
      </p:sp>
      <p:sp>
        <p:nvSpPr>
          <p:cNvPr id="12" name="Pastille"/>
          <p:cNvSpPr/>
          <p:nvPr/>
        </p:nvSpPr>
        <p:spPr>
          <a:xfrm>
            <a:off x="6355080" y="1417320"/>
            <a:ext cx="457200" cy="457200"/>
          </a:xfrm>
          <a:prstGeom prst="ellipse">
            <a:avLst/>
          </a:prstGeom>
          <a:solidFill>
            <a:srgbClr val="F97316"/>
          </a:solidFill>
          <a:ln/>
        </p:spPr>
      </p:sp>
      <p:pic>
        <p:nvPicPr>
          <p:cNvPr id="13" name="Image 1" descr="Les Opérations">    </p:cNvPr>
          <p:cNvPicPr>
            <a:picLocks noChangeAspect="1"/>
          </p:cNvPicPr>
          <p:nvPr/>
        </p:nvPicPr>
        <p:blipFill>
          <a:blip r:embed="rId2"/>
          <a:stretch>
            <a:fillRect/>
          </a:stretch>
        </p:blipFill>
        <p:spPr>
          <a:xfrm>
            <a:off x="6464808" y="1527048"/>
            <a:ext cx="237744" cy="237744"/>
          </a:xfrm>
          <a:prstGeom prst="rect">
            <a:avLst/>
          </a:prstGeom>
        </p:spPr>
      </p:pic>
      <p:sp>
        <p:nvSpPr>
          <p:cNvPr id="14" name="Text 9"/>
          <p:cNvSpPr txBox="1"/>
          <p:nvPr/>
        </p:nvSpPr>
        <p:spPr>
          <a:xfrm>
            <a:off x="6355080" y="1965960"/>
            <a:ext cx="2194560" cy="365760"/>
          </a:xfrm>
          <a:prstGeom prst="rect">
            <a:avLst/>
          </a:prstGeom>
          <a:noFill/>
          <a:ln/>
        </p:spPr>
        <p:txBody>
          <a:bodyPr wrap="square" lIns="0" tIns="0" rIns="0" bIns="0" rtlCol="0" anchor="ctr"/>
          <a:lstStyle/>
          <a:p>
            <a:pPr indent="0" marL="0">
              <a:buNone/>
            </a:pPr>
            <a:r>
              <a:rPr lang="en-US" sz="1600" b="1" dirty="0">
                <a:solidFill>
                  <a:srgbClr val="0F172A"/>
                </a:solidFill>
              </a:rPr>
              <a:t>Les Opérations</a:t>
            </a:r>
            <a:endParaRPr lang="en-US" sz="1600" dirty="0"/>
          </a:p>
        </p:txBody>
      </p:sp>
      <p:sp>
        <p:nvSpPr>
          <p:cNvPr id="15" name="Text 10"/>
          <p:cNvSpPr txBox="1"/>
          <p:nvPr/>
        </p:nvSpPr>
        <p:spPr>
          <a:xfrm>
            <a:off x="6355080" y="2350008"/>
            <a:ext cx="2194560" cy="86868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Veulent un système stable.</a:t>
            </a:r>
            <a:endParaRPr lang="en-US" sz="1400" dirty="0"/>
          </a:p>
          <a:p>
            <a:pPr indent="0" marL="0">
              <a:spcAft>
                <a:spcPts val="300"/>
              </a:spcAft>
              <a:buNone/>
            </a:pPr>
            <a:r>
              <a:rPr lang="en-US" sz="1400" dirty="0">
                <a:solidFill>
                  <a:srgbClr val="1E293B"/>
                </a:solidFill>
              </a:rPr>
              <a:t>Objectif : la stabilité</a:t>
            </a:r>
            <a:endParaRPr lang="en-US" sz="1400" dirty="0"/>
          </a:p>
        </p:txBody>
      </p:sp>
      <p:sp>
        <p:nvSpPr>
          <p:cNvPr id="16" name="Shape 11"/>
          <p:cNvSpPr/>
          <p:nvPr/>
        </p:nvSpPr>
        <p:spPr>
          <a:xfrm>
            <a:off x="3108960" y="1280160"/>
            <a:ext cx="2926080" cy="2011680"/>
          </a:xfrm>
          <a:prstGeom prst="roundRect">
            <a:avLst>
              <a:gd name="adj" fmla="val 3636"/>
            </a:avLst>
          </a:prstGeom>
          <a:solidFill>
            <a:srgbClr val="FEE2E2"/>
          </a:solidFill>
          <a:ln/>
        </p:spPr>
      </p:sp>
      <p:sp>
        <p:nvSpPr>
          <p:cNvPr id="17" name="Text 12"/>
          <p:cNvSpPr txBox="1"/>
          <p:nvPr/>
        </p:nvSpPr>
        <p:spPr>
          <a:xfrm>
            <a:off x="3200400" y="1371600"/>
            <a:ext cx="2743200" cy="1828800"/>
          </a:xfrm>
          <a:prstGeom prst="rect">
            <a:avLst/>
          </a:prstGeom>
          <a:noFill/>
          <a:ln/>
        </p:spPr>
        <p:txBody>
          <a:bodyPr wrap="square" lIns="0" tIns="0" rIns="0" bIns="0" rtlCol="0" anchor="ctr"/>
          <a:lstStyle/>
          <a:p>
            <a:pPr algn="ctr" indent="0" marL="0">
              <a:buNone/>
            </a:pPr>
            <a:r>
              <a:rPr lang="en-US" sz="1600" b="1" dirty="0">
                <a:solidFill>
                  <a:srgbClr val="B91C1C"/>
                </a:solidFill>
              </a:rPr>
              <a:t>Le mur de la confusion</a:t>
            </a:r>
            <a:endParaRPr lang="en-US" sz="1600" dirty="0"/>
          </a:p>
          <a:p>
            <a:pPr algn="ctr" indent="0" marL="0">
              <a:buNone/>
            </a:pPr>
            <a:r>
              <a:rPr lang="en-US" sz="1400" i="1" dirty="0">
                <a:solidFill>
                  <a:srgbClr val="1E293B"/>
                </a:solidFill>
              </a:rPr>
              <a:t>« Ça marche sur ma machine ! »</a:t>
            </a:r>
            <a:endParaRPr lang="en-US" sz="1600" dirty="0"/>
          </a:p>
        </p:txBody>
      </p:sp>
      <p:sp>
        <p:nvSpPr>
          <p:cNvPr id="18" name="Text 13"/>
          <p:cNvSpPr txBox="1"/>
          <p:nvPr/>
        </p:nvSpPr>
        <p:spPr>
          <a:xfrm>
            <a:off x="457200" y="3520440"/>
            <a:ext cx="8229600" cy="1097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E293B"/>
                </a:solidFill>
              </a:rPr>
              <a:t>Livraisons rares, grosses et risquées</a:t>
            </a:r>
            <a:endParaRPr lang="en-US" sz="1500" dirty="0"/>
          </a:p>
          <a:p>
            <a:pPr marL="342900" indent="-342900">
              <a:spcAft>
                <a:spcPts val="800"/>
              </a:spcAft>
              <a:buSzPct val="100000"/>
              <a:buChar char="•"/>
            </a:pPr>
            <a:r>
              <a:rPr lang="en-US" sz="1500" dirty="0">
                <a:solidFill>
                  <a:srgbClr val="1E293B"/>
                </a:solidFill>
              </a:rPr>
              <a:t>Reproches mutuels, peu de visibilité</a:t>
            </a:r>
            <a:endParaRPr lang="en-US" sz="1500" dirty="0"/>
          </a:p>
          <a:p>
            <a:pPr marL="342900" indent="-342900">
              <a:spcAft>
                <a:spcPts val="800"/>
              </a:spcAft>
              <a:buSzPct val="100000"/>
              <a:buChar char="•"/>
            </a:pPr>
            <a:r>
              <a:rPr lang="en-US" sz="1500" dirty="0">
                <a:solidFill>
                  <a:srgbClr val="1E293B"/>
                </a:solidFill>
              </a:rPr>
              <a:t>Délais de plusieurs semaines pour une mise en production</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Qu'est-ce que le DevOps ?</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sp>
        <p:nvSpPr>
          <p:cNvPr id="6" name="Text 3"/>
          <p:cNvSpPr txBox="1"/>
          <p:nvPr/>
        </p:nvSpPr>
        <p:spPr>
          <a:xfrm>
            <a:off x="457200" y="1143000"/>
            <a:ext cx="8229600" cy="731520"/>
          </a:xfrm>
          <a:prstGeom prst="rect">
            <a:avLst/>
          </a:prstGeom>
          <a:noFill/>
          <a:ln/>
        </p:spPr>
        <p:txBody>
          <a:bodyPr wrap="square" lIns="0" tIns="0" rIns="0" bIns="0" rtlCol="0" anchor="ctr"/>
          <a:lstStyle/>
          <a:p>
            <a:pPr indent="0" marL="0">
              <a:buNone/>
            </a:pPr>
            <a:r>
              <a:rPr lang="en-US" sz="1800" dirty="0">
                <a:solidFill>
                  <a:srgbClr val="1E293B"/>
                </a:solidFill>
              </a:rPr>
              <a:t>Une culture + des pratiques + des outils qui rapprochent Dev et Ops pour livrer plus vite, plus souvent et avec fiabilité.</a:t>
            </a:r>
            <a:endParaRPr lang="en-US" sz="1800" dirty="0"/>
          </a:p>
        </p:txBody>
      </p:sp>
      <p:sp>
        <p:nvSpPr>
          <p:cNvPr id="7" name="Carte"/>
          <p:cNvSpPr/>
          <p:nvPr/>
        </p:nvSpPr>
        <p:spPr>
          <a:xfrm>
            <a:off x="457200" y="2103120"/>
            <a:ext cx="1938528" cy="2377440"/>
          </a:xfrm>
          <a:prstGeom prst="roundRect">
            <a:avLst>
              <a:gd name="adj" fmla="val 3774"/>
            </a:avLst>
          </a:prstGeom>
          <a:solidFill>
            <a:srgbClr val="F1F5F9"/>
          </a:solidFill>
          <a:ln/>
        </p:spPr>
      </p:sp>
      <p:sp>
        <p:nvSpPr>
          <p:cNvPr id="8" name="Pastille"/>
          <p:cNvSpPr/>
          <p:nvPr/>
        </p:nvSpPr>
        <p:spPr>
          <a:xfrm>
            <a:off x="594360" y="2240280"/>
            <a:ext cx="457200" cy="457200"/>
          </a:xfrm>
          <a:prstGeom prst="ellipse">
            <a:avLst/>
          </a:prstGeom>
          <a:solidFill>
            <a:srgbClr val="0D9488"/>
          </a:solidFill>
          <a:ln/>
        </p:spPr>
      </p:sp>
      <p:pic>
        <p:nvPicPr>
          <p:cNvPr id="9" name="Image 0" descr="Culture">    </p:cNvPr>
          <p:cNvPicPr>
            <a:picLocks noChangeAspect="1"/>
          </p:cNvPicPr>
          <p:nvPr/>
        </p:nvPicPr>
        <p:blipFill>
          <a:blip r:embed="rId1"/>
          <a:stretch>
            <a:fillRect/>
          </a:stretch>
        </p:blipFill>
        <p:spPr>
          <a:xfrm>
            <a:off x="704088" y="2350008"/>
            <a:ext cx="237744" cy="237744"/>
          </a:xfrm>
          <a:prstGeom prst="rect">
            <a:avLst/>
          </a:prstGeom>
        </p:spPr>
      </p:pic>
      <p:sp>
        <p:nvSpPr>
          <p:cNvPr id="10" name="Text 6"/>
          <p:cNvSpPr txBox="1"/>
          <p:nvPr/>
        </p:nvSpPr>
        <p:spPr>
          <a:xfrm>
            <a:off x="594360" y="2788920"/>
            <a:ext cx="1664208" cy="365760"/>
          </a:xfrm>
          <a:prstGeom prst="rect">
            <a:avLst/>
          </a:prstGeom>
          <a:noFill/>
          <a:ln/>
        </p:spPr>
        <p:txBody>
          <a:bodyPr wrap="square" lIns="0" tIns="0" rIns="0" bIns="0" rtlCol="0" anchor="ctr"/>
          <a:lstStyle/>
          <a:p>
            <a:pPr indent="0" marL="0">
              <a:buNone/>
            </a:pPr>
            <a:r>
              <a:rPr lang="en-US" sz="1600" b="1" dirty="0">
                <a:solidFill>
                  <a:srgbClr val="0F172A"/>
                </a:solidFill>
              </a:rPr>
              <a:t>Culture</a:t>
            </a:r>
            <a:endParaRPr lang="en-US" sz="1600" dirty="0"/>
          </a:p>
        </p:txBody>
      </p:sp>
      <p:sp>
        <p:nvSpPr>
          <p:cNvPr id="11" name="Text 7"/>
          <p:cNvSpPr txBox="1"/>
          <p:nvPr/>
        </p:nvSpPr>
        <p:spPr>
          <a:xfrm>
            <a:off x="594360" y="3172968"/>
            <a:ext cx="1664208" cy="123444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Collaboration, responsabilité partagée</a:t>
            </a:r>
            <a:endParaRPr lang="en-US" sz="1400" dirty="0"/>
          </a:p>
        </p:txBody>
      </p:sp>
      <p:sp>
        <p:nvSpPr>
          <p:cNvPr id="12" name="Carte"/>
          <p:cNvSpPr/>
          <p:nvPr/>
        </p:nvSpPr>
        <p:spPr>
          <a:xfrm>
            <a:off x="2542032" y="2103120"/>
            <a:ext cx="1938528" cy="2377440"/>
          </a:xfrm>
          <a:prstGeom prst="roundRect">
            <a:avLst>
              <a:gd name="adj" fmla="val 3774"/>
            </a:avLst>
          </a:prstGeom>
          <a:solidFill>
            <a:srgbClr val="F1F5F9"/>
          </a:solidFill>
          <a:ln/>
        </p:spPr>
      </p:sp>
      <p:sp>
        <p:nvSpPr>
          <p:cNvPr id="13" name="Pastille"/>
          <p:cNvSpPr/>
          <p:nvPr/>
        </p:nvSpPr>
        <p:spPr>
          <a:xfrm>
            <a:off x="2679192" y="2240280"/>
            <a:ext cx="457200" cy="457200"/>
          </a:xfrm>
          <a:prstGeom prst="ellipse">
            <a:avLst/>
          </a:prstGeom>
          <a:solidFill>
            <a:srgbClr val="0EA5E9"/>
          </a:solidFill>
          <a:ln/>
        </p:spPr>
      </p:sp>
      <p:pic>
        <p:nvPicPr>
          <p:cNvPr id="14" name="Image 1" descr="Automatisation">    </p:cNvPr>
          <p:cNvPicPr>
            <a:picLocks noChangeAspect="1"/>
          </p:cNvPicPr>
          <p:nvPr/>
        </p:nvPicPr>
        <p:blipFill>
          <a:blip r:embed="rId2"/>
          <a:stretch>
            <a:fillRect/>
          </a:stretch>
        </p:blipFill>
        <p:spPr>
          <a:xfrm>
            <a:off x="2788920" y="2350008"/>
            <a:ext cx="237744" cy="237744"/>
          </a:xfrm>
          <a:prstGeom prst="rect">
            <a:avLst/>
          </a:prstGeom>
        </p:spPr>
      </p:pic>
      <p:sp>
        <p:nvSpPr>
          <p:cNvPr id="15" name="Text 10"/>
          <p:cNvSpPr txBox="1"/>
          <p:nvPr/>
        </p:nvSpPr>
        <p:spPr>
          <a:xfrm>
            <a:off x="2679192" y="2788920"/>
            <a:ext cx="1664208" cy="365760"/>
          </a:xfrm>
          <a:prstGeom prst="rect">
            <a:avLst/>
          </a:prstGeom>
          <a:noFill/>
          <a:ln/>
        </p:spPr>
        <p:txBody>
          <a:bodyPr wrap="square" lIns="0" tIns="0" rIns="0" bIns="0" rtlCol="0" anchor="ctr"/>
          <a:lstStyle/>
          <a:p>
            <a:pPr indent="0" marL="0">
              <a:buNone/>
            </a:pPr>
            <a:r>
              <a:rPr lang="en-US" sz="1600" b="1" dirty="0">
                <a:solidFill>
                  <a:srgbClr val="0F172A"/>
                </a:solidFill>
              </a:rPr>
              <a:t>Automatisation</a:t>
            </a:r>
            <a:endParaRPr lang="en-US" sz="1600" dirty="0"/>
          </a:p>
        </p:txBody>
      </p:sp>
      <p:sp>
        <p:nvSpPr>
          <p:cNvPr id="16" name="Text 11"/>
          <p:cNvSpPr txBox="1"/>
          <p:nvPr/>
        </p:nvSpPr>
        <p:spPr>
          <a:xfrm>
            <a:off x="2679192" y="3172968"/>
            <a:ext cx="1664208" cy="123444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Build, tests, déploiement, infra</a:t>
            </a:r>
            <a:endParaRPr lang="en-US" sz="1400" dirty="0"/>
          </a:p>
        </p:txBody>
      </p:sp>
      <p:sp>
        <p:nvSpPr>
          <p:cNvPr id="17" name="Carte"/>
          <p:cNvSpPr/>
          <p:nvPr/>
        </p:nvSpPr>
        <p:spPr>
          <a:xfrm>
            <a:off x="4626864" y="2103120"/>
            <a:ext cx="1938528" cy="2377440"/>
          </a:xfrm>
          <a:prstGeom prst="roundRect">
            <a:avLst>
              <a:gd name="adj" fmla="val 3774"/>
            </a:avLst>
          </a:prstGeom>
          <a:solidFill>
            <a:srgbClr val="F1F5F9"/>
          </a:solidFill>
          <a:ln/>
        </p:spPr>
      </p:sp>
      <p:sp>
        <p:nvSpPr>
          <p:cNvPr id="18" name="Pastille"/>
          <p:cNvSpPr/>
          <p:nvPr/>
        </p:nvSpPr>
        <p:spPr>
          <a:xfrm>
            <a:off x="4764024" y="2240280"/>
            <a:ext cx="457200" cy="457200"/>
          </a:xfrm>
          <a:prstGeom prst="ellipse">
            <a:avLst/>
          </a:prstGeom>
          <a:solidFill>
            <a:srgbClr val="7C3AED"/>
          </a:solidFill>
          <a:ln/>
        </p:spPr>
      </p:sp>
      <p:pic>
        <p:nvPicPr>
          <p:cNvPr id="19" name="Image 2" descr="Mesure">    </p:cNvPr>
          <p:cNvPicPr>
            <a:picLocks noChangeAspect="1"/>
          </p:cNvPicPr>
          <p:nvPr/>
        </p:nvPicPr>
        <p:blipFill>
          <a:blip r:embed="rId3"/>
          <a:stretch>
            <a:fillRect/>
          </a:stretch>
        </p:blipFill>
        <p:spPr>
          <a:xfrm>
            <a:off x="4873752" y="2350008"/>
            <a:ext cx="237744" cy="237744"/>
          </a:xfrm>
          <a:prstGeom prst="rect">
            <a:avLst/>
          </a:prstGeom>
        </p:spPr>
      </p:pic>
      <p:sp>
        <p:nvSpPr>
          <p:cNvPr id="20" name="Text 14"/>
          <p:cNvSpPr txBox="1"/>
          <p:nvPr/>
        </p:nvSpPr>
        <p:spPr>
          <a:xfrm>
            <a:off x="4764024" y="2788920"/>
            <a:ext cx="1664208" cy="365760"/>
          </a:xfrm>
          <a:prstGeom prst="rect">
            <a:avLst/>
          </a:prstGeom>
          <a:noFill/>
          <a:ln/>
        </p:spPr>
        <p:txBody>
          <a:bodyPr wrap="square" lIns="0" tIns="0" rIns="0" bIns="0" rtlCol="0" anchor="ctr"/>
          <a:lstStyle/>
          <a:p>
            <a:pPr indent="0" marL="0">
              <a:buNone/>
            </a:pPr>
            <a:r>
              <a:rPr lang="en-US" sz="1600" b="1" dirty="0">
                <a:solidFill>
                  <a:srgbClr val="0F172A"/>
                </a:solidFill>
              </a:rPr>
              <a:t>Mesure</a:t>
            </a:r>
            <a:endParaRPr lang="en-US" sz="1600" dirty="0"/>
          </a:p>
        </p:txBody>
      </p:sp>
      <p:sp>
        <p:nvSpPr>
          <p:cNvPr id="21" name="Text 15"/>
          <p:cNvSpPr txBox="1"/>
          <p:nvPr/>
        </p:nvSpPr>
        <p:spPr>
          <a:xfrm>
            <a:off x="4764024" y="3172968"/>
            <a:ext cx="1664208" cy="123444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Métriques, observabilité</a:t>
            </a:r>
            <a:endParaRPr lang="en-US" sz="1400" dirty="0"/>
          </a:p>
        </p:txBody>
      </p:sp>
      <p:sp>
        <p:nvSpPr>
          <p:cNvPr id="22" name="Carte"/>
          <p:cNvSpPr/>
          <p:nvPr/>
        </p:nvSpPr>
        <p:spPr>
          <a:xfrm>
            <a:off x="6711696" y="2103120"/>
            <a:ext cx="1938528" cy="2377440"/>
          </a:xfrm>
          <a:prstGeom prst="roundRect">
            <a:avLst>
              <a:gd name="adj" fmla="val 3774"/>
            </a:avLst>
          </a:prstGeom>
          <a:solidFill>
            <a:srgbClr val="F1F5F9"/>
          </a:solidFill>
          <a:ln/>
        </p:spPr>
      </p:sp>
      <p:sp>
        <p:nvSpPr>
          <p:cNvPr id="23" name="Pastille"/>
          <p:cNvSpPr/>
          <p:nvPr/>
        </p:nvSpPr>
        <p:spPr>
          <a:xfrm>
            <a:off x="6848856" y="2240280"/>
            <a:ext cx="457200" cy="457200"/>
          </a:xfrm>
          <a:prstGeom prst="ellipse">
            <a:avLst/>
          </a:prstGeom>
          <a:solidFill>
            <a:srgbClr val="F97316"/>
          </a:solidFill>
          <a:ln/>
        </p:spPr>
      </p:sp>
      <p:pic>
        <p:nvPicPr>
          <p:cNvPr id="24" name="Image 3" descr="Partage">    </p:cNvPr>
          <p:cNvPicPr>
            <a:picLocks noChangeAspect="1"/>
          </p:cNvPicPr>
          <p:nvPr/>
        </p:nvPicPr>
        <p:blipFill>
          <a:blip r:embed="rId4"/>
          <a:stretch>
            <a:fillRect/>
          </a:stretch>
        </p:blipFill>
        <p:spPr>
          <a:xfrm>
            <a:off x="6958584" y="2350008"/>
            <a:ext cx="237744" cy="237744"/>
          </a:xfrm>
          <a:prstGeom prst="rect">
            <a:avLst/>
          </a:prstGeom>
        </p:spPr>
      </p:pic>
      <p:sp>
        <p:nvSpPr>
          <p:cNvPr id="25" name="Text 18"/>
          <p:cNvSpPr txBox="1"/>
          <p:nvPr/>
        </p:nvSpPr>
        <p:spPr>
          <a:xfrm>
            <a:off x="6848856" y="2788920"/>
            <a:ext cx="1664208" cy="365760"/>
          </a:xfrm>
          <a:prstGeom prst="rect">
            <a:avLst/>
          </a:prstGeom>
          <a:noFill/>
          <a:ln/>
        </p:spPr>
        <p:txBody>
          <a:bodyPr wrap="square" lIns="0" tIns="0" rIns="0" bIns="0" rtlCol="0" anchor="ctr"/>
          <a:lstStyle/>
          <a:p>
            <a:pPr indent="0" marL="0">
              <a:buNone/>
            </a:pPr>
            <a:r>
              <a:rPr lang="en-US" sz="1600" b="1" dirty="0">
                <a:solidFill>
                  <a:srgbClr val="0F172A"/>
                </a:solidFill>
              </a:rPr>
              <a:t>Partage</a:t>
            </a:r>
            <a:endParaRPr lang="en-US" sz="1600" dirty="0"/>
          </a:p>
        </p:txBody>
      </p:sp>
      <p:sp>
        <p:nvSpPr>
          <p:cNvPr id="26" name="Text 19"/>
          <p:cNvSpPr txBox="1"/>
          <p:nvPr/>
        </p:nvSpPr>
        <p:spPr>
          <a:xfrm>
            <a:off x="6848856" y="3172968"/>
            <a:ext cx="1664208" cy="123444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Connaissances, retours d'expérience</a:t>
            </a:r>
            <a:endParaRPr lang="en-US" sz="1400" dirty="0"/>
          </a:p>
        </p:txBody>
      </p:sp>
      <p:sp>
        <p:nvSpPr>
          <p:cNvPr id="27" name="Text 20"/>
          <p:cNvSpPr txBox="1"/>
          <p:nvPr/>
        </p:nvSpPr>
        <p:spPr>
          <a:xfrm>
            <a:off x="457200" y="4572000"/>
            <a:ext cx="7772400" cy="274320"/>
          </a:xfrm>
          <a:prstGeom prst="rect">
            <a:avLst/>
          </a:prstGeom>
          <a:noFill/>
          <a:ln/>
        </p:spPr>
        <p:txBody>
          <a:bodyPr wrap="square" lIns="0" tIns="0" rIns="0" bIns="0" rtlCol="0" anchor="ctr"/>
          <a:lstStyle/>
          <a:p>
            <a:pPr indent="0" marL="0">
              <a:buNone/>
            </a:pPr>
            <a:r>
              <a:rPr lang="en-US" sz="1200" dirty="0">
                <a:solidFill>
                  <a:srgbClr val="64748B"/>
                </a:solidFill>
              </a:rPr>
              <a:t>Modèle CALMS : Culture · Automation · Lean · Measurement · Sharing</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La boucle infinie DevOps</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sp>
        <p:nvSpPr>
          <p:cNvPr id="6" name="Étape"/>
          <p:cNvSpPr/>
          <p:nvPr/>
        </p:nvSpPr>
        <p:spPr>
          <a:xfrm>
            <a:off x="457200" y="1371600"/>
            <a:ext cx="1933956" cy="731520"/>
          </a:xfrm>
          <a:prstGeom prst="roundRect">
            <a:avLst>
              <a:gd name="adj" fmla="val 10000"/>
            </a:avLst>
          </a:prstGeom>
          <a:solidFill>
            <a:srgbClr val="0D9488"/>
          </a:solidFill>
          <a:ln/>
        </p:spPr>
      </p:sp>
      <p:sp>
        <p:nvSpPr>
          <p:cNvPr id="7" name="Text 4"/>
          <p:cNvSpPr txBox="1"/>
          <p:nvPr/>
        </p:nvSpPr>
        <p:spPr>
          <a:xfrm>
            <a:off x="457200" y="1371600"/>
            <a:ext cx="1933956" cy="731520"/>
          </a:xfrm>
          <a:prstGeom prst="rect">
            <a:avLst/>
          </a:prstGeom>
          <a:noFill/>
          <a:ln/>
        </p:spPr>
        <p:txBody>
          <a:bodyPr wrap="square" lIns="508" tIns="508" rIns="508" bIns="508" rtlCol="0" anchor="ctr"/>
          <a:lstStyle/>
          <a:p>
            <a:pPr algn="ctr" indent="0" marL="0">
              <a:buNone/>
            </a:pPr>
            <a:r>
              <a:rPr lang="en-US" sz="1600" b="1" dirty="0">
                <a:solidFill>
                  <a:srgbClr val="FFFFFF"/>
                </a:solidFill>
              </a:rPr>
              <a:t>Planifier</a:t>
            </a:r>
            <a:endParaRPr lang="en-US" sz="1600" dirty="0"/>
          </a:p>
        </p:txBody>
      </p:sp>
      <p:sp>
        <p:nvSpPr>
          <p:cNvPr id="8" name="Text 5"/>
          <p:cNvSpPr txBox="1"/>
          <p:nvPr/>
        </p:nvSpPr>
        <p:spPr>
          <a:xfrm>
            <a:off x="2372868" y="137160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9" name="Étape"/>
          <p:cNvSpPr/>
          <p:nvPr/>
        </p:nvSpPr>
        <p:spPr>
          <a:xfrm>
            <a:off x="2555748" y="1371600"/>
            <a:ext cx="1933956" cy="731520"/>
          </a:xfrm>
          <a:prstGeom prst="roundRect">
            <a:avLst>
              <a:gd name="adj" fmla="val 10000"/>
            </a:avLst>
          </a:prstGeom>
          <a:solidFill>
            <a:srgbClr val="0D9488"/>
          </a:solidFill>
          <a:ln/>
        </p:spPr>
      </p:sp>
      <p:sp>
        <p:nvSpPr>
          <p:cNvPr id="10" name="Text 7"/>
          <p:cNvSpPr txBox="1"/>
          <p:nvPr/>
        </p:nvSpPr>
        <p:spPr>
          <a:xfrm>
            <a:off x="2555748" y="1371600"/>
            <a:ext cx="1933956" cy="731520"/>
          </a:xfrm>
          <a:prstGeom prst="rect">
            <a:avLst/>
          </a:prstGeom>
          <a:noFill/>
          <a:ln/>
        </p:spPr>
        <p:txBody>
          <a:bodyPr wrap="square" lIns="508" tIns="508" rIns="508" bIns="508" rtlCol="0" anchor="ctr"/>
          <a:lstStyle/>
          <a:p>
            <a:pPr algn="ctr" indent="0" marL="0">
              <a:buNone/>
            </a:pPr>
            <a:r>
              <a:rPr lang="en-US" sz="1600" b="1" dirty="0">
                <a:solidFill>
                  <a:srgbClr val="FFFFFF"/>
                </a:solidFill>
              </a:rPr>
              <a:t>Coder</a:t>
            </a:r>
            <a:endParaRPr lang="en-US" sz="1600" dirty="0"/>
          </a:p>
        </p:txBody>
      </p:sp>
      <p:sp>
        <p:nvSpPr>
          <p:cNvPr id="11" name="Text 8"/>
          <p:cNvSpPr txBox="1"/>
          <p:nvPr/>
        </p:nvSpPr>
        <p:spPr>
          <a:xfrm>
            <a:off x="4471416" y="137160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2" name="Étape"/>
          <p:cNvSpPr/>
          <p:nvPr/>
        </p:nvSpPr>
        <p:spPr>
          <a:xfrm>
            <a:off x="4654296" y="1371600"/>
            <a:ext cx="1933956" cy="731520"/>
          </a:xfrm>
          <a:prstGeom prst="roundRect">
            <a:avLst>
              <a:gd name="adj" fmla="val 10000"/>
            </a:avLst>
          </a:prstGeom>
          <a:solidFill>
            <a:srgbClr val="0D9488"/>
          </a:solidFill>
          <a:ln/>
        </p:spPr>
      </p:sp>
      <p:sp>
        <p:nvSpPr>
          <p:cNvPr id="13" name="Text 10"/>
          <p:cNvSpPr txBox="1"/>
          <p:nvPr/>
        </p:nvSpPr>
        <p:spPr>
          <a:xfrm>
            <a:off x="4654296" y="1371600"/>
            <a:ext cx="1933956" cy="731520"/>
          </a:xfrm>
          <a:prstGeom prst="rect">
            <a:avLst/>
          </a:prstGeom>
          <a:noFill/>
          <a:ln/>
        </p:spPr>
        <p:txBody>
          <a:bodyPr wrap="square" lIns="508" tIns="508" rIns="508" bIns="508" rtlCol="0" anchor="ctr"/>
          <a:lstStyle/>
          <a:p>
            <a:pPr algn="ctr" indent="0" marL="0">
              <a:buNone/>
            </a:pPr>
            <a:r>
              <a:rPr lang="en-US" sz="1600" b="1" dirty="0">
                <a:solidFill>
                  <a:srgbClr val="FFFFFF"/>
                </a:solidFill>
              </a:rPr>
              <a:t>Construire</a:t>
            </a:r>
            <a:endParaRPr lang="en-US" sz="1600" dirty="0"/>
          </a:p>
        </p:txBody>
      </p:sp>
      <p:sp>
        <p:nvSpPr>
          <p:cNvPr id="14" name="Text 11"/>
          <p:cNvSpPr txBox="1"/>
          <p:nvPr/>
        </p:nvSpPr>
        <p:spPr>
          <a:xfrm>
            <a:off x="6569964" y="137160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5" name="Étape"/>
          <p:cNvSpPr/>
          <p:nvPr/>
        </p:nvSpPr>
        <p:spPr>
          <a:xfrm>
            <a:off x="6752844" y="1371600"/>
            <a:ext cx="1933956" cy="731520"/>
          </a:xfrm>
          <a:prstGeom prst="roundRect">
            <a:avLst>
              <a:gd name="adj" fmla="val 10000"/>
            </a:avLst>
          </a:prstGeom>
          <a:solidFill>
            <a:srgbClr val="0D9488"/>
          </a:solidFill>
          <a:ln/>
        </p:spPr>
      </p:sp>
      <p:sp>
        <p:nvSpPr>
          <p:cNvPr id="16" name="Text 13"/>
          <p:cNvSpPr txBox="1"/>
          <p:nvPr/>
        </p:nvSpPr>
        <p:spPr>
          <a:xfrm>
            <a:off x="6752844" y="1371600"/>
            <a:ext cx="1933956" cy="731520"/>
          </a:xfrm>
          <a:prstGeom prst="rect">
            <a:avLst/>
          </a:prstGeom>
          <a:noFill/>
          <a:ln/>
        </p:spPr>
        <p:txBody>
          <a:bodyPr wrap="square" lIns="508" tIns="508" rIns="508" bIns="508" rtlCol="0" anchor="ctr"/>
          <a:lstStyle/>
          <a:p>
            <a:pPr algn="ctr" indent="0" marL="0">
              <a:buNone/>
            </a:pPr>
            <a:r>
              <a:rPr lang="en-US" sz="1600" b="1" dirty="0">
                <a:solidFill>
                  <a:srgbClr val="FFFFFF"/>
                </a:solidFill>
              </a:rPr>
              <a:t>Tester</a:t>
            </a:r>
            <a:endParaRPr lang="en-US" sz="1600" dirty="0"/>
          </a:p>
        </p:txBody>
      </p:sp>
      <p:sp>
        <p:nvSpPr>
          <p:cNvPr id="17" name="Étape"/>
          <p:cNvSpPr/>
          <p:nvPr/>
        </p:nvSpPr>
        <p:spPr>
          <a:xfrm>
            <a:off x="457200" y="2651760"/>
            <a:ext cx="1933956" cy="731520"/>
          </a:xfrm>
          <a:prstGeom prst="roundRect">
            <a:avLst>
              <a:gd name="adj" fmla="val 10000"/>
            </a:avLst>
          </a:prstGeom>
          <a:solidFill>
            <a:srgbClr val="0EA5E9"/>
          </a:solidFill>
          <a:ln/>
        </p:spPr>
      </p:sp>
      <p:sp>
        <p:nvSpPr>
          <p:cNvPr id="18" name="Text 15"/>
          <p:cNvSpPr txBox="1"/>
          <p:nvPr/>
        </p:nvSpPr>
        <p:spPr>
          <a:xfrm>
            <a:off x="457200" y="2651760"/>
            <a:ext cx="1933956" cy="731520"/>
          </a:xfrm>
          <a:prstGeom prst="rect">
            <a:avLst/>
          </a:prstGeom>
          <a:noFill/>
          <a:ln/>
        </p:spPr>
        <p:txBody>
          <a:bodyPr wrap="square" lIns="508" tIns="508" rIns="508" bIns="508" rtlCol="0" anchor="ctr"/>
          <a:lstStyle/>
          <a:p>
            <a:pPr algn="ctr" indent="0" marL="0">
              <a:buNone/>
            </a:pPr>
            <a:r>
              <a:rPr lang="en-US" sz="1600" b="1" dirty="0">
                <a:solidFill>
                  <a:srgbClr val="FFFFFF"/>
                </a:solidFill>
              </a:rPr>
              <a:t>Publier</a:t>
            </a:r>
            <a:endParaRPr lang="en-US" sz="1600" dirty="0"/>
          </a:p>
        </p:txBody>
      </p:sp>
      <p:sp>
        <p:nvSpPr>
          <p:cNvPr id="19" name="Text 16"/>
          <p:cNvSpPr txBox="1"/>
          <p:nvPr/>
        </p:nvSpPr>
        <p:spPr>
          <a:xfrm>
            <a:off x="2372868" y="265176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20" name="Étape"/>
          <p:cNvSpPr/>
          <p:nvPr/>
        </p:nvSpPr>
        <p:spPr>
          <a:xfrm>
            <a:off x="2555748" y="2651760"/>
            <a:ext cx="1933956" cy="731520"/>
          </a:xfrm>
          <a:prstGeom prst="roundRect">
            <a:avLst>
              <a:gd name="adj" fmla="val 10000"/>
            </a:avLst>
          </a:prstGeom>
          <a:solidFill>
            <a:srgbClr val="0EA5E9"/>
          </a:solidFill>
          <a:ln/>
        </p:spPr>
      </p:sp>
      <p:sp>
        <p:nvSpPr>
          <p:cNvPr id="21" name="Text 18"/>
          <p:cNvSpPr txBox="1"/>
          <p:nvPr/>
        </p:nvSpPr>
        <p:spPr>
          <a:xfrm>
            <a:off x="2555748" y="2651760"/>
            <a:ext cx="1933956" cy="731520"/>
          </a:xfrm>
          <a:prstGeom prst="rect">
            <a:avLst/>
          </a:prstGeom>
          <a:noFill/>
          <a:ln/>
        </p:spPr>
        <p:txBody>
          <a:bodyPr wrap="square" lIns="508" tIns="508" rIns="508" bIns="508" rtlCol="0" anchor="ctr"/>
          <a:lstStyle/>
          <a:p>
            <a:pPr algn="ctr" indent="0" marL="0">
              <a:buNone/>
            </a:pPr>
            <a:r>
              <a:rPr lang="en-US" sz="1600" b="1" dirty="0">
                <a:solidFill>
                  <a:srgbClr val="FFFFFF"/>
                </a:solidFill>
              </a:rPr>
              <a:t>Déployer</a:t>
            </a:r>
            <a:endParaRPr lang="en-US" sz="1600" dirty="0"/>
          </a:p>
        </p:txBody>
      </p:sp>
      <p:sp>
        <p:nvSpPr>
          <p:cNvPr id="22" name="Text 19"/>
          <p:cNvSpPr txBox="1"/>
          <p:nvPr/>
        </p:nvSpPr>
        <p:spPr>
          <a:xfrm>
            <a:off x="4471416" y="265176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23" name="Étape"/>
          <p:cNvSpPr/>
          <p:nvPr/>
        </p:nvSpPr>
        <p:spPr>
          <a:xfrm>
            <a:off x="4654296" y="2651760"/>
            <a:ext cx="1933956" cy="731520"/>
          </a:xfrm>
          <a:prstGeom prst="roundRect">
            <a:avLst>
              <a:gd name="adj" fmla="val 10000"/>
            </a:avLst>
          </a:prstGeom>
          <a:solidFill>
            <a:srgbClr val="0EA5E9"/>
          </a:solidFill>
          <a:ln/>
        </p:spPr>
      </p:sp>
      <p:sp>
        <p:nvSpPr>
          <p:cNvPr id="24" name="Text 21"/>
          <p:cNvSpPr txBox="1"/>
          <p:nvPr/>
        </p:nvSpPr>
        <p:spPr>
          <a:xfrm>
            <a:off x="4654296" y="2651760"/>
            <a:ext cx="1933956" cy="731520"/>
          </a:xfrm>
          <a:prstGeom prst="rect">
            <a:avLst/>
          </a:prstGeom>
          <a:noFill/>
          <a:ln/>
        </p:spPr>
        <p:txBody>
          <a:bodyPr wrap="square" lIns="508" tIns="508" rIns="508" bIns="508" rtlCol="0" anchor="ctr"/>
          <a:lstStyle/>
          <a:p>
            <a:pPr algn="ctr" indent="0" marL="0">
              <a:buNone/>
            </a:pPr>
            <a:r>
              <a:rPr lang="en-US" sz="1600" b="1" dirty="0">
                <a:solidFill>
                  <a:srgbClr val="FFFFFF"/>
                </a:solidFill>
              </a:rPr>
              <a:t>Opérer</a:t>
            </a:r>
            <a:endParaRPr lang="en-US" sz="1600" dirty="0"/>
          </a:p>
        </p:txBody>
      </p:sp>
      <p:sp>
        <p:nvSpPr>
          <p:cNvPr id="25" name="Text 22"/>
          <p:cNvSpPr txBox="1"/>
          <p:nvPr/>
        </p:nvSpPr>
        <p:spPr>
          <a:xfrm>
            <a:off x="6569964" y="265176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26" name="Étape"/>
          <p:cNvSpPr/>
          <p:nvPr/>
        </p:nvSpPr>
        <p:spPr>
          <a:xfrm>
            <a:off x="6752844" y="2651760"/>
            <a:ext cx="1933956" cy="731520"/>
          </a:xfrm>
          <a:prstGeom prst="roundRect">
            <a:avLst>
              <a:gd name="adj" fmla="val 10000"/>
            </a:avLst>
          </a:prstGeom>
          <a:solidFill>
            <a:srgbClr val="0EA5E9"/>
          </a:solidFill>
          <a:ln/>
        </p:spPr>
      </p:sp>
      <p:sp>
        <p:nvSpPr>
          <p:cNvPr id="27" name="Text 24"/>
          <p:cNvSpPr txBox="1"/>
          <p:nvPr/>
        </p:nvSpPr>
        <p:spPr>
          <a:xfrm>
            <a:off x="6752844" y="2651760"/>
            <a:ext cx="1933956" cy="731520"/>
          </a:xfrm>
          <a:prstGeom prst="rect">
            <a:avLst/>
          </a:prstGeom>
          <a:noFill/>
          <a:ln/>
        </p:spPr>
        <p:txBody>
          <a:bodyPr wrap="square" lIns="508" tIns="508" rIns="508" bIns="508" rtlCol="0" anchor="ctr"/>
          <a:lstStyle/>
          <a:p>
            <a:pPr algn="ctr" indent="0" marL="0">
              <a:buNone/>
            </a:pPr>
            <a:r>
              <a:rPr lang="en-US" sz="1600" b="1" dirty="0">
                <a:solidFill>
                  <a:srgbClr val="FFFFFF"/>
                </a:solidFill>
              </a:rPr>
              <a:t>Superviser</a:t>
            </a:r>
            <a:endParaRPr lang="en-US" sz="1600" dirty="0"/>
          </a:p>
        </p:txBody>
      </p:sp>
      <p:sp>
        <p:nvSpPr>
          <p:cNvPr id="28" name="Text 25"/>
          <p:cNvSpPr txBox="1"/>
          <p:nvPr/>
        </p:nvSpPr>
        <p:spPr>
          <a:xfrm>
            <a:off x="457200" y="2103120"/>
            <a:ext cx="8229600" cy="548640"/>
          </a:xfrm>
          <a:prstGeom prst="rect">
            <a:avLst/>
          </a:prstGeom>
          <a:noFill/>
          <a:ln/>
        </p:spPr>
        <p:txBody>
          <a:bodyPr wrap="square" lIns="0" tIns="0" rIns="0" bIns="0" rtlCol="0" anchor="ctr"/>
          <a:lstStyle/>
          <a:p>
            <a:pPr algn="ctr" indent="0" marL="0">
              <a:buNone/>
            </a:pPr>
            <a:r>
              <a:rPr lang="en-US" sz="1400" dirty="0">
                <a:solidFill>
                  <a:srgbClr val="64748B"/>
                </a:solidFill>
              </a:rPr>
              <a:t>↓  Dev (en haut)   ·   Ops (en bas)  ↑</a:t>
            </a:r>
            <a:endParaRPr lang="en-US" sz="1400" dirty="0"/>
          </a:p>
        </p:txBody>
      </p:sp>
      <p:sp>
        <p:nvSpPr>
          <p:cNvPr id="29" name="Carte"/>
          <p:cNvSpPr/>
          <p:nvPr/>
        </p:nvSpPr>
        <p:spPr>
          <a:xfrm>
            <a:off x="457200" y="3657600"/>
            <a:ext cx="8229600" cy="868680"/>
          </a:xfrm>
          <a:prstGeom prst="roundRect">
            <a:avLst>
              <a:gd name="adj" fmla="val 8421"/>
            </a:avLst>
          </a:prstGeom>
          <a:solidFill>
            <a:srgbClr val="F1F5F9"/>
          </a:solidFill>
          <a:ln/>
        </p:spPr>
      </p:sp>
      <p:sp>
        <p:nvSpPr>
          <p:cNvPr id="30" name="Text 27"/>
          <p:cNvSpPr txBox="1"/>
          <p:nvPr/>
        </p:nvSpPr>
        <p:spPr>
          <a:xfrm>
            <a:off x="594360" y="3767328"/>
            <a:ext cx="7955280" cy="365760"/>
          </a:xfrm>
          <a:prstGeom prst="rect">
            <a:avLst/>
          </a:prstGeom>
          <a:noFill/>
          <a:ln/>
        </p:spPr>
        <p:txBody>
          <a:bodyPr wrap="square" lIns="0" tIns="0" rIns="0" bIns="0" rtlCol="0" anchor="ctr"/>
          <a:lstStyle/>
          <a:p>
            <a:pPr indent="0" marL="0">
              <a:buNone/>
            </a:pPr>
            <a:r>
              <a:rPr lang="en-US" sz="1500" b="1" dirty="0">
                <a:solidFill>
                  <a:srgbClr val="0F172A"/>
                </a:solidFill>
              </a:rPr>
              <a:t>Feedback continu</a:t>
            </a:r>
            <a:endParaRPr lang="en-US" sz="1500" dirty="0"/>
          </a:p>
        </p:txBody>
      </p:sp>
      <p:sp>
        <p:nvSpPr>
          <p:cNvPr id="31" name="Text 28"/>
          <p:cNvSpPr txBox="1"/>
          <p:nvPr/>
        </p:nvSpPr>
        <p:spPr>
          <a:xfrm>
            <a:off x="594360" y="4151376"/>
            <a:ext cx="7955280" cy="301752"/>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Le monitoring en production alimente la planification : chaque boucle améliore la suivante.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Les pratiques clés</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sp>
        <p:nvSpPr>
          <p:cNvPr id="6" name="Carte"/>
          <p:cNvSpPr/>
          <p:nvPr/>
        </p:nvSpPr>
        <p:spPr>
          <a:xfrm>
            <a:off x="457200" y="1280160"/>
            <a:ext cx="2651760" cy="1554480"/>
          </a:xfrm>
          <a:prstGeom prst="roundRect">
            <a:avLst>
              <a:gd name="adj" fmla="val 4706"/>
            </a:avLst>
          </a:prstGeom>
          <a:solidFill>
            <a:srgbClr val="F1F5F9"/>
          </a:solidFill>
          <a:ln/>
        </p:spPr>
      </p:sp>
      <p:sp>
        <p:nvSpPr>
          <p:cNvPr id="7" name="Pastille"/>
          <p:cNvSpPr/>
          <p:nvPr/>
        </p:nvSpPr>
        <p:spPr>
          <a:xfrm>
            <a:off x="594360" y="1417320"/>
            <a:ext cx="457200" cy="457200"/>
          </a:xfrm>
          <a:prstGeom prst="ellipse">
            <a:avLst/>
          </a:prstGeom>
          <a:solidFill>
            <a:srgbClr val="0D9488"/>
          </a:solidFill>
          <a:ln/>
        </p:spPr>
      </p:sp>
      <p:pic>
        <p:nvPicPr>
          <p:cNvPr id="8" name="Image 0" descr="Contrôle de version">    </p:cNvPr>
          <p:cNvPicPr>
            <a:picLocks noChangeAspect="1"/>
          </p:cNvPicPr>
          <p:nvPr/>
        </p:nvPicPr>
        <p:blipFill>
          <a:blip r:embed="rId1"/>
          <a:stretch>
            <a:fillRect/>
          </a:stretch>
        </p:blipFill>
        <p:spPr>
          <a:xfrm>
            <a:off x="704088" y="1527048"/>
            <a:ext cx="237744" cy="237744"/>
          </a:xfrm>
          <a:prstGeom prst="rect">
            <a:avLst/>
          </a:prstGeom>
        </p:spPr>
      </p:pic>
      <p:sp>
        <p:nvSpPr>
          <p:cNvPr id="9" name="Text 5"/>
          <p:cNvSpPr txBox="1"/>
          <p:nvPr/>
        </p:nvSpPr>
        <p:spPr>
          <a:xfrm>
            <a:off x="594360" y="196596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Contrôle de version</a:t>
            </a:r>
            <a:endParaRPr lang="en-US" sz="1500" dirty="0"/>
          </a:p>
        </p:txBody>
      </p:sp>
      <p:sp>
        <p:nvSpPr>
          <p:cNvPr id="10" name="Text 6"/>
          <p:cNvSpPr txBox="1"/>
          <p:nvPr/>
        </p:nvSpPr>
        <p:spPr>
          <a:xfrm>
            <a:off x="594360" y="2350008"/>
            <a:ext cx="2377440" cy="41148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Git pour tout le code</a:t>
            </a:r>
            <a:endParaRPr lang="en-US" sz="1300" dirty="0"/>
          </a:p>
        </p:txBody>
      </p:sp>
      <p:sp>
        <p:nvSpPr>
          <p:cNvPr id="11" name="Carte"/>
          <p:cNvSpPr/>
          <p:nvPr/>
        </p:nvSpPr>
        <p:spPr>
          <a:xfrm>
            <a:off x="3246120" y="1280160"/>
            <a:ext cx="2651760" cy="1554480"/>
          </a:xfrm>
          <a:prstGeom prst="roundRect">
            <a:avLst>
              <a:gd name="adj" fmla="val 4706"/>
            </a:avLst>
          </a:prstGeom>
          <a:solidFill>
            <a:srgbClr val="F1F5F9"/>
          </a:solidFill>
          <a:ln/>
        </p:spPr>
      </p:sp>
      <p:sp>
        <p:nvSpPr>
          <p:cNvPr id="12" name="Pastille"/>
          <p:cNvSpPr/>
          <p:nvPr/>
        </p:nvSpPr>
        <p:spPr>
          <a:xfrm>
            <a:off x="3383280" y="1417320"/>
            <a:ext cx="457200" cy="457200"/>
          </a:xfrm>
          <a:prstGeom prst="ellipse">
            <a:avLst/>
          </a:prstGeom>
          <a:solidFill>
            <a:srgbClr val="0EA5E9"/>
          </a:solidFill>
          <a:ln/>
        </p:spPr>
      </p:sp>
      <p:pic>
        <p:nvPicPr>
          <p:cNvPr id="13" name="Image 1" descr="Intégration continue">    </p:cNvPr>
          <p:cNvPicPr>
            <a:picLocks noChangeAspect="1"/>
          </p:cNvPicPr>
          <p:nvPr/>
        </p:nvPicPr>
        <p:blipFill>
          <a:blip r:embed="rId2"/>
          <a:stretch>
            <a:fillRect/>
          </a:stretch>
        </p:blipFill>
        <p:spPr>
          <a:xfrm>
            <a:off x="3493008" y="1527048"/>
            <a:ext cx="237744" cy="237744"/>
          </a:xfrm>
          <a:prstGeom prst="rect">
            <a:avLst/>
          </a:prstGeom>
        </p:spPr>
      </p:pic>
      <p:sp>
        <p:nvSpPr>
          <p:cNvPr id="14" name="Text 9"/>
          <p:cNvSpPr txBox="1"/>
          <p:nvPr/>
        </p:nvSpPr>
        <p:spPr>
          <a:xfrm>
            <a:off x="3383280" y="196596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Intégration continue</a:t>
            </a:r>
            <a:endParaRPr lang="en-US" sz="1500" dirty="0"/>
          </a:p>
        </p:txBody>
      </p:sp>
      <p:sp>
        <p:nvSpPr>
          <p:cNvPr id="15" name="Text 10"/>
          <p:cNvSpPr txBox="1"/>
          <p:nvPr/>
        </p:nvSpPr>
        <p:spPr>
          <a:xfrm>
            <a:off x="3383280" y="2350008"/>
            <a:ext cx="2377440" cy="41148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Build + tests à chaque commit</a:t>
            </a:r>
            <a:endParaRPr lang="en-US" sz="1300" dirty="0"/>
          </a:p>
        </p:txBody>
      </p:sp>
      <p:sp>
        <p:nvSpPr>
          <p:cNvPr id="16" name="Carte"/>
          <p:cNvSpPr/>
          <p:nvPr/>
        </p:nvSpPr>
        <p:spPr>
          <a:xfrm>
            <a:off x="6035040" y="1280160"/>
            <a:ext cx="2651760" cy="1554480"/>
          </a:xfrm>
          <a:prstGeom prst="roundRect">
            <a:avLst>
              <a:gd name="adj" fmla="val 4706"/>
            </a:avLst>
          </a:prstGeom>
          <a:solidFill>
            <a:srgbClr val="F1F5F9"/>
          </a:solidFill>
          <a:ln/>
        </p:spPr>
      </p:sp>
      <p:sp>
        <p:nvSpPr>
          <p:cNvPr id="17" name="Pastille"/>
          <p:cNvSpPr/>
          <p:nvPr/>
        </p:nvSpPr>
        <p:spPr>
          <a:xfrm>
            <a:off x="6172200" y="1417320"/>
            <a:ext cx="457200" cy="457200"/>
          </a:xfrm>
          <a:prstGeom prst="ellipse">
            <a:avLst/>
          </a:prstGeom>
          <a:solidFill>
            <a:srgbClr val="7C3AED"/>
          </a:solidFill>
          <a:ln/>
        </p:spPr>
      </p:sp>
      <p:pic>
        <p:nvPicPr>
          <p:cNvPr id="18" name="Image 2" descr="Livraison continue">    </p:cNvPr>
          <p:cNvPicPr>
            <a:picLocks noChangeAspect="1"/>
          </p:cNvPicPr>
          <p:nvPr/>
        </p:nvPicPr>
        <p:blipFill>
          <a:blip r:embed="rId3"/>
          <a:stretch>
            <a:fillRect/>
          </a:stretch>
        </p:blipFill>
        <p:spPr>
          <a:xfrm>
            <a:off x="6281928" y="1527048"/>
            <a:ext cx="237744" cy="237744"/>
          </a:xfrm>
          <a:prstGeom prst="rect">
            <a:avLst/>
          </a:prstGeom>
        </p:spPr>
      </p:pic>
      <p:sp>
        <p:nvSpPr>
          <p:cNvPr id="19" name="Text 13"/>
          <p:cNvSpPr txBox="1"/>
          <p:nvPr/>
        </p:nvSpPr>
        <p:spPr>
          <a:xfrm>
            <a:off x="6172200" y="196596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Livraison continue</a:t>
            </a:r>
            <a:endParaRPr lang="en-US" sz="1500" dirty="0"/>
          </a:p>
        </p:txBody>
      </p:sp>
      <p:sp>
        <p:nvSpPr>
          <p:cNvPr id="20" name="Text 14"/>
          <p:cNvSpPr txBox="1"/>
          <p:nvPr/>
        </p:nvSpPr>
        <p:spPr>
          <a:xfrm>
            <a:off x="6172200" y="2350008"/>
            <a:ext cx="2377440" cy="41148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Toujours prêt à déployer</a:t>
            </a:r>
            <a:endParaRPr lang="en-US" sz="1300" dirty="0"/>
          </a:p>
        </p:txBody>
      </p:sp>
      <p:sp>
        <p:nvSpPr>
          <p:cNvPr id="21" name="Carte"/>
          <p:cNvSpPr/>
          <p:nvPr/>
        </p:nvSpPr>
        <p:spPr>
          <a:xfrm>
            <a:off x="457200" y="3017520"/>
            <a:ext cx="2651760" cy="1554480"/>
          </a:xfrm>
          <a:prstGeom prst="roundRect">
            <a:avLst>
              <a:gd name="adj" fmla="val 4706"/>
            </a:avLst>
          </a:prstGeom>
          <a:solidFill>
            <a:srgbClr val="F1F5F9"/>
          </a:solidFill>
          <a:ln/>
        </p:spPr>
      </p:sp>
      <p:sp>
        <p:nvSpPr>
          <p:cNvPr id="22" name="Pastille"/>
          <p:cNvSpPr/>
          <p:nvPr/>
        </p:nvSpPr>
        <p:spPr>
          <a:xfrm>
            <a:off x="594360" y="3154680"/>
            <a:ext cx="457200" cy="457200"/>
          </a:xfrm>
          <a:prstGeom prst="ellipse">
            <a:avLst/>
          </a:prstGeom>
          <a:solidFill>
            <a:srgbClr val="F97316"/>
          </a:solidFill>
          <a:ln/>
        </p:spPr>
      </p:sp>
      <p:pic>
        <p:nvPicPr>
          <p:cNvPr id="23" name="Image 3" descr="Infrastructure as Code">    </p:cNvPr>
          <p:cNvPicPr>
            <a:picLocks noChangeAspect="1"/>
          </p:cNvPicPr>
          <p:nvPr/>
        </p:nvPicPr>
        <p:blipFill>
          <a:blip r:embed="rId4"/>
          <a:stretch>
            <a:fillRect/>
          </a:stretch>
        </p:blipFill>
        <p:spPr>
          <a:xfrm>
            <a:off x="704088" y="3264408"/>
            <a:ext cx="237744" cy="237744"/>
          </a:xfrm>
          <a:prstGeom prst="rect">
            <a:avLst/>
          </a:prstGeom>
        </p:spPr>
      </p:pic>
      <p:sp>
        <p:nvSpPr>
          <p:cNvPr id="24" name="Text 17"/>
          <p:cNvSpPr txBox="1"/>
          <p:nvPr/>
        </p:nvSpPr>
        <p:spPr>
          <a:xfrm>
            <a:off x="594360" y="370332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Infrastructure as Code</a:t>
            </a:r>
            <a:endParaRPr lang="en-US" sz="1500" dirty="0"/>
          </a:p>
        </p:txBody>
      </p:sp>
      <p:sp>
        <p:nvSpPr>
          <p:cNvPr id="25" name="Text 18"/>
          <p:cNvSpPr txBox="1"/>
          <p:nvPr/>
        </p:nvSpPr>
        <p:spPr>
          <a:xfrm>
            <a:off x="594360" y="4087368"/>
            <a:ext cx="2377440" cy="41148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Infra décrite en fichiers</a:t>
            </a:r>
            <a:endParaRPr lang="en-US" sz="1300" dirty="0"/>
          </a:p>
        </p:txBody>
      </p:sp>
      <p:sp>
        <p:nvSpPr>
          <p:cNvPr id="26" name="Carte"/>
          <p:cNvSpPr/>
          <p:nvPr/>
        </p:nvSpPr>
        <p:spPr>
          <a:xfrm>
            <a:off x="3246120" y="3017520"/>
            <a:ext cx="2651760" cy="1554480"/>
          </a:xfrm>
          <a:prstGeom prst="roundRect">
            <a:avLst>
              <a:gd name="adj" fmla="val 4706"/>
            </a:avLst>
          </a:prstGeom>
          <a:solidFill>
            <a:srgbClr val="F1F5F9"/>
          </a:solidFill>
          <a:ln/>
        </p:spPr>
      </p:sp>
      <p:sp>
        <p:nvSpPr>
          <p:cNvPr id="27" name="Pastille"/>
          <p:cNvSpPr/>
          <p:nvPr/>
        </p:nvSpPr>
        <p:spPr>
          <a:xfrm>
            <a:off x="3383280" y="3154680"/>
            <a:ext cx="457200" cy="457200"/>
          </a:xfrm>
          <a:prstGeom prst="ellipse">
            <a:avLst/>
          </a:prstGeom>
          <a:solidFill>
            <a:srgbClr val="0D9488"/>
          </a:solidFill>
          <a:ln/>
        </p:spPr>
      </p:sp>
      <p:pic>
        <p:nvPicPr>
          <p:cNvPr id="28" name="Image 4" descr="Supervision">    </p:cNvPr>
          <p:cNvPicPr>
            <a:picLocks noChangeAspect="1"/>
          </p:cNvPicPr>
          <p:nvPr/>
        </p:nvPicPr>
        <p:blipFill>
          <a:blip r:embed="rId5"/>
          <a:stretch>
            <a:fillRect/>
          </a:stretch>
        </p:blipFill>
        <p:spPr>
          <a:xfrm>
            <a:off x="3493008" y="3264408"/>
            <a:ext cx="237744" cy="237744"/>
          </a:xfrm>
          <a:prstGeom prst="rect">
            <a:avLst/>
          </a:prstGeom>
        </p:spPr>
      </p:pic>
      <p:sp>
        <p:nvSpPr>
          <p:cNvPr id="29" name="Text 21"/>
          <p:cNvSpPr txBox="1"/>
          <p:nvPr/>
        </p:nvSpPr>
        <p:spPr>
          <a:xfrm>
            <a:off x="3383280" y="370332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Supervision</a:t>
            </a:r>
            <a:endParaRPr lang="en-US" sz="1500" dirty="0"/>
          </a:p>
        </p:txBody>
      </p:sp>
      <p:sp>
        <p:nvSpPr>
          <p:cNvPr id="30" name="Text 22"/>
          <p:cNvSpPr txBox="1"/>
          <p:nvPr/>
        </p:nvSpPr>
        <p:spPr>
          <a:xfrm>
            <a:off x="3383280" y="4087368"/>
            <a:ext cx="2377440" cy="41148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Logs, métriques, alertes</a:t>
            </a:r>
            <a:endParaRPr lang="en-US" sz="1300" dirty="0"/>
          </a:p>
        </p:txBody>
      </p:sp>
      <p:sp>
        <p:nvSpPr>
          <p:cNvPr id="31" name="Carte"/>
          <p:cNvSpPr/>
          <p:nvPr/>
        </p:nvSpPr>
        <p:spPr>
          <a:xfrm>
            <a:off x="6035040" y="3017520"/>
            <a:ext cx="2651760" cy="1554480"/>
          </a:xfrm>
          <a:prstGeom prst="roundRect">
            <a:avLst>
              <a:gd name="adj" fmla="val 4706"/>
            </a:avLst>
          </a:prstGeom>
          <a:solidFill>
            <a:srgbClr val="F1F5F9"/>
          </a:solidFill>
          <a:ln/>
        </p:spPr>
      </p:sp>
      <p:sp>
        <p:nvSpPr>
          <p:cNvPr id="32" name="Pastille"/>
          <p:cNvSpPr/>
          <p:nvPr/>
        </p:nvSpPr>
        <p:spPr>
          <a:xfrm>
            <a:off x="6172200" y="3154680"/>
            <a:ext cx="457200" cy="457200"/>
          </a:xfrm>
          <a:prstGeom prst="ellipse">
            <a:avLst/>
          </a:prstGeom>
          <a:solidFill>
            <a:srgbClr val="0EA5E9"/>
          </a:solidFill>
          <a:ln/>
        </p:spPr>
      </p:sp>
      <p:pic>
        <p:nvPicPr>
          <p:cNvPr id="33" name="Image 5" descr="Feedback rapide">    </p:cNvPr>
          <p:cNvPicPr>
            <a:picLocks noChangeAspect="1"/>
          </p:cNvPicPr>
          <p:nvPr/>
        </p:nvPicPr>
        <p:blipFill>
          <a:blip r:embed="rId6"/>
          <a:stretch>
            <a:fillRect/>
          </a:stretch>
        </p:blipFill>
        <p:spPr>
          <a:xfrm>
            <a:off x="6281928" y="3264408"/>
            <a:ext cx="237744" cy="237744"/>
          </a:xfrm>
          <a:prstGeom prst="rect">
            <a:avLst/>
          </a:prstGeom>
        </p:spPr>
      </p:pic>
      <p:sp>
        <p:nvSpPr>
          <p:cNvPr id="34" name="Text 25"/>
          <p:cNvSpPr txBox="1"/>
          <p:nvPr/>
        </p:nvSpPr>
        <p:spPr>
          <a:xfrm>
            <a:off x="6172200" y="370332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Feedback rapide</a:t>
            </a:r>
            <a:endParaRPr lang="en-US" sz="1500" dirty="0"/>
          </a:p>
        </p:txBody>
      </p:sp>
      <p:sp>
        <p:nvSpPr>
          <p:cNvPr id="35" name="Text 26"/>
          <p:cNvSpPr txBox="1"/>
          <p:nvPr/>
        </p:nvSpPr>
        <p:spPr>
          <a:xfrm>
            <a:off x="6172200" y="4087368"/>
            <a:ext cx="2377440" cy="41148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Boucles courtes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Le pipeline CI/CD</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sp>
        <p:nvSpPr>
          <p:cNvPr id="6" name="Étape"/>
          <p:cNvSpPr/>
          <p:nvPr/>
        </p:nvSpPr>
        <p:spPr>
          <a:xfrm>
            <a:off x="457200" y="1371600"/>
            <a:ext cx="1514246" cy="822960"/>
          </a:xfrm>
          <a:prstGeom prst="roundRect">
            <a:avLst>
              <a:gd name="adj" fmla="val 8889"/>
            </a:avLst>
          </a:prstGeom>
          <a:solidFill>
            <a:srgbClr val="0D9488"/>
          </a:solidFill>
          <a:ln/>
        </p:spPr>
      </p:sp>
      <p:sp>
        <p:nvSpPr>
          <p:cNvPr id="7" name="Text 4"/>
          <p:cNvSpPr txBox="1"/>
          <p:nvPr/>
        </p:nvSpPr>
        <p:spPr>
          <a:xfrm>
            <a:off x="457200" y="1371600"/>
            <a:ext cx="1514246" cy="822960"/>
          </a:xfrm>
          <a:prstGeom prst="rect">
            <a:avLst/>
          </a:prstGeom>
          <a:noFill/>
          <a:ln/>
        </p:spPr>
        <p:txBody>
          <a:bodyPr wrap="square" lIns="508" tIns="508" rIns="508" bIns="508" rtlCol="0" anchor="ctr"/>
          <a:lstStyle/>
          <a:p>
            <a:pPr algn="ctr" indent="0" marL="0">
              <a:buNone/>
            </a:pPr>
            <a:r>
              <a:rPr lang="en-US" sz="1700" b="1" dirty="0">
                <a:solidFill>
                  <a:srgbClr val="FFFFFF"/>
                </a:solidFill>
              </a:rPr>
              <a:t>Commit</a:t>
            </a:r>
            <a:endParaRPr lang="en-US" sz="1700" dirty="0"/>
          </a:p>
        </p:txBody>
      </p:sp>
      <p:sp>
        <p:nvSpPr>
          <p:cNvPr id="8" name="Text 5"/>
          <p:cNvSpPr txBox="1"/>
          <p:nvPr/>
        </p:nvSpPr>
        <p:spPr>
          <a:xfrm>
            <a:off x="1953158" y="1371600"/>
            <a:ext cx="201168" cy="82296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9" name="Étape"/>
          <p:cNvSpPr/>
          <p:nvPr/>
        </p:nvSpPr>
        <p:spPr>
          <a:xfrm>
            <a:off x="2136038" y="1371600"/>
            <a:ext cx="1514246" cy="822960"/>
          </a:xfrm>
          <a:prstGeom prst="roundRect">
            <a:avLst>
              <a:gd name="adj" fmla="val 8889"/>
            </a:avLst>
          </a:prstGeom>
          <a:solidFill>
            <a:srgbClr val="0D9488"/>
          </a:solidFill>
          <a:ln/>
        </p:spPr>
      </p:sp>
      <p:sp>
        <p:nvSpPr>
          <p:cNvPr id="10" name="Text 7"/>
          <p:cNvSpPr txBox="1"/>
          <p:nvPr/>
        </p:nvSpPr>
        <p:spPr>
          <a:xfrm>
            <a:off x="2136038" y="1371600"/>
            <a:ext cx="1514246" cy="822960"/>
          </a:xfrm>
          <a:prstGeom prst="rect">
            <a:avLst/>
          </a:prstGeom>
          <a:noFill/>
          <a:ln/>
        </p:spPr>
        <p:txBody>
          <a:bodyPr wrap="square" lIns="508" tIns="508" rIns="508" bIns="508" rtlCol="0" anchor="ctr"/>
          <a:lstStyle/>
          <a:p>
            <a:pPr algn="ctr" indent="0" marL="0">
              <a:buNone/>
            </a:pPr>
            <a:r>
              <a:rPr lang="en-US" sz="1700" b="1" dirty="0">
                <a:solidFill>
                  <a:srgbClr val="FFFFFF"/>
                </a:solidFill>
              </a:rPr>
              <a:t>Build</a:t>
            </a:r>
            <a:endParaRPr lang="en-US" sz="1700" dirty="0"/>
          </a:p>
        </p:txBody>
      </p:sp>
      <p:sp>
        <p:nvSpPr>
          <p:cNvPr id="11" name="Text 8"/>
          <p:cNvSpPr txBox="1"/>
          <p:nvPr/>
        </p:nvSpPr>
        <p:spPr>
          <a:xfrm>
            <a:off x="3631997" y="1371600"/>
            <a:ext cx="201168" cy="82296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2" name="Étape"/>
          <p:cNvSpPr/>
          <p:nvPr/>
        </p:nvSpPr>
        <p:spPr>
          <a:xfrm>
            <a:off x="3814877" y="1371600"/>
            <a:ext cx="1514246" cy="822960"/>
          </a:xfrm>
          <a:prstGeom prst="roundRect">
            <a:avLst>
              <a:gd name="adj" fmla="val 8889"/>
            </a:avLst>
          </a:prstGeom>
          <a:solidFill>
            <a:srgbClr val="0D9488"/>
          </a:solidFill>
          <a:ln/>
        </p:spPr>
      </p:sp>
      <p:sp>
        <p:nvSpPr>
          <p:cNvPr id="13" name="Text 10"/>
          <p:cNvSpPr txBox="1"/>
          <p:nvPr/>
        </p:nvSpPr>
        <p:spPr>
          <a:xfrm>
            <a:off x="3814877" y="1371600"/>
            <a:ext cx="1514246" cy="822960"/>
          </a:xfrm>
          <a:prstGeom prst="rect">
            <a:avLst/>
          </a:prstGeom>
          <a:noFill/>
          <a:ln/>
        </p:spPr>
        <p:txBody>
          <a:bodyPr wrap="square" lIns="508" tIns="508" rIns="508" bIns="508" rtlCol="0" anchor="ctr"/>
          <a:lstStyle/>
          <a:p>
            <a:pPr algn="ctr" indent="0" marL="0">
              <a:buNone/>
            </a:pPr>
            <a:r>
              <a:rPr lang="en-US" sz="1700" b="1" dirty="0">
                <a:solidFill>
                  <a:srgbClr val="FFFFFF"/>
                </a:solidFill>
              </a:rPr>
              <a:t>Tests</a:t>
            </a:r>
            <a:endParaRPr lang="en-US" sz="1700" dirty="0"/>
          </a:p>
        </p:txBody>
      </p:sp>
      <p:sp>
        <p:nvSpPr>
          <p:cNvPr id="14" name="Text 11"/>
          <p:cNvSpPr txBox="1"/>
          <p:nvPr/>
        </p:nvSpPr>
        <p:spPr>
          <a:xfrm>
            <a:off x="5310835" y="1371600"/>
            <a:ext cx="201168" cy="82296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5" name="Étape"/>
          <p:cNvSpPr/>
          <p:nvPr/>
        </p:nvSpPr>
        <p:spPr>
          <a:xfrm>
            <a:off x="5493715" y="1371600"/>
            <a:ext cx="1514246" cy="822960"/>
          </a:xfrm>
          <a:prstGeom prst="roundRect">
            <a:avLst>
              <a:gd name="adj" fmla="val 8889"/>
            </a:avLst>
          </a:prstGeom>
          <a:solidFill>
            <a:srgbClr val="0D9488"/>
          </a:solidFill>
          <a:ln/>
        </p:spPr>
      </p:sp>
      <p:sp>
        <p:nvSpPr>
          <p:cNvPr id="16" name="Text 13"/>
          <p:cNvSpPr txBox="1"/>
          <p:nvPr/>
        </p:nvSpPr>
        <p:spPr>
          <a:xfrm>
            <a:off x="5493715" y="1371600"/>
            <a:ext cx="1514246" cy="822960"/>
          </a:xfrm>
          <a:prstGeom prst="rect">
            <a:avLst/>
          </a:prstGeom>
          <a:noFill/>
          <a:ln/>
        </p:spPr>
        <p:txBody>
          <a:bodyPr wrap="square" lIns="508" tIns="508" rIns="508" bIns="508" rtlCol="0" anchor="ctr"/>
          <a:lstStyle/>
          <a:p>
            <a:pPr algn="ctr" indent="0" marL="0">
              <a:buNone/>
            </a:pPr>
            <a:r>
              <a:rPr lang="en-US" sz="1700" b="1" dirty="0">
                <a:solidFill>
                  <a:srgbClr val="FFFFFF"/>
                </a:solidFill>
              </a:rPr>
              <a:t>Package</a:t>
            </a:r>
            <a:endParaRPr lang="en-US" sz="1700" dirty="0"/>
          </a:p>
        </p:txBody>
      </p:sp>
      <p:sp>
        <p:nvSpPr>
          <p:cNvPr id="17" name="Text 14"/>
          <p:cNvSpPr txBox="1"/>
          <p:nvPr/>
        </p:nvSpPr>
        <p:spPr>
          <a:xfrm>
            <a:off x="6989674" y="1371600"/>
            <a:ext cx="201168" cy="82296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8" name="Étape"/>
          <p:cNvSpPr/>
          <p:nvPr/>
        </p:nvSpPr>
        <p:spPr>
          <a:xfrm>
            <a:off x="7172554" y="1371600"/>
            <a:ext cx="1514246" cy="822960"/>
          </a:xfrm>
          <a:prstGeom prst="roundRect">
            <a:avLst>
              <a:gd name="adj" fmla="val 8889"/>
            </a:avLst>
          </a:prstGeom>
          <a:solidFill>
            <a:srgbClr val="0D9488"/>
          </a:solidFill>
          <a:ln/>
        </p:spPr>
      </p:sp>
      <p:sp>
        <p:nvSpPr>
          <p:cNvPr id="19" name="Text 16"/>
          <p:cNvSpPr txBox="1"/>
          <p:nvPr/>
        </p:nvSpPr>
        <p:spPr>
          <a:xfrm>
            <a:off x="7172554" y="1371600"/>
            <a:ext cx="1514246" cy="822960"/>
          </a:xfrm>
          <a:prstGeom prst="rect">
            <a:avLst/>
          </a:prstGeom>
          <a:noFill/>
          <a:ln/>
        </p:spPr>
        <p:txBody>
          <a:bodyPr wrap="square" lIns="508" tIns="508" rIns="508" bIns="508" rtlCol="0" anchor="ctr"/>
          <a:lstStyle/>
          <a:p>
            <a:pPr algn="ctr" indent="0" marL="0">
              <a:buNone/>
            </a:pPr>
            <a:r>
              <a:rPr lang="en-US" sz="1700" b="1" dirty="0">
                <a:solidFill>
                  <a:srgbClr val="FFFFFF"/>
                </a:solidFill>
              </a:rPr>
              <a:t>Deploy</a:t>
            </a:r>
            <a:endParaRPr lang="en-US" sz="1700" dirty="0"/>
          </a:p>
        </p:txBody>
      </p:sp>
      <p:sp>
        <p:nvSpPr>
          <p:cNvPr id="20" name="Text 17"/>
          <p:cNvSpPr txBox="1"/>
          <p:nvPr/>
        </p:nvSpPr>
        <p:spPr>
          <a:xfrm>
            <a:off x="457200" y="2377440"/>
            <a:ext cx="1600200" cy="1005840"/>
          </a:xfrm>
          <a:prstGeom prst="rect">
            <a:avLst/>
          </a:prstGeom>
          <a:noFill/>
          <a:ln/>
        </p:spPr>
        <p:txBody>
          <a:bodyPr wrap="square" lIns="0" tIns="0" rIns="0" bIns="0" rtlCol="0" anchor="t"/>
          <a:lstStyle/>
          <a:p>
            <a:pPr indent="0" marL="0">
              <a:buNone/>
            </a:pPr>
            <a:r>
              <a:rPr lang="en-US" sz="1300" b="1" dirty="0">
                <a:solidFill>
                  <a:srgbClr val="0F172A"/>
                </a:solidFill>
              </a:rPr>
              <a:t>Commit</a:t>
            </a:r>
            <a:endParaRPr lang="en-US" sz="1300" dirty="0"/>
          </a:p>
          <a:p>
            <a:pPr indent="0" marL="0">
              <a:buNone/>
            </a:pPr>
            <a:r>
              <a:rPr lang="en-US" sz="1300" dirty="0">
                <a:solidFill>
                  <a:srgbClr val="1E293B"/>
                </a:solidFill>
              </a:rPr>
              <a:t>Push sur Git déclenche le pipeline</a:t>
            </a:r>
            <a:endParaRPr lang="en-US" sz="1300" dirty="0"/>
          </a:p>
        </p:txBody>
      </p:sp>
      <p:sp>
        <p:nvSpPr>
          <p:cNvPr id="21" name="Text 18"/>
          <p:cNvSpPr txBox="1"/>
          <p:nvPr/>
        </p:nvSpPr>
        <p:spPr>
          <a:xfrm>
            <a:off x="2139696" y="2377440"/>
            <a:ext cx="1600200" cy="1005840"/>
          </a:xfrm>
          <a:prstGeom prst="rect">
            <a:avLst/>
          </a:prstGeom>
          <a:noFill/>
          <a:ln/>
        </p:spPr>
        <p:txBody>
          <a:bodyPr wrap="square" lIns="0" tIns="0" rIns="0" bIns="0" rtlCol="0" anchor="t"/>
          <a:lstStyle/>
          <a:p>
            <a:pPr indent="0" marL="0">
              <a:buNone/>
            </a:pPr>
            <a:r>
              <a:rPr lang="en-US" sz="1300" b="1" dirty="0">
                <a:solidFill>
                  <a:srgbClr val="0F172A"/>
                </a:solidFill>
              </a:rPr>
              <a:t>Build</a:t>
            </a:r>
            <a:endParaRPr lang="en-US" sz="1300" dirty="0"/>
          </a:p>
          <a:p>
            <a:pPr indent="0" marL="0">
              <a:buNone/>
            </a:pPr>
            <a:r>
              <a:rPr lang="en-US" sz="1300" dirty="0">
                <a:solidFill>
                  <a:srgbClr val="1E293B"/>
                </a:solidFill>
              </a:rPr>
              <a:t>Compilation, dépendances</a:t>
            </a:r>
            <a:endParaRPr lang="en-US" sz="1300" dirty="0"/>
          </a:p>
        </p:txBody>
      </p:sp>
      <p:sp>
        <p:nvSpPr>
          <p:cNvPr id="22" name="Text 19"/>
          <p:cNvSpPr txBox="1"/>
          <p:nvPr/>
        </p:nvSpPr>
        <p:spPr>
          <a:xfrm>
            <a:off x="3822192" y="2377440"/>
            <a:ext cx="1600200" cy="1005840"/>
          </a:xfrm>
          <a:prstGeom prst="rect">
            <a:avLst/>
          </a:prstGeom>
          <a:noFill/>
          <a:ln/>
        </p:spPr>
        <p:txBody>
          <a:bodyPr wrap="square" lIns="0" tIns="0" rIns="0" bIns="0" rtlCol="0" anchor="t"/>
          <a:lstStyle/>
          <a:p>
            <a:pPr indent="0" marL="0">
              <a:buNone/>
            </a:pPr>
            <a:r>
              <a:rPr lang="en-US" sz="1300" b="1" dirty="0">
                <a:solidFill>
                  <a:srgbClr val="0F172A"/>
                </a:solidFill>
              </a:rPr>
              <a:t>Tests</a:t>
            </a:r>
            <a:endParaRPr lang="en-US" sz="1300" dirty="0"/>
          </a:p>
          <a:p>
            <a:pPr indent="0" marL="0">
              <a:buNone/>
            </a:pPr>
            <a:r>
              <a:rPr lang="en-US" sz="1300" dirty="0">
                <a:solidFill>
                  <a:srgbClr val="1E293B"/>
                </a:solidFill>
              </a:rPr>
              <a:t>Unitaires, intégration, lint</a:t>
            </a:r>
            <a:endParaRPr lang="en-US" sz="1300" dirty="0"/>
          </a:p>
        </p:txBody>
      </p:sp>
      <p:sp>
        <p:nvSpPr>
          <p:cNvPr id="23" name="Text 20"/>
          <p:cNvSpPr txBox="1"/>
          <p:nvPr/>
        </p:nvSpPr>
        <p:spPr>
          <a:xfrm>
            <a:off x="5504688" y="2377440"/>
            <a:ext cx="1600200" cy="1005840"/>
          </a:xfrm>
          <a:prstGeom prst="rect">
            <a:avLst/>
          </a:prstGeom>
          <a:noFill/>
          <a:ln/>
        </p:spPr>
        <p:txBody>
          <a:bodyPr wrap="square" lIns="0" tIns="0" rIns="0" bIns="0" rtlCol="0" anchor="t"/>
          <a:lstStyle/>
          <a:p>
            <a:pPr indent="0" marL="0">
              <a:buNone/>
            </a:pPr>
            <a:r>
              <a:rPr lang="en-US" sz="1300" b="1" dirty="0">
                <a:solidFill>
                  <a:srgbClr val="0F172A"/>
                </a:solidFill>
              </a:rPr>
              <a:t>Package</a:t>
            </a:r>
            <a:endParaRPr lang="en-US" sz="1300" dirty="0"/>
          </a:p>
          <a:p>
            <a:pPr indent="0" marL="0">
              <a:buNone/>
            </a:pPr>
            <a:r>
              <a:rPr lang="en-US" sz="1300" dirty="0">
                <a:solidFill>
                  <a:srgbClr val="1E293B"/>
                </a:solidFill>
              </a:rPr>
              <a:t>Image Docker, artefact versionné</a:t>
            </a:r>
            <a:endParaRPr lang="en-US" sz="1300" dirty="0"/>
          </a:p>
        </p:txBody>
      </p:sp>
      <p:sp>
        <p:nvSpPr>
          <p:cNvPr id="24" name="Text 21"/>
          <p:cNvSpPr txBox="1"/>
          <p:nvPr/>
        </p:nvSpPr>
        <p:spPr>
          <a:xfrm>
            <a:off x="7187184" y="2377440"/>
            <a:ext cx="1600200" cy="1005840"/>
          </a:xfrm>
          <a:prstGeom prst="rect">
            <a:avLst/>
          </a:prstGeom>
          <a:noFill/>
          <a:ln/>
        </p:spPr>
        <p:txBody>
          <a:bodyPr wrap="square" lIns="0" tIns="0" rIns="0" bIns="0" rtlCol="0" anchor="t"/>
          <a:lstStyle/>
          <a:p>
            <a:pPr indent="0" marL="0">
              <a:buNone/>
            </a:pPr>
            <a:r>
              <a:rPr lang="en-US" sz="1300" b="1" dirty="0">
                <a:solidFill>
                  <a:srgbClr val="0F172A"/>
                </a:solidFill>
              </a:rPr>
              <a:t>Deploy</a:t>
            </a:r>
            <a:endParaRPr lang="en-US" sz="1300" dirty="0"/>
          </a:p>
          <a:p>
            <a:pPr indent="0" marL="0">
              <a:buNone/>
            </a:pPr>
            <a:r>
              <a:rPr lang="en-US" sz="1300" dirty="0">
                <a:solidFill>
                  <a:srgbClr val="1E293B"/>
                </a:solidFill>
              </a:rPr>
              <a:t>Vers staging puis production</a:t>
            </a:r>
            <a:endParaRPr lang="en-US" sz="1300" dirty="0"/>
          </a:p>
        </p:txBody>
      </p:sp>
      <p:sp>
        <p:nvSpPr>
          <p:cNvPr id="25" name="Carte"/>
          <p:cNvSpPr/>
          <p:nvPr/>
        </p:nvSpPr>
        <p:spPr>
          <a:xfrm>
            <a:off x="457200" y="3520440"/>
            <a:ext cx="8229600" cy="1005840"/>
          </a:xfrm>
          <a:prstGeom prst="roundRect">
            <a:avLst>
              <a:gd name="adj" fmla="val 7273"/>
            </a:avLst>
          </a:prstGeom>
          <a:solidFill>
            <a:srgbClr val="CCFBF1"/>
          </a:solidFill>
          <a:ln/>
        </p:spPr>
      </p:sp>
      <p:sp>
        <p:nvSpPr>
          <p:cNvPr id="26" name="Text 23"/>
          <p:cNvSpPr txBox="1"/>
          <p:nvPr/>
        </p:nvSpPr>
        <p:spPr>
          <a:xfrm>
            <a:off x="594360" y="3630168"/>
            <a:ext cx="7955280" cy="365760"/>
          </a:xfrm>
          <a:prstGeom prst="rect">
            <a:avLst/>
          </a:prstGeom>
          <a:noFill/>
          <a:ln/>
        </p:spPr>
        <p:txBody>
          <a:bodyPr wrap="square" lIns="0" tIns="0" rIns="0" bIns="0" rtlCol="0" anchor="ctr"/>
          <a:lstStyle/>
          <a:p>
            <a:pPr indent="0" marL="0">
              <a:buNone/>
            </a:pPr>
            <a:r>
              <a:rPr lang="en-US" sz="1500" b="1" dirty="0">
                <a:solidFill>
                  <a:srgbClr val="0F172A"/>
                </a:solidFill>
              </a:rPr>
              <a:t>Règle d'or</a:t>
            </a:r>
            <a:endParaRPr lang="en-US" sz="1500" dirty="0"/>
          </a:p>
        </p:txBody>
      </p:sp>
      <p:sp>
        <p:nvSpPr>
          <p:cNvPr id="27" name="Text 24"/>
          <p:cNvSpPr txBox="1"/>
          <p:nvPr/>
        </p:nvSpPr>
        <p:spPr>
          <a:xfrm>
            <a:off x="594360" y="4014216"/>
            <a:ext cx="7955280" cy="438912"/>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Pipeline rapide (&lt; 10 min), échec = on stoppe tout et on corrige d'abord. Le build est la responsabilité de toute l'équipe.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Schéma : chaîne de livraison DevOps</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sp>
        <p:nvSpPr>
          <p:cNvPr id="6" name="Noeud Développeur"/>
          <p:cNvSpPr txBox="1"/>
          <p:nvPr/>
        </p:nvSpPr>
        <p:spPr>
          <a:xfrm>
            <a:off x="457200" y="1280160"/>
            <a:ext cx="1143000" cy="914400"/>
          </a:xfrm>
          <a:prstGeom prst="roundRect">
            <a:avLst>
              <a:gd name="adj" fmla="val 8000"/>
            </a:avLst>
          </a:prstGeom>
          <a:solidFill>
            <a:srgbClr val="0D9488"/>
          </a:solidFill>
          <a:ln/>
        </p:spPr>
        <p:txBody>
          <a:bodyPr wrap="square" lIns="508" tIns="508" rIns="508" bIns="508" rtlCol="0" anchor="ctr"/>
          <a:lstStyle/>
          <a:p>
            <a:pPr algn="ctr" indent="0" marL="0">
              <a:buNone/>
            </a:pPr>
            <a:r>
              <a:rPr lang="en-US" sz="1300" b="1" dirty="0">
                <a:solidFill>
                  <a:srgbClr val="FFFFFF"/>
                </a:solidFill>
              </a:rPr>
              <a:t>Développeur</a:t>
            </a:r>
            <a:endParaRPr lang="en-US" sz="1300" dirty="0"/>
          </a:p>
          <a:p>
            <a:pPr algn="ctr" indent="0" marL="0">
              <a:buNone/>
            </a:pPr>
            <a:r>
              <a:rPr lang="en-US" sz="1100" dirty="0">
                <a:solidFill>
                  <a:srgbClr val="FFFFFF"/>
                </a:solidFill>
              </a:rPr>
              <a:t>Code et tests</a:t>
            </a:r>
            <a:endParaRPr lang="en-US" sz="1300" dirty="0"/>
          </a:p>
        </p:txBody>
      </p:sp>
      <p:sp>
        <p:nvSpPr>
          <p:cNvPr id="7" name="Flèche"/>
          <p:cNvSpPr/>
          <p:nvPr/>
        </p:nvSpPr>
        <p:spPr>
          <a:xfrm>
            <a:off x="1600200" y="1737360"/>
            <a:ext cx="274320" cy="0"/>
          </a:xfrm>
          <a:prstGeom prst="line">
            <a:avLst/>
          </a:prstGeom>
          <a:noFill/>
          <a:ln w="22225">
            <a:solidFill>
              <a:srgbClr val="64748B"/>
            </a:solidFill>
            <a:prstDash val="solid"/>
            <a:tailEnd type="triangle"/>
          </a:ln>
        </p:spPr>
      </p:sp>
      <p:sp>
        <p:nvSpPr>
          <p:cNvPr id="8" name="Noeud Git"/>
          <p:cNvSpPr txBox="1"/>
          <p:nvPr/>
        </p:nvSpPr>
        <p:spPr>
          <a:xfrm>
            <a:off x="1874520" y="1280160"/>
            <a:ext cx="1143000" cy="914400"/>
          </a:xfrm>
          <a:prstGeom prst="roundRect">
            <a:avLst>
              <a:gd name="adj" fmla="val 8000"/>
            </a:avLst>
          </a:prstGeom>
          <a:solidFill>
            <a:srgbClr val="7C3AED"/>
          </a:solidFill>
          <a:ln/>
        </p:spPr>
        <p:txBody>
          <a:bodyPr wrap="square" lIns="508" tIns="508" rIns="508" bIns="508" rtlCol="0" anchor="ctr"/>
          <a:lstStyle/>
          <a:p>
            <a:pPr algn="ctr" indent="0" marL="0">
              <a:buNone/>
            </a:pPr>
            <a:r>
              <a:rPr lang="en-US" sz="1300" b="1" dirty="0">
                <a:solidFill>
                  <a:srgbClr val="FFFFFF"/>
                </a:solidFill>
              </a:rPr>
              <a:t>Git</a:t>
            </a:r>
            <a:endParaRPr lang="en-US" sz="1300" dirty="0"/>
          </a:p>
          <a:p>
            <a:pPr algn="ctr" indent="0" marL="0">
              <a:buNone/>
            </a:pPr>
            <a:r>
              <a:rPr lang="en-US" sz="1100" dirty="0">
                <a:solidFill>
                  <a:srgbClr val="FFFFFF"/>
                </a:solidFill>
              </a:rPr>
              <a:t>Historique, revue</a:t>
            </a:r>
            <a:endParaRPr lang="en-US" sz="1300" dirty="0"/>
          </a:p>
        </p:txBody>
      </p:sp>
      <p:sp>
        <p:nvSpPr>
          <p:cNvPr id="9" name="Flèche"/>
          <p:cNvSpPr/>
          <p:nvPr/>
        </p:nvSpPr>
        <p:spPr>
          <a:xfrm>
            <a:off x="3017520" y="1737360"/>
            <a:ext cx="274320" cy="0"/>
          </a:xfrm>
          <a:prstGeom prst="line">
            <a:avLst/>
          </a:prstGeom>
          <a:noFill/>
          <a:ln w="22225">
            <a:solidFill>
              <a:srgbClr val="64748B"/>
            </a:solidFill>
            <a:prstDash val="solid"/>
            <a:tailEnd type="triangle"/>
          </a:ln>
        </p:spPr>
      </p:sp>
      <p:sp>
        <p:nvSpPr>
          <p:cNvPr id="10" name="Noeud CI"/>
          <p:cNvSpPr txBox="1"/>
          <p:nvPr/>
        </p:nvSpPr>
        <p:spPr>
          <a:xfrm>
            <a:off x="3291840" y="1280160"/>
            <a:ext cx="1143000" cy="914400"/>
          </a:xfrm>
          <a:prstGeom prst="roundRect">
            <a:avLst>
              <a:gd name="adj" fmla="val 8000"/>
            </a:avLst>
          </a:prstGeom>
          <a:solidFill>
            <a:srgbClr val="0EA5E9"/>
          </a:solidFill>
          <a:ln/>
        </p:spPr>
        <p:txBody>
          <a:bodyPr wrap="square" lIns="508" tIns="508" rIns="508" bIns="508" rtlCol="0" anchor="ctr"/>
          <a:lstStyle/>
          <a:p>
            <a:pPr algn="ctr" indent="0" marL="0">
              <a:buNone/>
            </a:pPr>
            <a:r>
              <a:rPr lang="en-US" sz="1300" b="1" dirty="0">
                <a:solidFill>
                  <a:srgbClr val="FFFFFF"/>
                </a:solidFill>
              </a:rPr>
              <a:t>CI</a:t>
            </a:r>
            <a:endParaRPr lang="en-US" sz="1300" dirty="0"/>
          </a:p>
          <a:p>
            <a:pPr algn="ctr" indent="0" marL="0">
              <a:buNone/>
            </a:pPr>
            <a:r>
              <a:rPr lang="en-US" sz="1100" dirty="0">
                <a:solidFill>
                  <a:srgbClr val="FFFFFF"/>
                </a:solidFill>
              </a:rPr>
              <a:t>Build, tests, scans</a:t>
            </a:r>
            <a:endParaRPr lang="en-US" sz="1300" dirty="0"/>
          </a:p>
        </p:txBody>
      </p:sp>
      <p:sp>
        <p:nvSpPr>
          <p:cNvPr id="11" name="Flèche"/>
          <p:cNvSpPr/>
          <p:nvPr/>
        </p:nvSpPr>
        <p:spPr>
          <a:xfrm>
            <a:off x="4434840" y="1737360"/>
            <a:ext cx="274320" cy="0"/>
          </a:xfrm>
          <a:prstGeom prst="line">
            <a:avLst/>
          </a:prstGeom>
          <a:noFill/>
          <a:ln w="22225">
            <a:solidFill>
              <a:srgbClr val="64748B"/>
            </a:solidFill>
            <a:prstDash val="solid"/>
            <a:tailEnd type="triangle"/>
          </a:ln>
        </p:spPr>
      </p:sp>
      <p:sp>
        <p:nvSpPr>
          <p:cNvPr id="12" name="Noeud Registry"/>
          <p:cNvSpPr txBox="1"/>
          <p:nvPr/>
        </p:nvSpPr>
        <p:spPr>
          <a:xfrm>
            <a:off x="4709160" y="1280160"/>
            <a:ext cx="1143000" cy="914400"/>
          </a:xfrm>
          <a:prstGeom prst="roundRect">
            <a:avLst>
              <a:gd name="adj" fmla="val 8000"/>
            </a:avLst>
          </a:prstGeom>
          <a:solidFill>
            <a:srgbClr val="F97316"/>
          </a:solidFill>
          <a:ln/>
        </p:spPr>
        <p:txBody>
          <a:bodyPr wrap="square" lIns="508" tIns="508" rIns="508" bIns="508" rtlCol="0" anchor="ctr"/>
          <a:lstStyle/>
          <a:p>
            <a:pPr algn="ctr" indent="0" marL="0">
              <a:buNone/>
            </a:pPr>
            <a:r>
              <a:rPr lang="en-US" sz="1300" b="1" dirty="0">
                <a:solidFill>
                  <a:srgbClr val="FFFFFF"/>
                </a:solidFill>
              </a:rPr>
              <a:t>Registry</a:t>
            </a:r>
            <a:endParaRPr lang="en-US" sz="1300" dirty="0"/>
          </a:p>
          <a:p>
            <a:pPr algn="ctr" indent="0" marL="0">
              <a:buNone/>
            </a:pPr>
            <a:r>
              <a:rPr lang="en-US" sz="1100" dirty="0">
                <a:solidFill>
                  <a:srgbClr val="FFFFFF"/>
                </a:solidFill>
              </a:rPr>
              <a:t>Image versionnée</a:t>
            </a:r>
            <a:endParaRPr lang="en-US" sz="1300" dirty="0"/>
          </a:p>
        </p:txBody>
      </p:sp>
      <p:sp>
        <p:nvSpPr>
          <p:cNvPr id="13" name="Flèche"/>
          <p:cNvSpPr/>
          <p:nvPr/>
        </p:nvSpPr>
        <p:spPr>
          <a:xfrm>
            <a:off x="5852160" y="1737360"/>
            <a:ext cx="274320" cy="0"/>
          </a:xfrm>
          <a:prstGeom prst="line">
            <a:avLst/>
          </a:prstGeom>
          <a:noFill/>
          <a:ln w="22225">
            <a:solidFill>
              <a:srgbClr val="64748B"/>
            </a:solidFill>
            <a:prstDash val="solid"/>
            <a:tailEnd type="triangle"/>
          </a:ln>
        </p:spPr>
      </p:sp>
      <p:sp>
        <p:nvSpPr>
          <p:cNvPr id="14" name="Noeud Staging"/>
          <p:cNvSpPr txBox="1"/>
          <p:nvPr/>
        </p:nvSpPr>
        <p:spPr>
          <a:xfrm>
            <a:off x="6126480" y="1280160"/>
            <a:ext cx="1143000" cy="914400"/>
          </a:xfrm>
          <a:prstGeom prst="roundRect">
            <a:avLst>
              <a:gd name="adj" fmla="val 8000"/>
            </a:avLst>
          </a:prstGeom>
          <a:solidFill>
            <a:srgbClr val="64748B"/>
          </a:solidFill>
          <a:ln/>
        </p:spPr>
        <p:txBody>
          <a:bodyPr wrap="square" lIns="508" tIns="508" rIns="508" bIns="508" rtlCol="0" anchor="ctr"/>
          <a:lstStyle/>
          <a:p>
            <a:pPr algn="ctr" indent="0" marL="0">
              <a:buNone/>
            </a:pPr>
            <a:r>
              <a:rPr lang="en-US" sz="1300" b="1" dirty="0">
                <a:solidFill>
                  <a:srgbClr val="FFFFFF"/>
                </a:solidFill>
              </a:rPr>
              <a:t>Staging</a:t>
            </a:r>
            <a:endParaRPr lang="en-US" sz="1300" dirty="0"/>
          </a:p>
          <a:p>
            <a:pPr algn="ctr" indent="0" marL="0">
              <a:buNone/>
            </a:pPr>
            <a:r>
              <a:rPr lang="en-US" sz="1100" dirty="0">
                <a:solidFill>
                  <a:srgbClr val="FFFFFF"/>
                </a:solidFill>
              </a:rPr>
              <a:t>Validation</a:t>
            </a:r>
            <a:endParaRPr lang="en-US" sz="1300" dirty="0"/>
          </a:p>
        </p:txBody>
      </p:sp>
      <p:sp>
        <p:nvSpPr>
          <p:cNvPr id="15" name="Flèche"/>
          <p:cNvSpPr/>
          <p:nvPr/>
        </p:nvSpPr>
        <p:spPr>
          <a:xfrm>
            <a:off x="7269480" y="1737360"/>
            <a:ext cx="274320" cy="0"/>
          </a:xfrm>
          <a:prstGeom prst="line">
            <a:avLst/>
          </a:prstGeom>
          <a:noFill/>
          <a:ln w="22225">
            <a:solidFill>
              <a:srgbClr val="64748B"/>
            </a:solidFill>
            <a:prstDash val="solid"/>
            <a:tailEnd type="triangle"/>
          </a:ln>
        </p:spPr>
      </p:sp>
      <p:sp>
        <p:nvSpPr>
          <p:cNvPr id="16" name="Noeud Production"/>
          <p:cNvSpPr txBox="1"/>
          <p:nvPr/>
        </p:nvSpPr>
        <p:spPr>
          <a:xfrm>
            <a:off x="7543800" y="1280160"/>
            <a:ext cx="1143000" cy="914400"/>
          </a:xfrm>
          <a:prstGeom prst="roundRect">
            <a:avLst>
              <a:gd name="adj" fmla="val 8000"/>
            </a:avLst>
          </a:prstGeom>
          <a:solidFill>
            <a:srgbClr val="0F172A"/>
          </a:solidFill>
          <a:ln/>
        </p:spPr>
        <p:txBody>
          <a:bodyPr wrap="square" lIns="508" tIns="508" rIns="508" bIns="508" rtlCol="0" anchor="ctr"/>
          <a:lstStyle/>
          <a:p>
            <a:pPr algn="ctr" indent="0" marL="0">
              <a:buNone/>
            </a:pPr>
            <a:r>
              <a:rPr lang="en-US" sz="1300" b="1" dirty="0">
                <a:solidFill>
                  <a:srgbClr val="FFFFFF"/>
                </a:solidFill>
              </a:rPr>
              <a:t>Production</a:t>
            </a:r>
            <a:endParaRPr lang="en-US" sz="1300" dirty="0"/>
          </a:p>
          <a:p>
            <a:pPr algn="ctr" indent="0" marL="0">
              <a:buNone/>
            </a:pPr>
            <a:r>
              <a:rPr lang="en-US" sz="1100" dirty="0">
                <a:solidFill>
                  <a:srgbClr val="FFFFFF"/>
                </a:solidFill>
              </a:rPr>
              <a:t>Utilisateurs</a:t>
            </a:r>
            <a:endParaRPr lang="en-US" sz="1300" dirty="0"/>
          </a:p>
        </p:txBody>
      </p:sp>
      <p:sp>
        <p:nvSpPr>
          <p:cNvPr id="17" name="Noeud Supervision"/>
          <p:cNvSpPr txBox="1"/>
          <p:nvPr/>
        </p:nvSpPr>
        <p:spPr>
          <a:xfrm>
            <a:off x="457200" y="3017520"/>
            <a:ext cx="8229600" cy="685800"/>
          </a:xfrm>
          <a:prstGeom prst="roundRect">
            <a:avLst>
              <a:gd name="adj" fmla="val 10667"/>
            </a:avLst>
          </a:prstGeom>
          <a:solidFill>
            <a:srgbClr val="0D9488"/>
          </a:solidFill>
          <a:ln/>
        </p:spPr>
        <p:txBody>
          <a:bodyPr wrap="square" lIns="508" tIns="508" rIns="508" bIns="508" rtlCol="0" anchor="ctr"/>
          <a:lstStyle/>
          <a:p>
            <a:pPr algn="ctr" indent="0" marL="0">
              <a:buNone/>
            </a:pPr>
            <a:r>
              <a:rPr lang="en-US" sz="1500" b="1" dirty="0">
                <a:solidFill>
                  <a:srgbClr val="FFFFFF"/>
                </a:solidFill>
              </a:rPr>
              <a:t>Supervision</a:t>
            </a:r>
            <a:endParaRPr lang="en-US" sz="1500" dirty="0"/>
          </a:p>
          <a:p>
            <a:pPr algn="ctr" indent="0" marL="0">
              <a:buNone/>
            </a:pPr>
            <a:r>
              <a:rPr lang="en-US" sz="1300" dirty="0">
                <a:solidFill>
                  <a:srgbClr val="FFFFFF"/>
                </a:solidFill>
              </a:rPr>
              <a:t>métriques, logs, traces et alertes</a:t>
            </a:r>
            <a:endParaRPr lang="en-US" sz="1500" dirty="0"/>
          </a:p>
        </p:txBody>
      </p:sp>
      <p:sp>
        <p:nvSpPr>
          <p:cNvPr id="18" name="Flèche"/>
          <p:cNvSpPr/>
          <p:nvPr/>
        </p:nvSpPr>
        <p:spPr>
          <a:xfrm>
            <a:off x="7566660" y="2194560"/>
            <a:ext cx="0" cy="822960"/>
          </a:xfrm>
          <a:prstGeom prst="line">
            <a:avLst/>
          </a:prstGeom>
          <a:noFill/>
          <a:ln w="22225">
            <a:solidFill>
              <a:srgbClr val="64748B"/>
            </a:solidFill>
            <a:prstDash val="solid"/>
            <a:tailEnd type="triangle"/>
          </a:ln>
        </p:spPr>
      </p:sp>
      <p:sp>
        <p:nvSpPr>
          <p:cNvPr id="19" name="Text 16"/>
          <p:cNvSpPr txBox="1"/>
          <p:nvPr/>
        </p:nvSpPr>
        <p:spPr>
          <a:xfrm>
            <a:off x="7680960" y="2468880"/>
            <a:ext cx="914400" cy="256032"/>
          </a:xfrm>
          <a:prstGeom prst="rect">
            <a:avLst/>
          </a:prstGeom>
          <a:noFill/>
          <a:ln/>
        </p:spPr>
        <p:txBody>
          <a:bodyPr wrap="square" lIns="0" tIns="0" rIns="0" bIns="0" rtlCol="0" anchor="ctr"/>
          <a:lstStyle/>
          <a:p>
            <a:pPr algn="l" indent="0" marL="0">
              <a:buNone/>
            </a:pPr>
            <a:r>
              <a:rPr lang="en-US" sz="1000" i="1" dirty="0">
                <a:solidFill>
                  <a:srgbClr val="64748B"/>
                </a:solidFill>
              </a:rPr>
              <a:t>observe</a:t>
            </a:r>
            <a:endParaRPr lang="en-US" sz="1000" dirty="0"/>
          </a:p>
        </p:txBody>
      </p:sp>
      <p:sp>
        <p:nvSpPr>
          <p:cNvPr id="20" name="Flèche"/>
          <p:cNvSpPr/>
          <p:nvPr/>
        </p:nvSpPr>
        <p:spPr>
          <a:xfrm flipV="1">
            <a:off x="1028700" y="2194560"/>
            <a:ext cx="0" cy="822960"/>
          </a:xfrm>
          <a:prstGeom prst="line">
            <a:avLst/>
          </a:prstGeom>
          <a:noFill/>
          <a:ln w="22225">
            <a:solidFill>
              <a:srgbClr val="64748B"/>
            </a:solidFill>
            <a:prstDash val="solid"/>
            <a:tailEnd type="triangle"/>
          </a:ln>
        </p:spPr>
      </p:sp>
      <p:sp>
        <p:nvSpPr>
          <p:cNvPr id="21" name="Text 18"/>
          <p:cNvSpPr txBox="1"/>
          <p:nvPr/>
        </p:nvSpPr>
        <p:spPr>
          <a:xfrm>
            <a:off x="1143000" y="2468880"/>
            <a:ext cx="1280160" cy="256032"/>
          </a:xfrm>
          <a:prstGeom prst="rect">
            <a:avLst/>
          </a:prstGeom>
          <a:noFill/>
          <a:ln/>
        </p:spPr>
        <p:txBody>
          <a:bodyPr wrap="square" lIns="0" tIns="0" rIns="0" bIns="0" rtlCol="0" anchor="ctr"/>
          <a:lstStyle/>
          <a:p>
            <a:pPr algn="l" indent="0" marL="0">
              <a:buNone/>
            </a:pPr>
            <a:r>
              <a:rPr lang="en-US" sz="1000" i="1" dirty="0">
                <a:solidFill>
                  <a:srgbClr val="64748B"/>
                </a:solidFill>
              </a:rPr>
              <a:t>retour rapide</a:t>
            </a:r>
            <a:endParaRPr lang="en-US" sz="1000" dirty="0"/>
          </a:p>
        </p:txBody>
      </p:sp>
      <p:sp>
        <p:nvSpPr>
          <p:cNvPr id="22" name="Text 19"/>
          <p:cNvSpPr txBox="1"/>
          <p:nvPr/>
        </p:nvSpPr>
        <p:spPr>
          <a:xfrm>
            <a:off x="457200" y="3931920"/>
            <a:ext cx="8229600" cy="457200"/>
          </a:xfrm>
          <a:prstGeom prst="rect">
            <a:avLst/>
          </a:prstGeom>
          <a:noFill/>
          <a:ln/>
        </p:spPr>
        <p:txBody>
          <a:bodyPr wrap="square" lIns="0" tIns="0" rIns="0" bIns="0" rtlCol="0" anchor="ctr"/>
          <a:lstStyle/>
          <a:p>
            <a:pPr algn="ctr" indent="0" marL="0">
              <a:buNone/>
            </a:pPr>
            <a:r>
              <a:rPr lang="en-US" sz="1500" dirty="0">
                <a:solidFill>
                  <a:srgbClr val="1E293B"/>
                </a:solidFill>
              </a:rPr>
              <a:t>Chaque étape est automatisée ; chaque échec renvoie un retour rapide à l'équipe.</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CI, livraison continue, déploiement continu</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sp>
        <p:nvSpPr>
          <p:cNvPr id="6" name="Shape 3"/>
          <p:cNvSpPr/>
          <p:nvPr/>
        </p:nvSpPr>
        <p:spPr>
          <a:xfrm>
            <a:off x="457200" y="1280160"/>
            <a:ext cx="2651760" cy="3200400"/>
          </a:xfrm>
          <a:prstGeom prst="roundRect">
            <a:avLst>
              <a:gd name="adj" fmla="val 2759"/>
            </a:avLst>
          </a:prstGeom>
          <a:solidFill>
            <a:srgbClr val="F1F5F9"/>
          </a:solidFill>
          <a:ln/>
        </p:spPr>
      </p:sp>
      <p:sp>
        <p:nvSpPr>
          <p:cNvPr id="7" name="Shape 4"/>
          <p:cNvSpPr/>
          <p:nvPr/>
        </p:nvSpPr>
        <p:spPr>
          <a:xfrm>
            <a:off x="640080" y="1463040"/>
            <a:ext cx="822960" cy="822960"/>
          </a:xfrm>
          <a:prstGeom prst="ellipse">
            <a:avLst/>
          </a:prstGeom>
          <a:solidFill>
            <a:srgbClr val="0D9488"/>
          </a:solidFill>
          <a:ln/>
        </p:spPr>
      </p:sp>
      <p:sp>
        <p:nvSpPr>
          <p:cNvPr id="8" name="Text 5"/>
          <p:cNvSpPr txBox="1"/>
          <p:nvPr/>
        </p:nvSpPr>
        <p:spPr>
          <a:xfrm>
            <a:off x="640080" y="146304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rPr>
              <a:t>CI</a:t>
            </a:r>
            <a:endParaRPr lang="en-US" sz="2000" dirty="0"/>
          </a:p>
        </p:txBody>
      </p:sp>
      <p:sp>
        <p:nvSpPr>
          <p:cNvPr id="9" name="Text 6"/>
          <p:cNvSpPr txBox="1"/>
          <p:nvPr/>
        </p:nvSpPr>
        <p:spPr>
          <a:xfrm>
            <a:off x="640080" y="2468880"/>
            <a:ext cx="2286000" cy="457200"/>
          </a:xfrm>
          <a:prstGeom prst="rect">
            <a:avLst/>
          </a:prstGeom>
          <a:noFill/>
          <a:ln/>
        </p:spPr>
        <p:txBody>
          <a:bodyPr wrap="square" lIns="0" tIns="0" rIns="0" bIns="0" rtlCol="0" anchor="ctr"/>
          <a:lstStyle/>
          <a:p>
            <a:pPr indent="0" marL="0">
              <a:buNone/>
            </a:pPr>
            <a:r>
              <a:rPr lang="en-US" sz="1700" b="1" dirty="0">
                <a:solidFill>
                  <a:srgbClr val="0F172A"/>
                </a:solidFill>
              </a:rPr>
              <a:t>Intégration continue</a:t>
            </a:r>
            <a:endParaRPr lang="en-US" sz="1700" dirty="0"/>
          </a:p>
        </p:txBody>
      </p:sp>
      <p:sp>
        <p:nvSpPr>
          <p:cNvPr id="10" name="Text 7"/>
          <p:cNvSpPr txBox="1"/>
          <p:nvPr/>
        </p:nvSpPr>
        <p:spPr>
          <a:xfrm>
            <a:off x="640080" y="2971800"/>
            <a:ext cx="2286000" cy="1371600"/>
          </a:xfrm>
          <a:prstGeom prst="rect">
            <a:avLst/>
          </a:prstGeom>
          <a:noFill/>
          <a:ln/>
        </p:spPr>
        <p:txBody>
          <a:bodyPr wrap="square" lIns="0" tIns="0" rIns="0" bIns="0" rtlCol="0" anchor="t"/>
          <a:lstStyle/>
          <a:p>
            <a:pPr indent="0" marL="0">
              <a:buNone/>
            </a:pPr>
            <a:r>
              <a:rPr lang="en-US" sz="1400" dirty="0">
                <a:solidFill>
                  <a:srgbClr val="1E293B"/>
                </a:solidFill>
              </a:rPr>
              <a:t>Chaque commit est compilé et testé automatiquement. Objectif : détecter vite les erreurs.</a:t>
            </a:r>
            <a:endParaRPr lang="en-US" sz="1400" dirty="0"/>
          </a:p>
        </p:txBody>
      </p:sp>
      <p:sp>
        <p:nvSpPr>
          <p:cNvPr id="11" name="Shape 8"/>
          <p:cNvSpPr/>
          <p:nvPr/>
        </p:nvSpPr>
        <p:spPr>
          <a:xfrm>
            <a:off x="3246120" y="1280160"/>
            <a:ext cx="2651760" cy="3200400"/>
          </a:xfrm>
          <a:prstGeom prst="roundRect">
            <a:avLst>
              <a:gd name="adj" fmla="val 2759"/>
            </a:avLst>
          </a:prstGeom>
          <a:solidFill>
            <a:srgbClr val="F1F5F9"/>
          </a:solidFill>
          <a:ln/>
        </p:spPr>
      </p:sp>
      <p:sp>
        <p:nvSpPr>
          <p:cNvPr id="12" name="Shape 9"/>
          <p:cNvSpPr/>
          <p:nvPr/>
        </p:nvSpPr>
        <p:spPr>
          <a:xfrm>
            <a:off x="3429000" y="1463040"/>
            <a:ext cx="822960" cy="822960"/>
          </a:xfrm>
          <a:prstGeom prst="ellipse">
            <a:avLst/>
          </a:prstGeom>
          <a:solidFill>
            <a:srgbClr val="0EA5E9"/>
          </a:solidFill>
          <a:ln/>
        </p:spPr>
      </p:sp>
      <p:sp>
        <p:nvSpPr>
          <p:cNvPr id="13" name="Text 10"/>
          <p:cNvSpPr txBox="1"/>
          <p:nvPr/>
        </p:nvSpPr>
        <p:spPr>
          <a:xfrm>
            <a:off x="3429000" y="146304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rPr>
              <a:t>CD</a:t>
            </a:r>
            <a:endParaRPr lang="en-US" sz="2000" dirty="0"/>
          </a:p>
        </p:txBody>
      </p:sp>
      <p:sp>
        <p:nvSpPr>
          <p:cNvPr id="14" name="Text 11"/>
          <p:cNvSpPr txBox="1"/>
          <p:nvPr/>
        </p:nvSpPr>
        <p:spPr>
          <a:xfrm>
            <a:off x="3429000" y="2468880"/>
            <a:ext cx="2286000" cy="457200"/>
          </a:xfrm>
          <a:prstGeom prst="rect">
            <a:avLst/>
          </a:prstGeom>
          <a:noFill/>
          <a:ln/>
        </p:spPr>
        <p:txBody>
          <a:bodyPr wrap="square" lIns="0" tIns="0" rIns="0" bIns="0" rtlCol="0" anchor="ctr"/>
          <a:lstStyle/>
          <a:p>
            <a:pPr indent="0" marL="0">
              <a:buNone/>
            </a:pPr>
            <a:r>
              <a:rPr lang="en-US" sz="1700" b="1" dirty="0">
                <a:solidFill>
                  <a:srgbClr val="0F172A"/>
                </a:solidFill>
              </a:rPr>
              <a:t>Livraison continue</a:t>
            </a:r>
            <a:endParaRPr lang="en-US" sz="1700" dirty="0"/>
          </a:p>
        </p:txBody>
      </p:sp>
      <p:sp>
        <p:nvSpPr>
          <p:cNvPr id="15" name="Text 12"/>
          <p:cNvSpPr txBox="1"/>
          <p:nvPr/>
        </p:nvSpPr>
        <p:spPr>
          <a:xfrm>
            <a:off x="3429000" y="2971800"/>
            <a:ext cx="2286000" cy="1371600"/>
          </a:xfrm>
          <a:prstGeom prst="rect">
            <a:avLst/>
          </a:prstGeom>
          <a:noFill/>
          <a:ln/>
        </p:spPr>
        <p:txBody>
          <a:bodyPr wrap="square" lIns="0" tIns="0" rIns="0" bIns="0" rtlCol="0" anchor="t"/>
          <a:lstStyle/>
          <a:p>
            <a:pPr indent="0" marL="0">
              <a:buNone/>
            </a:pPr>
            <a:r>
              <a:rPr lang="en-US" sz="1400" dirty="0">
                <a:solidFill>
                  <a:srgbClr val="1E293B"/>
                </a:solidFill>
              </a:rPr>
              <a:t>Le code est toujours prêt à être déployé. Le déploiement en production reste un clic manuel.</a:t>
            </a:r>
            <a:endParaRPr lang="en-US" sz="1400" dirty="0"/>
          </a:p>
        </p:txBody>
      </p:sp>
      <p:sp>
        <p:nvSpPr>
          <p:cNvPr id="16" name="Shape 13"/>
          <p:cNvSpPr/>
          <p:nvPr/>
        </p:nvSpPr>
        <p:spPr>
          <a:xfrm>
            <a:off x="6035040" y="1280160"/>
            <a:ext cx="2651760" cy="3200400"/>
          </a:xfrm>
          <a:prstGeom prst="roundRect">
            <a:avLst>
              <a:gd name="adj" fmla="val 2759"/>
            </a:avLst>
          </a:prstGeom>
          <a:solidFill>
            <a:srgbClr val="F1F5F9"/>
          </a:solidFill>
          <a:ln/>
        </p:spPr>
      </p:sp>
      <p:sp>
        <p:nvSpPr>
          <p:cNvPr id="17" name="Shape 14"/>
          <p:cNvSpPr/>
          <p:nvPr/>
        </p:nvSpPr>
        <p:spPr>
          <a:xfrm>
            <a:off x="6217920" y="1463040"/>
            <a:ext cx="822960" cy="822960"/>
          </a:xfrm>
          <a:prstGeom prst="ellipse">
            <a:avLst/>
          </a:prstGeom>
          <a:solidFill>
            <a:srgbClr val="7C3AED"/>
          </a:solidFill>
          <a:ln/>
        </p:spPr>
      </p:sp>
      <p:sp>
        <p:nvSpPr>
          <p:cNvPr id="18" name="Text 15"/>
          <p:cNvSpPr txBox="1"/>
          <p:nvPr/>
        </p:nvSpPr>
        <p:spPr>
          <a:xfrm>
            <a:off x="6217920" y="146304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rPr>
              <a:t>CD</a:t>
            </a:r>
            <a:endParaRPr lang="en-US" sz="2000" dirty="0"/>
          </a:p>
        </p:txBody>
      </p:sp>
      <p:sp>
        <p:nvSpPr>
          <p:cNvPr id="19" name="Text 16"/>
          <p:cNvSpPr txBox="1"/>
          <p:nvPr/>
        </p:nvSpPr>
        <p:spPr>
          <a:xfrm>
            <a:off x="6217920" y="2468880"/>
            <a:ext cx="2286000" cy="457200"/>
          </a:xfrm>
          <a:prstGeom prst="rect">
            <a:avLst/>
          </a:prstGeom>
          <a:noFill/>
          <a:ln/>
        </p:spPr>
        <p:txBody>
          <a:bodyPr wrap="square" lIns="0" tIns="0" rIns="0" bIns="0" rtlCol="0" anchor="ctr"/>
          <a:lstStyle/>
          <a:p>
            <a:pPr indent="0" marL="0">
              <a:buNone/>
            </a:pPr>
            <a:r>
              <a:rPr lang="en-US" sz="1700" b="1" dirty="0">
                <a:solidFill>
                  <a:srgbClr val="0F172A"/>
                </a:solidFill>
              </a:rPr>
              <a:t>Déploiement continu</a:t>
            </a:r>
            <a:endParaRPr lang="en-US" sz="1700" dirty="0"/>
          </a:p>
        </p:txBody>
      </p:sp>
      <p:sp>
        <p:nvSpPr>
          <p:cNvPr id="20" name="Text 17"/>
          <p:cNvSpPr txBox="1"/>
          <p:nvPr/>
        </p:nvSpPr>
        <p:spPr>
          <a:xfrm>
            <a:off x="6217920" y="2971800"/>
            <a:ext cx="2286000" cy="1371600"/>
          </a:xfrm>
          <a:prstGeom prst="rect">
            <a:avLst/>
          </a:prstGeom>
          <a:noFill/>
          <a:ln/>
        </p:spPr>
        <p:txBody>
          <a:bodyPr wrap="square" lIns="0" tIns="0" rIns="0" bIns="0" rtlCol="0" anchor="t"/>
          <a:lstStyle/>
          <a:p>
            <a:pPr indent="0" marL="0">
              <a:buNone/>
            </a:pPr>
            <a:r>
              <a:rPr lang="en-US" sz="1400" dirty="0">
                <a:solidFill>
                  <a:srgbClr val="1E293B"/>
                </a:solidFill>
              </a:rPr>
              <a:t>Chaque changement validé part en production automatiquement, sans intervention.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Les outils par phase</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554480"/>
                <a:gridCol w="2834640"/>
                <a:gridCol w="38404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Phase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Rôle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Exemples d'outils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45720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Versionner</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Git, GitHub, GitLab, Bitbucket</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CI/CD</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Automatiser build &amp; déploiement</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GitHub Actions, GitLab CI, Jenkins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45720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Conteneurs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Empaqueter</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Docker, Podman, Buildah</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Orchestration</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Exécuter à l'échelle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Kubernetes, OpenShift</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45720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IaC</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Décrire l'infra</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Terraform, Ansible, Pulumi</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Supervision</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Observer</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Prometheus, Grafana, ELK, Loki</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TP : premier pipeline CI</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sp>
        <p:nvSpPr>
          <p:cNvPr id="6" name="Fiche TP"/>
          <p:cNvSpPr/>
          <p:nvPr/>
        </p:nvSpPr>
        <p:spPr>
          <a:xfrm>
            <a:off x="457200" y="1188720"/>
            <a:ext cx="2651760" cy="2743200"/>
          </a:xfrm>
          <a:prstGeom prst="roundRect">
            <a:avLst>
              <a:gd name="adj" fmla="val 2759"/>
            </a:avLst>
          </a:prstGeom>
          <a:solidFill>
            <a:srgbClr val="F1F5F9"/>
          </a:solidFill>
          <a:ln/>
        </p:spPr>
      </p:sp>
      <p:sp>
        <p:nvSpPr>
          <p:cNvPr id="7" name="Text 4"/>
          <p:cNvSpPr txBox="1"/>
          <p:nvPr/>
        </p:nvSpPr>
        <p:spPr>
          <a:xfrm>
            <a:off x="594360" y="1280160"/>
            <a:ext cx="2377440" cy="2560320"/>
          </a:xfrm>
          <a:prstGeom prst="rect">
            <a:avLst/>
          </a:prstGeom>
          <a:noFill/>
          <a:ln/>
        </p:spPr>
        <p:txBody>
          <a:bodyPr wrap="square" lIns="0" tIns="0" rIns="0" bIns="0" rtlCol="0" anchor="t"/>
          <a:lstStyle/>
          <a:p>
            <a:pPr indent="0" marL="0">
              <a:buNone/>
            </a:pPr>
            <a:r>
              <a:rPr lang="en-US" sz="1300" b="1" dirty="0">
                <a:solidFill>
                  <a:srgbClr val="0D9488"/>
                </a:solidFill>
              </a:rPr>
              <a:t>Durée</a:t>
            </a:r>
            <a:endParaRPr lang="en-US" sz="1300" dirty="0"/>
          </a:p>
          <a:p>
            <a:pPr indent="0" marL="0">
              <a:buNone/>
            </a:pPr>
            <a:r>
              <a:rPr lang="en-US" sz="1300" dirty="0">
                <a:solidFill>
                  <a:srgbClr val="1E293B"/>
                </a:solidFill>
              </a:rPr>
              <a:t>1 h 30</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0D9488"/>
                </a:solidFill>
              </a:rPr>
              <a:t>Objectif</a:t>
            </a:r>
            <a:endParaRPr lang="en-US" sz="1300" dirty="0"/>
          </a:p>
          <a:p>
            <a:pPr indent="0" marL="0">
              <a:buNone/>
            </a:pPr>
            <a:r>
              <a:rPr lang="en-US" sz="1300" dirty="0">
                <a:solidFill>
                  <a:srgbClr val="1E293B"/>
                </a:solidFill>
              </a:rPr>
              <a:t>Construire un pipeline GitHub Actions qui teste et empaquette une petite application.</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0D9488"/>
                </a:solidFill>
              </a:rPr>
              <a:t>Prérequis</a:t>
            </a:r>
            <a:endParaRPr lang="en-US" sz="1300" dirty="0"/>
          </a:p>
          <a:p>
            <a:pPr indent="0" marL="0">
              <a:buNone/>
            </a:pPr>
            <a:r>
              <a:rPr lang="en-US" sz="1300" dirty="0">
                <a:solidFill>
                  <a:srgbClr val="1E293B"/>
                </a:solidFill>
              </a:rPr>
              <a:t>Compte GitHub, Git installé, une appli simple (Node ou Python).</a:t>
            </a:r>
            <a:endParaRPr lang="en-US" sz="1300" dirty="0"/>
          </a:p>
        </p:txBody>
      </p:sp>
      <p:sp>
        <p:nvSpPr>
          <p:cNvPr id="8" name="Shape 5"/>
          <p:cNvSpPr/>
          <p:nvPr/>
        </p:nvSpPr>
        <p:spPr>
          <a:xfrm>
            <a:off x="3337560" y="1280160"/>
            <a:ext cx="365760" cy="365760"/>
          </a:xfrm>
          <a:prstGeom prst="ellipse">
            <a:avLst/>
          </a:prstGeom>
          <a:solidFill>
            <a:srgbClr val="0D9488"/>
          </a:solidFill>
          <a:ln/>
        </p:spPr>
      </p:sp>
      <p:sp>
        <p:nvSpPr>
          <p:cNvPr id="9" name="Text 6"/>
          <p:cNvSpPr txBox="1"/>
          <p:nvPr/>
        </p:nvSpPr>
        <p:spPr>
          <a:xfrm>
            <a:off x="3337560" y="1280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7"/>
          <p:cNvSpPr txBox="1"/>
          <p:nvPr/>
        </p:nvSpPr>
        <p:spPr>
          <a:xfrm>
            <a:off x="3840480" y="118872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Créer un dépôt GitHub et y pousser l'application</a:t>
            </a:r>
            <a:endParaRPr lang="en-US" sz="1300" dirty="0"/>
          </a:p>
        </p:txBody>
      </p:sp>
      <p:sp>
        <p:nvSpPr>
          <p:cNvPr id="11" name="Shape 8"/>
          <p:cNvSpPr/>
          <p:nvPr/>
        </p:nvSpPr>
        <p:spPr>
          <a:xfrm>
            <a:off x="3337560" y="1828800"/>
            <a:ext cx="365760" cy="365760"/>
          </a:xfrm>
          <a:prstGeom prst="ellipse">
            <a:avLst/>
          </a:prstGeom>
          <a:solidFill>
            <a:srgbClr val="0D9488"/>
          </a:solidFill>
          <a:ln/>
        </p:spPr>
      </p:sp>
      <p:sp>
        <p:nvSpPr>
          <p:cNvPr id="12" name="Text 9"/>
          <p:cNvSpPr txBox="1"/>
          <p:nvPr/>
        </p:nvSpPr>
        <p:spPr>
          <a:xfrm>
            <a:off x="3337560" y="1828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3840480" y="173736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Ajouter .github/workflows/ci.yml déclenché sur push et pull_request</a:t>
            </a:r>
            <a:endParaRPr lang="en-US" sz="1300" dirty="0"/>
          </a:p>
        </p:txBody>
      </p:sp>
      <p:sp>
        <p:nvSpPr>
          <p:cNvPr id="14" name="Shape 11"/>
          <p:cNvSpPr/>
          <p:nvPr/>
        </p:nvSpPr>
        <p:spPr>
          <a:xfrm>
            <a:off x="3337560" y="2377440"/>
            <a:ext cx="365760" cy="365760"/>
          </a:xfrm>
          <a:prstGeom prst="ellipse">
            <a:avLst/>
          </a:prstGeom>
          <a:solidFill>
            <a:srgbClr val="0D9488"/>
          </a:solidFill>
          <a:ln/>
        </p:spPr>
      </p:sp>
      <p:sp>
        <p:nvSpPr>
          <p:cNvPr id="15" name="Text 12"/>
          <p:cNvSpPr txBox="1"/>
          <p:nvPr/>
        </p:nvSpPr>
        <p:spPr>
          <a:xfrm>
            <a:off x="3337560" y="2377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3"/>
          <p:cNvSpPr txBox="1"/>
          <p:nvPr/>
        </p:nvSpPr>
        <p:spPr>
          <a:xfrm>
            <a:off x="3840480" y="228600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Ajouter les étapes : checkout, installation, lint, tests</a:t>
            </a:r>
            <a:endParaRPr lang="en-US" sz="1300" dirty="0"/>
          </a:p>
        </p:txBody>
      </p:sp>
      <p:sp>
        <p:nvSpPr>
          <p:cNvPr id="17" name="Shape 14"/>
          <p:cNvSpPr/>
          <p:nvPr/>
        </p:nvSpPr>
        <p:spPr>
          <a:xfrm>
            <a:off x="3337560" y="2926080"/>
            <a:ext cx="365760" cy="365760"/>
          </a:xfrm>
          <a:prstGeom prst="ellipse">
            <a:avLst/>
          </a:prstGeom>
          <a:solidFill>
            <a:srgbClr val="0D9488"/>
          </a:solidFill>
          <a:ln/>
        </p:spPr>
      </p:sp>
      <p:sp>
        <p:nvSpPr>
          <p:cNvPr id="18" name="Text 15"/>
          <p:cNvSpPr txBox="1"/>
          <p:nvPr/>
        </p:nvSpPr>
        <p:spPr>
          <a:xfrm>
            <a:off x="3337560" y="2926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3840480" y="283464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Casser volontairement un test, constater l'échec, puis corriger</a:t>
            </a:r>
            <a:endParaRPr lang="en-US" sz="1300" dirty="0"/>
          </a:p>
        </p:txBody>
      </p:sp>
      <p:sp>
        <p:nvSpPr>
          <p:cNvPr id="20" name="Shape 17"/>
          <p:cNvSpPr/>
          <p:nvPr/>
        </p:nvSpPr>
        <p:spPr>
          <a:xfrm>
            <a:off x="3337560" y="3474720"/>
            <a:ext cx="365760" cy="365760"/>
          </a:xfrm>
          <a:prstGeom prst="ellipse">
            <a:avLst/>
          </a:prstGeom>
          <a:solidFill>
            <a:srgbClr val="0D9488"/>
          </a:solidFill>
          <a:ln/>
        </p:spPr>
      </p:sp>
      <p:sp>
        <p:nvSpPr>
          <p:cNvPr id="21" name="Text 18"/>
          <p:cNvSpPr txBox="1"/>
          <p:nvPr/>
        </p:nvSpPr>
        <p:spPr>
          <a:xfrm>
            <a:off x="3337560" y="3474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19"/>
          <p:cNvSpPr txBox="1"/>
          <p:nvPr/>
        </p:nvSpPr>
        <p:spPr>
          <a:xfrm>
            <a:off x="3840480" y="338328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Ajouter un badge de statut dans le README</a:t>
            </a:r>
            <a:endParaRPr lang="en-US" sz="1300" dirty="0"/>
          </a:p>
        </p:txBody>
      </p:sp>
      <p:sp>
        <p:nvSpPr>
          <p:cNvPr id="23" name="Livrable"/>
          <p:cNvSpPr/>
          <p:nvPr/>
        </p:nvSpPr>
        <p:spPr>
          <a:xfrm>
            <a:off x="457200" y="4069080"/>
            <a:ext cx="8229600" cy="548640"/>
          </a:xfrm>
          <a:prstGeom prst="roundRect">
            <a:avLst>
              <a:gd name="adj" fmla="val 13333"/>
            </a:avLst>
          </a:prstGeom>
          <a:solidFill>
            <a:srgbClr val="0F172A"/>
          </a:solidFill>
          <a:ln/>
        </p:spPr>
      </p:sp>
      <p:sp>
        <p:nvSpPr>
          <p:cNvPr id="24" name="Text 21"/>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400" b="1" dirty="0">
                <a:solidFill>
                  <a:srgbClr val="5EEAD4"/>
                </a:solidFill>
              </a:rPr>
              <a:t>Livrable : </a:t>
            </a:r>
            <a:pPr indent="0" marL="0">
              <a:buNone/>
            </a:pPr>
            <a:r>
              <a:rPr lang="en-US" sz="1400" dirty="0">
                <a:solidFill>
                  <a:srgbClr val="FFFFFF"/>
                </a:solidFill>
              </a:rPr>
              <a:t>un dépôt avec un pipeline vert, et la capture d'un échec corrigé.</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Quiz niveau Débutant</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sp>
        <p:nvSpPr>
          <p:cNvPr id="6" name="Question"/>
          <p:cNvSpPr/>
          <p:nvPr/>
        </p:nvSpPr>
        <p:spPr>
          <a:xfrm>
            <a:off x="457200" y="1143000"/>
            <a:ext cx="8229600" cy="612648"/>
          </a:xfrm>
          <a:prstGeom prst="roundRect">
            <a:avLst>
              <a:gd name="adj" fmla="val 11940"/>
            </a:avLst>
          </a:prstGeom>
          <a:solidFill>
            <a:srgbClr val="F1F5F9"/>
          </a:solidFill>
          <a:ln/>
        </p:spPr>
      </p:sp>
      <p:sp>
        <p:nvSpPr>
          <p:cNvPr id="7" name="Shape 4"/>
          <p:cNvSpPr/>
          <p:nvPr/>
        </p:nvSpPr>
        <p:spPr>
          <a:xfrm>
            <a:off x="566928" y="1280160"/>
            <a:ext cx="347472" cy="347472"/>
          </a:xfrm>
          <a:prstGeom prst="ellipse">
            <a:avLst/>
          </a:prstGeom>
          <a:solidFill>
            <a:srgbClr val="0D9488"/>
          </a:solidFill>
          <a:ln/>
        </p:spPr>
      </p:sp>
      <p:sp>
        <p:nvSpPr>
          <p:cNvPr id="8" name="Text 5"/>
          <p:cNvSpPr txBox="1"/>
          <p:nvPr/>
        </p:nvSpPr>
        <p:spPr>
          <a:xfrm>
            <a:off x="566928"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6"/>
          <p:cNvSpPr txBox="1"/>
          <p:nvPr/>
        </p:nvSpPr>
        <p:spPr>
          <a:xfrm>
            <a:off x="1051560" y="11430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 signifie DevOps ?</a:t>
            </a:r>
            <a:endParaRPr lang="en-US" sz="1400" dirty="0"/>
          </a:p>
          <a:p>
            <a:pPr indent="0" marL="0">
              <a:buNone/>
            </a:pPr>
            <a:r>
              <a:rPr lang="en-US" sz="1200" dirty="0">
                <a:solidFill>
                  <a:srgbClr val="1E293B"/>
                </a:solidFill>
              </a:rPr>
              <a:t>A) Un langage de programmation    B) Un outil de déploiement    C) Une culture qui rapproche développement et exploitation</a:t>
            </a:r>
            <a:endParaRPr lang="en-US" sz="1400" dirty="0"/>
          </a:p>
        </p:txBody>
      </p:sp>
      <p:sp>
        <p:nvSpPr>
          <p:cNvPr id="10" name="Question"/>
          <p:cNvSpPr/>
          <p:nvPr/>
        </p:nvSpPr>
        <p:spPr>
          <a:xfrm>
            <a:off x="457200" y="1828800"/>
            <a:ext cx="8229600" cy="612648"/>
          </a:xfrm>
          <a:prstGeom prst="roundRect">
            <a:avLst>
              <a:gd name="adj" fmla="val 11940"/>
            </a:avLst>
          </a:prstGeom>
          <a:solidFill>
            <a:srgbClr val="F1F5F9"/>
          </a:solidFill>
          <a:ln/>
        </p:spPr>
      </p:sp>
      <p:sp>
        <p:nvSpPr>
          <p:cNvPr id="11" name="Shape 8"/>
          <p:cNvSpPr/>
          <p:nvPr/>
        </p:nvSpPr>
        <p:spPr>
          <a:xfrm>
            <a:off x="566928" y="1965960"/>
            <a:ext cx="347472" cy="347472"/>
          </a:xfrm>
          <a:prstGeom prst="ellipse">
            <a:avLst/>
          </a:prstGeom>
          <a:solidFill>
            <a:srgbClr val="0D9488"/>
          </a:solidFill>
          <a:ln/>
        </p:spPr>
      </p:sp>
      <p:sp>
        <p:nvSpPr>
          <p:cNvPr id="12" name="Text 9"/>
          <p:cNvSpPr txBox="1"/>
          <p:nvPr/>
        </p:nvSpPr>
        <p:spPr>
          <a:xfrm>
            <a:off x="566928" y="19659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51560" y="18288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Quel est l'objectif de l'intégration continue ?</a:t>
            </a:r>
            <a:endParaRPr lang="en-US" sz="1400" dirty="0"/>
          </a:p>
          <a:p>
            <a:pPr indent="0" marL="0">
              <a:buNone/>
            </a:pPr>
            <a:r>
              <a:rPr lang="en-US" sz="1200" dirty="0">
                <a:solidFill>
                  <a:srgbClr val="1E293B"/>
                </a:solidFill>
              </a:rPr>
              <a:t>A) Compiler et tester automatiquement chaque commit    B) Remplacer Git    C) Déployer en production sans aucun test</a:t>
            </a:r>
            <a:endParaRPr lang="en-US" sz="1400" dirty="0"/>
          </a:p>
        </p:txBody>
      </p:sp>
      <p:sp>
        <p:nvSpPr>
          <p:cNvPr id="14" name="Question"/>
          <p:cNvSpPr/>
          <p:nvPr/>
        </p:nvSpPr>
        <p:spPr>
          <a:xfrm>
            <a:off x="457200" y="2514600"/>
            <a:ext cx="8229600" cy="612648"/>
          </a:xfrm>
          <a:prstGeom prst="roundRect">
            <a:avLst>
              <a:gd name="adj" fmla="val 11940"/>
            </a:avLst>
          </a:prstGeom>
          <a:solidFill>
            <a:srgbClr val="F1F5F9"/>
          </a:solidFill>
          <a:ln/>
        </p:spPr>
      </p:sp>
      <p:sp>
        <p:nvSpPr>
          <p:cNvPr id="15" name="Shape 12"/>
          <p:cNvSpPr/>
          <p:nvPr/>
        </p:nvSpPr>
        <p:spPr>
          <a:xfrm>
            <a:off x="566928" y="2651760"/>
            <a:ext cx="347472" cy="347472"/>
          </a:xfrm>
          <a:prstGeom prst="ellipse">
            <a:avLst/>
          </a:prstGeom>
          <a:solidFill>
            <a:srgbClr val="0D9488"/>
          </a:solidFill>
          <a:ln/>
        </p:spPr>
      </p:sp>
      <p:sp>
        <p:nvSpPr>
          <p:cNvPr id="16" name="Text 13"/>
          <p:cNvSpPr txBox="1"/>
          <p:nvPr/>
        </p:nvSpPr>
        <p:spPr>
          <a:xfrm>
            <a:off x="566928"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4"/>
          <p:cNvSpPr txBox="1"/>
          <p:nvPr/>
        </p:nvSpPr>
        <p:spPr>
          <a:xfrm>
            <a:off x="1051560" y="25146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Quelle différence entre livraison continue et déploiement continu ?</a:t>
            </a:r>
            <a:endParaRPr lang="en-US" sz="1400" dirty="0"/>
          </a:p>
          <a:p>
            <a:pPr indent="0" marL="0">
              <a:buNone/>
            </a:pPr>
            <a:r>
              <a:rPr lang="en-US" sz="1200" dirty="0">
                <a:solidFill>
                  <a:srgbClr val="1E293B"/>
                </a:solidFill>
              </a:rPr>
              <a:t>A) Aucune, ce sont deux noms du même terme    B) Le déploiement continu envoie en production sans approbation manuelle    C) La livraison continue n'exécute pas de tests</a:t>
            </a:r>
            <a:endParaRPr lang="en-US" sz="1400" dirty="0"/>
          </a:p>
        </p:txBody>
      </p:sp>
      <p:sp>
        <p:nvSpPr>
          <p:cNvPr id="18" name="Question"/>
          <p:cNvSpPr/>
          <p:nvPr/>
        </p:nvSpPr>
        <p:spPr>
          <a:xfrm>
            <a:off x="457200" y="3200400"/>
            <a:ext cx="8229600" cy="612648"/>
          </a:xfrm>
          <a:prstGeom prst="roundRect">
            <a:avLst>
              <a:gd name="adj" fmla="val 11940"/>
            </a:avLst>
          </a:prstGeom>
          <a:solidFill>
            <a:srgbClr val="F1F5F9"/>
          </a:solidFill>
          <a:ln/>
        </p:spPr>
      </p:sp>
      <p:sp>
        <p:nvSpPr>
          <p:cNvPr id="19" name="Shape 16"/>
          <p:cNvSpPr/>
          <p:nvPr/>
        </p:nvSpPr>
        <p:spPr>
          <a:xfrm>
            <a:off x="566928" y="3337560"/>
            <a:ext cx="347472" cy="347472"/>
          </a:xfrm>
          <a:prstGeom prst="ellipse">
            <a:avLst/>
          </a:prstGeom>
          <a:solidFill>
            <a:srgbClr val="0D9488"/>
          </a:solidFill>
          <a:ln/>
        </p:spPr>
      </p:sp>
      <p:sp>
        <p:nvSpPr>
          <p:cNvPr id="20" name="Text 17"/>
          <p:cNvSpPr txBox="1"/>
          <p:nvPr/>
        </p:nvSpPr>
        <p:spPr>
          <a:xfrm>
            <a:off x="566928" y="33375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8"/>
          <p:cNvSpPr txBox="1"/>
          <p:nvPr/>
        </p:nvSpPr>
        <p:spPr>
          <a:xfrm>
            <a:off x="1051560" y="32004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 faire quand le pipeline est rouge ?</a:t>
            </a:r>
            <a:endParaRPr lang="en-US" sz="1400" dirty="0"/>
          </a:p>
          <a:p>
            <a:pPr indent="0" marL="0">
              <a:buNone/>
            </a:pPr>
            <a:r>
              <a:rPr lang="en-US" sz="1200" dirty="0">
                <a:solidFill>
                  <a:srgbClr val="1E293B"/>
                </a:solidFill>
              </a:rPr>
              <a:t>A) L'ignorer et continuer    B) Désactiver les tests concernés    C) Le corriger avant tout autre travail</a:t>
            </a:r>
            <a:endParaRPr lang="en-US" sz="1400" dirty="0"/>
          </a:p>
        </p:txBody>
      </p:sp>
      <p:sp>
        <p:nvSpPr>
          <p:cNvPr id="22" name="Question"/>
          <p:cNvSpPr/>
          <p:nvPr/>
        </p:nvSpPr>
        <p:spPr>
          <a:xfrm>
            <a:off x="457200" y="3886200"/>
            <a:ext cx="8229600" cy="612648"/>
          </a:xfrm>
          <a:prstGeom prst="roundRect">
            <a:avLst>
              <a:gd name="adj" fmla="val 11940"/>
            </a:avLst>
          </a:prstGeom>
          <a:solidFill>
            <a:srgbClr val="F1F5F9"/>
          </a:solidFill>
          <a:ln/>
        </p:spPr>
      </p:sp>
      <p:sp>
        <p:nvSpPr>
          <p:cNvPr id="23" name="Shape 20"/>
          <p:cNvSpPr/>
          <p:nvPr/>
        </p:nvSpPr>
        <p:spPr>
          <a:xfrm>
            <a:off x="566928" y="4023360"/>
            <a:ext cx="347472" cy="347472"/>
          </a:xfrm>
          <a:prstGeom prst="ellipse">
            <a:avLst/>
          </a:prstGeom>
          <a:solidFill>
            <a:srgbClr val="0D9488"/>
          </a:solidFill>
          <a:ln/>
        </p:spPr>
      </p:sp>
      <p:sp>
        <p:nvSpPr>
          <p:cNvPr id="24" name="Text 21"/>
          <p:cNvSpPr txBox="1"/>
          <p:nvPr/>
        </p:nvSpPr>
        <p:spPr>
          <a:xfrm>
            <a:off x="566928" y="40233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5" name="Text 22"/>
          <p:cNvSpPr txBox="1"/>
          <p:nvPr/>
        </p:nvSpPr>
        <p:spPr>
          <a:xfrm>
            <a:off x="1051560" y="38862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 symbolise le « mur de la confusion » ?</a:t>
            </a:r>
            <a:endParaRPr lang="en-US" sz="1400" dirty="0"/>
          </a:p>
          <a:p>
            <a:pPr indent="0" marL="0">
              <a:buNone/>
            </a:pPr>
            <a:r>
              <a:rPr lang="en-US" sz="1200" dirty="0">
                <a:solidFill>
                  <a:srgbClr val="1E293B"/>
                </a:solidFill>
              </a:rPr>
              <a:t>A) La séparation entre Dev (changement) et Ops (stabilité)    B) Un pare-feu réseau    C) Un outil de supervision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1097280"/>
            <a:ext cx="2743200" cy="1463040"/>
          </a:xfrm>
          <a:prstGeom prst="rect">
            <a:avLst/>
          </a:prstGeom>
          <a:noFill/>
          <a:ln/>
        </p:spPr>
        <p:txBody>
          <a:bodyPr wrap="square" lIns="0" tIns="0" rIns="0" bIns="0" rtlCol="0" anchor="ctr"/>
          <a:lstStyle/>
          <a:p>
            <a:pPr indent="0" marL="0">
              <a:buNone/>
            </a:pPr>
            <a:r>
              <a:rPr lang="en-US" sz="9600" b="1" dirty="0">
                <a:solidFill>
                  <a:srgbClr val="0EA5E9"/>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640080" y="2651760"/>
            <a:ext cx="78638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Pratiques intermédiaires</a:t>
            </a:r>
            <a:endParaRPr lang="en-US" sz="3800" dirty="0"/>
          </a:p>
        </p:txBody>
      </p:sp>
      <p:sp>
        <p:nvSpPr>
          <p:cNvPr id="4" name="Text 2"/>
          <p:cNvSpPr txBox="1"/>
          <p:nvPr/>
        </p:nvSpPr>
        <p:spPr>
          <a:xfrm>
            <a:off x="640080" y="3474720"/>
            <a:ext cx="7863840" cy="731520"/>
          </a:xfrm>
          <a:prstGeom prst="rect">
            <a:avLst/>
          </a:prstGeom>
          <a:noFill/>
          <a:ln/>
        </p:spPr>
        <p:txBody>
          <a:bodyPr wrap="square" lIns="0" tIns="0" rIns="0" bIns="0" rtlCol="0" anchor="ctr"/>
          <a:lstStyle/>
          <a:p>
            <a:pPr indent="0" marL="0">
              <a:buNone/>
            </a:pPr>
            <a:r>
              <a:rPr lang="en-US" sz="1800" dirty="0">
                <a:solidFill>
                  <a:srgbClr val="CBD5E1"/>
                </a:solidFill>
              </a:rPr>
              <a:t>Infrastructure, conteneurs, déploiement, observabilité, sécurité</a:t>
            </a:r>
            <a:endParaRPr lang="en-US" sz="1800" dirty="0"/>
          </a:p>
        </p:txBody>
      </p:sp>
      <p:sp>
        <p:nvSpPr>
          <p:cNvPr id="6"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Infrastructure as Code (IaC)</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Text 3"/>
          <p:cNvSpPr txBox="1"/>
          <p:nvPr/>
        </p:nvSpPr>
        <p:spPr>
          <a:xfrm>
            <a:off x="457200" y="1280160"/>
            <a:ext cx="384048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E293B"/>
                </a:solidFill>
              </a:rPr>
              <a:t>Infra décrite en code, versionnée dans Git</a:t>
            </a:r>
            <a:endParaRPr lang="en-US" sz="1500" dirty="0"/>
          </a:p>
          <a:p>
            <a:pPr marL="342900" indent="-342900">
              <a:spcAft>
                <a:spcPts val="800"/>
              </a:spcAft>
              <a:buSzPct val="100000"/>
              <a:buChar char="•"/>
            </a:pPr>
            <a:r>
              <a:rPr lang="en-US" sz="1500" dirty="0">
                <a:solidFill>
                  <a:srgbClr val="1E293B"/>
                </a:solidFill>
              </a:rPr>
              <a:t>Reproductible : mêmes fichiers = même résultat</a:t>
            </a:r>
            <a:endParaRPr lang="en-US" sz="1500" dirty="0"/>
          </a:p>
          <a:p>
            <a:pPr marL="342900" indent="-342900">
              <a:spcAft>
                <a:spcPts val="800"/>
              </a:spcAft>
              <a:buSzPct val="100000"/>
              <a:buChar char="•"/>
            </a:pPr>
            <a:r>
              <a:rPr lang="en-US" sz="1500" dirty="0">
                <a:solidFill>
                  <a:srgbClr val="1E293B"/>
                </a:solidFill>
              </a:rPr>
              <a:t>Revue de code et historique des changements</a:t>
            </a:r>
            <a:endParaRPr lang="en-US" sz="1500" dirty="0"/>
          </a:p>
          <a:p>
            <a:pPr marL="342900" indent="-342900">
              <a:spcAft>
                <a:spcPts val="800"/>
              </a:spcAft>
              <a:buSzPct val="100000"/>
              <a:buChar char="•"/>
            </a:pPr>
            <a:r>
              <a:rPr lang="en-US" sz="1500" dirty="0">
                <a:solidFill>
                  <a:srgbClr val="1E293B"/>
                </a:solidFill>
              </a:rPr>
              <a:t>Déclaratif (Terraform) vs configuration (Ansible)</a:t>
            </a:r>
            <a:endParaRPr lang="en-US" sz="1500" dirty="0"/>
          </a:p>
        </p:txBody>
      </p:sp>
      <p:sp>
        <p:nvSpPr>
          <p:cNvPr id="7" name="Bloc code"/>
          <p:cNvSpPr/>
          <p:nvPr/>
        </p:nvSpPr>
        <p:spPr>
          <a:xfrm>
            <a:off x="4526280" y="1280160"/>
            <a:ext cx="4160520" cy="3108960"/>
          </a:xfrm>
          <a:prstGeom prst="roundRect">
            <a:avLst>
              <a:gd name="adj" fmla="val 1765"/>
            </a:avLst>
          </a:prstGeom>
          <a:solidFill>
            <a:srgbClr val="0F172A"/>
          </a:solidFill>
          <a:ln/>
        </p:spPr>
      </p:sp>
      <p:sp>
        <p:nvSpPr>
          <p:cNvPr id="8" name="Text 5"/>
          <p:cNvSpPr txBox="1"/>
          <p:nvPr/>
        </p:nvSpPr>
        <p:spPr>
          <a:xfrm>
            <a:off x="4663440" y="1371600"/>
            <a:ext cx="3886200" cy="2926080"/>
          </a:xfrm>
          <a:prstGeom prst="rect">
            <a:avLst/>
          </a:prstGeom>
          <a:noFill/>
          <a:ln/>
        </p:spPr>
        <p:txBody>
          <a:bodyPr wrap="square" lIns="0" tIns="0" rIns="0" bIns="0" rtlCol="0" anchor="t"/>
          <a:lstStyle/>
          <a:p>
            <a:pPr indent="0" marL="0">
              <a:buNone/>
            </a:pPr>
            <a:r>
              <a:rPr lang="en-US" sz="1300" dirty="0">
                <a:solidFill>
                  <a:srgbClr val="5EEAD4"/>
                </a:solidFill>
                <a:latin typeface="Courier New" pitchFamily="34" charset="0"/>
                <a:ea typeface="Courier New" pitchFamily="34" charset="-122"/>
                <a:cs typeface="Courier New" pitchFamily="34" charset="-120"/>
              </a:rPr>
              <a:t>resource "aws_instance" "web" {</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ami           = "ami-0abc123"</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instance_type = "t3.micro"</a:t>
            </a:r>
            <a:endParaRPr lang="en-US" sz="1300" dirty="0"/>
          </a:p>
          <a:p>
            <a:pPr indent="0" marL="0">
              <a:buNone/>
            </a:pP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tags = {</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Name = "serveur-web"</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Env  = "prod"</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a:t>
            </a:r>
            <a:endParaRPr lang="en-US" sz="1300" dirty="0"/>
          </a:p>
          <a:p>
            <a:pPr indent="0" marL="0">
              <a:buNone/>
            </a:pP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terraform plan</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terraform apply</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Conteneurs et orchestration</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Carte"/>
          <p:cNvSpPr/>
          <p:nvPr/>
        </p:nvSpPr>
        <p:spPr>
          <a:xfrm>
            <a:off x="457200" y="1188720"/>
            <a:ext cx="4023360" cy="1783080"/>
          </a:xfrm>
          <a:prstGeom prst="roundRect">
            <a:avLst>
              <a:gd name="adj" fmla="val 4103"/>
            </a:avLst>
          </a:prstGeom>
          <a:solidFill>
            <a:srgbClr val="F1F5F9"/>
          </a:solidFill>
          <a:ln/>
        </p:spPr>
      </p:sp>
      <p:sp>
        <p:nvSpPr>
          <p:cNvPr id="7" name="Pastille"/>
          <p:cNvSpPr/>
          <p:nvPr/>
        </p:nvSpPr>
        <p:spPr>
          <a:xfrm>
            <a:off x="594360" y="1325880"/>
            <a:ext cx="457200" cy="457200"/>
          </a:xfrm>
          <a:prstGeom prst="ellipse">
            <a:avLst/>
          </a:prstGeom>
          <a:solidFill>
            <a:srgbClr val="0EA5E9"/>
          </a:solidFill>
          <a:ln/>
        </p:spPr>
      </p:sp>
      <p:pic>
        <p:nvPicPr>
          <p:cNvPr id="8" name="Image 0" descr="Docker">    </p:cNvPr>
          <p:cNvPicPr>
            <a:picLocks noChangeAspect="1"/>
          </p:cNvPicPr>
          <p:nvPr/>
        </p:nvPicPr>
        <p:blipFill>
          <a:blip r:embed="rId1"/>
          <a:stretch>
            <a:fillRect/>
          </a:stretch>
        </p:blipFill>
        <p:spPr>
          <a:xfrm>
            <a:off x="704088" y="1435608"/>
            <a:ext cx="237744" cy="237744"/>
          </a:xfrm>
          <a:prstGeom prst="rect">
            <a:avLst/>
          </a:prstGeom>
        </p:spPr>
      </p:pic>
      <p:sp>
        <p:nvSpPr>
          <p:cNvPr id="9" name="Text 5"/>
          <p:cNvSpPr txBox="1"/>
          <p:nvPr/>
        </p:nvSpPr>
        <p:spPr>
          <a:xfrm>
            <a:off x="594360" y="1874520"/>
            <a:ext cx="3749040" cy="365760"/>
          </a:xfrm>
          <a:prstGeom prst="rect">
            <a:avLst/>
          </a:prstGeom>
          <a:noFill/>
          <a:ln/>
        </p:spPr>
        <p:txBody>
          <a:bodyPr wrap="square" lIns="0" tIns="0" rIns="0" bIns="0" rtlCol="0" anchor="ctr"/>
          <a:lstStyle/>
          <a:p>
            <a:pPr indent="0" marL="0">
              <a:buNone/>
            </a:pPr>
            <a:r>
              <a:rPr lang="en-US" sz="1600" b="1" dirty="0">
                <a:solidFill>
                  <a:srgbClr val="0F172A"/>
                </a:solidFill>
              </a:rPr>
              <a:t>Docker</a:t>
            </a:r>
            <a:endParaRPr lang="en-US" sz="1600" dirty="0"/>
          </a:p>
        </p:txBody>
      </p:sp>
      <p:sp>
        <p:nvSpPr>
          <p:cNvPr id="10" name="Text 6"/>
          <p:cNvSpPr txBox="1"/>
          <p:nvPr/>
        </p:nvSpPr>
        <p:spPr>
          <a:xfrm>
            <a:off x="594360" y="2258568"/>
            <a:ext cx="3749040" cy="64008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Empaquette l'application et ses dépendances dans une image portable et immuable.</a:t>
            </a:r>
            <a:endParaRPr lang="en-US" sz="1400" dirty="0"/>
          </a:p>
        </p:txBody>
      </p:sp>
      <p:sp>
        <p:nvSpPr>
          <p:cNvPr id="11" name="Carte"/>
          <p:cNvSpPr/>
          <p:nvPr/>
        </p:nvSpPr>
        <p:spPr>
          <a:xfrm>
            <a:off x="4663440" y="1188720"/>
            <a:ext cx="4023360" cy="1783080"/>
          </a:xfrm>
          <a:prstGeom prst="roundRect">
            <a:avLst>
              <a:gd name="adj" fmla="val 4103"/>
            </a:avLst>
          </a:prstGeom>
          <a:solidFill>
            <a:srgbClr val="F1F5F9"/>
          </a:solidFill>
          <a:ln/>
        </p:spPr>
      </p:sp>
      <p:sp>
        <p:nvSpPr>
          <p:cNvPr id="12" name="Pastille"/>
          <p:cNvSpPr/>
          <p:nvPr/>
        </p:nvSpPr>
        <p:spPr>
          <a:xfrm>
            <a:off x="4800600" y="1325880"/>
            <a:ext cx="457200" cy="457200"/>
          </a:xfrm>
          <a:prstGeom prst="ellipse">
            <a:avLst/>
          </a:prstGeom>
          <a:solidFill>
            <a:srgbClr val="7C3AED"/>
          </a:solidFill>
          <a:ln/>
        </p:spPr>
      </p:sp>
      <p:pic>
        <p:nvPicPr>
          <p:cNvPr id="13" name="Image 1" descr="Kubernetes">    </p:cNvPr>
          <p:cNvPicPr>
            <a:picLocks noChangeAspect="1"/>
          </p:cNvPicPr>
          <p:nvPr/>
        </p:nvPicPr>
        <p:blipFill>
          <a:blip r:embed="rId2"/>
          <a:stretch>
            <a:fillRect/>
          </a:stretch>
        </p:blipFill>
        <p:spPr>
          <a:xfrm>
            <a:off x="4910328" y="1435608"/>
            <a:ext cx="237744" cy="237744"/>
          </a:xfrm>
          <a:prstGeom prst="rect">
            <a:avLst/>
          </a:prstGeom>
        </p:spPr>
      </p:pic>
      <p:sp>
        <p:nvSpPr>
          <p:cNvPr id="14" name="Text 9"/>
          <p:cNvSpPr txBox="1"/>
          <p:nvPr/>
        </p:nvSpPr>
        <p:spPr>
          <a:xfrm>
            <a:off x="4800600" y="1874520"/>
            <a:ext cx="3749040" cy="365760"/>
          </a:xfrm>
          <a:prstGeom prst="rect">
            <a:avLst/>
          </a:prstGeom>
          <a:noFill/>
          <a:ln/>
        </p:spPr>
        <p:txBody>
          <a:bodyPr wrap="square" lIns="0" tIns="0" rIns="0" bIns="0" rtlCol="0" anchor="ctr"/>
          <a:lstStyle/>
          <a:p>
            <a:pPr indent="0" marL="0">
              <a:buNone/>
            </a:pPr>
            <a:r>
              <a:rPr lang="en-US" sz="1600" b="1" dirty="0">
                <a:solidFill>
                  <a:srgbClr val="0F172A"/>
                </a:solidFill>
              </a:rPr>
              <a:t>Kubernetes</a:t>
            </a:r>
            <a:endParaRPr lang="en-US" sz="1600" dirty="0"/>
          </a:p>
        </p:txBody>
      </p:sp>
      <p:sp>
        <p:nvSpPr>
          <p:cNvPr id="15" name="Text 10"/>
          <p:cNvSpPr txBox="1"/>
          <p:nvPr/>
        </p:nvSpPr>
        <p:spPr>
          <a:xfrm>
            <a:off x="4800600" y="2258568"/>
            <a:ext cx="3749040" cy="64008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Déploie, met à l'échelle et répare automatiquement les conteneurs.</a:t>
            </a:r>
            <a:endParaRPr lang="en-US" sz="1400" dirty="0"/>
          </a:p>
        </p:txBody>
      </p:sp>
      <p:sp>
        <p:nvSpPr>
          <p:cNvPr id="16" name="Bloc code"/>
          <p:cNvSpPr/>
          <p:nvPr/>
        </p:nvSpPr>
        <p:spPr>
          <a:xfrm>
            <a:off x="457200" y="3154680"/>
            <a:ext cx="4023360" cy="1417320"/>
          </a:xfrm>
          <a:prstGeom prst="roundRect">
            <a:avLst>
              <a:gd name="adj" fmla="val 3871"/>
            </a:avLst>
          </a:prstGeom>
          <a:solidFill>
            <a:srgbClr val="0F172A"/>
          </a:solidFill>
          <a:ln/>
        </p:spPr>
      </p:sp>
      <p:sp>
        <p:nvSpPr>
          <p:cNvPr id="17" name="Text 12"/>
          <p:cNvSpPr txBox="1"/>
          <p:nvPr/>
        </p:nvSpPr>
        <p:spPr>
          <a:xfrm>
            <a:off x="594360" y="3246120"/>
            <a:ext cx="3749040" cy="1234440"/>
          </a:xfrm>
          <a:prstGeom prst="rect">
            <a:avLst/>
          </a:prstGeom>
          <a:noFill/>
          <a:ln/>
        </p:spPr>
        <p:txBody>
          <a:bodyPr wrap="square" lIns="0" tIns="0" rIns="0" bIns="0" rtlCol="0" anchor="t"/>
          <a:lstStyle/>
          <a:p>
            <a:pPr indent="0" marL="0">
              <a:buNone/>
            </a:pPr>
            <a:r>
              <a:rPr lang="en-US" sz="1200" dirty="0">
                <a:solidFill>
                  <a:srgbClr val="5EEAD4"/>
                </a:solidFill>
                <a:latin typeface="Courier New" pitchFamily="34" charset="0"/>
                <a:ea typeface="Courier New" pitchFamily="34" charset="-122"/>
                <a:cs typeface="Courier New" pitchFamily="34" charset="-120"/>
              </a:rPr>
              <a:t>FROM node:20-alpine</a:t>
            </a:r>
            <a:endParaRPr lang="en-US" sz="1200" dirty="0"/>
          </a:p>
          <a:p>
            <a:pPr indent="0" marL="0">
              <a:buNone/>
            </a:pPr>
            <a:r>
              <a:rPr lang="en-US" sz="1200" dirty="0">
                <a:solidFill>
                  <a:srgbClr val="5EEAD4"/>
                </a:solidFill>
                <a:latin typeface="Courier New" pitchFamily="34" charset="0"/>
                <a:ea typeface="Courier New" pitchFamily="34" charset="-122"/>
                <a:cs typeface="Courier New" pitchFamily="34" charset="-120"/>
              </a:rPr>
              <a:t>WORKDIR /app</a:t>
            </a:r>
            <a:endParaRPr lang="en-US" sz="1200" dirty="0"/>
          </a:p>
          <a:p>
            <a:pPr indent="0" marL="0">
              <a:buNone/>
            </a:pPr>
            <a:r>
              <a:rPr lang="en-US" sz="1200" dirty="0">
                <a:solidFill>
                  <a:srgbClr val="5EEAD4"/>
                </a:solidFill>
                <a:latin typeface="Courier New" pitchFamily="34" charset="0"/>
                <a:ea typeface="Courier New" pitchFamily="34" charset="-122"/>
                <a:cs typeface="Courier New" pitchFamily="34" charset="-120"/>
              </a:rPr>
              <a:t>COPY . .</a:t>
            </a:r>
            <a:endParaRPr lang="en-US" sz="1200" dirty="0"/>
          </a:p>
          <a:p>
            <a:pPr indent="0" marL="0">
              <a:buNone/>
            </a:pPr>
            <a:r>
              <a:rPr lang="en-US" sz="1200" dirty="0">
                <a:solidFill>
                  <a:srgbClr val="5EEAD4"/>
                </a:solidFill>
                <a:latin typeface="Courier New" pitchFamily="34" charset="0"/>
                <a:ea typeface="Courier New" pitchFamily="34" charset="-122"/>
                <a:cs typeface="Courier New" pitchFamily="34" charset="-120"/>
              </a:rPr>
              <a:t>RUN npm ci --omit=dev</a:t>
            </a:r>
            <a:endParaRPr lang="en-US" sz="1200" dirty="0"/>
          </a:p>
          <a:p>
            <a:pPr indent="0" marL="0">
              <a:buNone/>
            </a:pPr>
            <a:r>
              <a:rPr lang="en-US" sz="1200" dirty="0">
                <a:solidFill>
                  <a:srgbClr val="5EEAD4"/>
                </a:solidFill>
                <a:latin typeface="Courier New" pitchFamily="34" charset="0"/>
                <a:ea typeface="Courier New" pitchFamily="34" charset="-122"/>
                <a:cs typeface="Courier New" pitchFamily="34" charset="-120"/>
              </a:rPr>
              <a:t>CMD ["node","server.js"]</a:t>
            </a:r>
            <a:endParaRPr lang="en-US" sz="1200" dirty="0"/>
          </a:p>
        </p:txBody>
      </p:sp>
      <p:sp>
        <p:nvSpPr>
          <p:cNvPr id="18" name="Étape"/>
          <p:cNvSpPr/>
          <p:nvPr/>
        </p:nvSpPr>
        <p:spPr>
          <a:xfrm>
            <a:off x="4663440" y="3154680"/>
            <a:ext cx="882396" cy="731520"/>
          </a:xfrm>
          <a:prstGeom prst="roundRect">
            <a:avLst>
              <a:gd name="adj" fmla="val 10000"/>
            </a:avLst>
          </a:prstGeom>
          <a:solidFill>
            <a:srgbClr val="0D9488"/>
          </a:solidFill>
          <a:ln/>
        </p:spPr>
      </p:sp>
      <p:sp>
        <p:nvSpPr>
          <p:cNvPr id="19" name="Text 14"/>
          <p:cNvSpPr txBox="1"/>
          <p:nvPr/>
        </p:nvSpPr>
        <p:spPr>
          <a:xfrm>
            <a:off x="4663440" y="3154680"/>
            <a:ext cx="882396" cy="731520"/>
          </a:xfrm>
          <a:prstGeom prst="rect">
            <a:avLst/>
          </a:prstGeom>
          <a:noFill/>
          <a:ln/>
        </p:spPr>
        <p:txBody>
          <a:bodyPr wrap="square" lIns="508" tIns="508" rIns="508" bIns="508" rtlCol="0" anchor="ctr"/>
          <a:lstStyle/>
          <a:p>
            <a:pPr algn="ctr" indent="0" marL="0">
              <a:buNone/>
            </a:pPr>
            <a:r>
              <a:rPr lang="en-US" sz="1400" b="1" dirty="0">
                <a:solidFill>
                  <a:srgbClr val="FFFFFF"/>
                </a:solidFill>
              </a:rPr>
              <a:t>Image</a:t>
            </a:r>
            <a:endParaRPr lang="en-US" sz="1400" dirty="0"/>
          </a:p>
        </p:txBody>
      </p:sp>
      <p:sp>
        <p:nvSpPr>
          <p:cNvPr id="20" name="Text 15"/>
          <p:cNvSpPr txBox="1"/>
          <p:nvPr/>
        </p:nvSpPr>
        <p:spPr>
          <a:xfrm>
            <a:off x="5527548" y="315468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21" name="Étape"/>
          <p:cNvSpPr/>
          <p:nvPr/>
        </p:nvSpPr>
        <p:spPr>
          <a:xfrm>
            <a:off x="5710428" y="3154680"/>
            <a:ext cx="882396" cy="731520"/>
          </a:xfrm>
          <a:prstGeom prst="roundRect">
            <a:avLst>
              <a:gd name="adj" fmla="val 10000"/>
            </a:avLst>
          </a:prstGeom>
          <a:solidFill>
            <a:srgbClr val="0D9488"/>
          </a:solidFill>
          <a:ln/>
        </p:spPr>
      </p:sp>
      <p:sp>
        <p:nvSpPr>
          <p:cNvPr id="22" name="Text 17"/>
          <p:cNvSpPr txBox="1"/>
          <p:nvPr/>
        </p:nvSpPr>
        <p:spPr>
          <a:xfrm>
            <a:off x="5710428" y="3154680"/>
            <a:ext cx="882396" cy="731520"/>
          </a:xfrm>
          <a:prstGeom prst="rect">
            <a:avLst/>
          </a:prstGeom>
          <a:noFill/>
          <a:ln/>
        </p:spPr>
        <p:txBody>
          <a:bodyPr wrap="square" lIns="508" tIns="508" rIns="508" bIns="508" rtlCol="0" anchor="ctr"/>
          <a:lstStyle/>
          <a:p>
            <a:pPr algn="ctr" indent="0" marL="0">
              <a:buNone/>
            </a:pPr>
            <a:r>
              <a:rPr lang="en-US" sz="1400" b="1" dirty="0">
                <a:solidFill>
                  <a:srgbClr val="FFFFFF"/>
                </a:solidFill>
              </a:rPr>
              <a:t>Registry</a:t>
            </a:r>
            <a:endParaRPr lang="en-US" sz="1400" dirty="0"/>
          </a:p>
        </p:txBody>
      </p:sp>
      <p:sp>
        <p:nvSpPr>
          <p:cNvPr id="23" name="Text 18"/>
          <p:cNvSpPr txBox="1"/>
          <p:nvPr/>
        </p:nvSpPr>
        <p:spPr>
          <a:xfrm>
            <a:off x="6574536" y="315468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24" name="Étape"/>
          <p:cNvSpPr/>
          <p:nvPr/>
        </p:nvSpPr>
        <p:spPr>
          <a:xfrm>
            <a:off x="6757416" y="3154680"/>
            <a:ext cx="882396" cy="731520"/>
          </a:xfrm>
          <a:prstGeom prst="roundRect">
            <a:avLst>
              <a:gd name="adj" fmla="val 10000"/>
            </a:avLst>
          </a:prstGeom>
          <a:solidFill>
            <a:srgbClr val="0D9488"/>
          </a:solidFill>
          <a:ln/>
        </p:spPr>
      </p:sp>
      <p:sp>
        <p:nvSpPr>
          <p:cNvPr id="25" name="Text 20"/>
          <p:cNvSpPr txBox="1"/>
          <p:nvPr/>
        </p:nvSpPr>
        <p:spPr>
          <a:xfrm>
            <a:off x="6757416" y="3154680"/>
            <a:ext cx="882396" cy="731520"/>
          </a:xfrm>
          <a:prstGeom prst="rect">
            <a:avLst/>
          </a:prstGeom>
          <a:noFill/>
          <a:ln/>
        </p:spPr>
        <p:txBody>
          <a:bodyPr wrap="square" lIns="508" tIns="508" rIns="508" bIns="508" rtlCol="0" anchor="ctr"/>
          <a:lstStyle/>
          <a:p>
            <a:pPr algn="ctr" indent="0" marL="0">
              <a:buNone/>
            </a:pPr>
            <a:r>
              <a:rPr lang="en-US" sz="1400" b="1" dirty="0">
                <a:solidFill>
                  <a:srgbClr val="FFFFFF"/>
                </a:solidFill>
              </a:rPr>
              <a:t>Pod</a:t>
            </a:r>
            <a:endParaRPr lang="en-US" sz="1400" dirty="0"/>
          </a:p>
        </p:txBody>
      </p:sp>
      <p:sp>
        <p:nvSpPr>
          <p:cNvPr id="26" name="Text 21"/>
          <p:cNvSpPr txBox="1"/>
          <p:nvPr/>
        </p:nvSpPr>
        <p:spPr>
          <a:xfrm>
            <a:off x="7621524" y="315468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27" name="Étape"/>
          <p:cNvSpPr/>
          <p:nvPr/>
        </p:nvSpPr>
        <p:spPr>
          <a:xfrm>
            <a:off x="7804404" y="3154680"/>
            <a:ext cx="882396" cy="731520"/>
          </a:xfrm>
          <a:prstGeom prst="roundRect">
            <a:avLst>
              <a:gd name="adj" fmla="val 10000"/>
            </a:avLst>
          </a:prstGeom>
          <a:solidFill>
            <a:srgbClr val="0D9488"/>
          </a:solidFill>
          <a:ln/>
        </p:spPr>
      </p:sp>
      <p:sp>
        <p:nvSpPr>
          <p:cNvPr id="28" name="Text 23"/>
          <p:cNvSpPr txBox="1"/>
          <p:nvPr/>
        </p:nvSpPr>
        <p:spPr>
          <a:xfrm>
            <a:off x="7804404" y="3154680"/>
            <a:ext cx="882396" cy="731520"/>
          </a:xfrm>
          <a:prstGeom prst="rect">
            <a:avLst/>
          </a:prstGeom>
          <a:noFill/>
          <a:ln/>
        </p:spPr>
        <p:txBody>
          <a:bodyPr wrap="square" lIns="508" tIns="508" rIns="508" bIns="508" rtlCol="0" anchor="ctr"/>
          <a:lstStyle/>
          <a:p>
            <a:pPr algn="ctr" indent="0" marL="0">
              <a:buNone/>
            </a:pPr>
            <a:r>
              <a:rPr lang="en-US" sz="1400" b="1" dirty="0">
                <a:solidFill>
                  <a:srgbClr val="FFFFFF"/>
                </a:solidFill>
              </a:rPr>
              <a:t>Service</a:t>
            </a:r>
            <a:endParaRPr lang="en-US" sz="1400" dirty="0"/>
          </a:p>
        </p:txBody>
      </p:sp>
      <p:sp>
        <p:nvSpPr>
          <p:cNvPr id="29" name="Text 24"/>
          <p:cNvSpPr txBox="1"/>
          <p:nvPr/>
        </p:nvSpPr>
        <p:spPr>
          <a:xfrm>
            <a:off x="4663440" y="3977640"/>
            <a:ext cx="4023360" cy="548640"/>
          </a:xfrm>
          <a:prstGeom prst="rect">
            <a:avLst/>
          </a:prstGeom>
          <a:noFill/>
          <a:ln/>
        </p:spPr>
        <p:txBody>
          <a:bodyPr wrap="square" lIns="0" tIns="0" rIns="0" bIns="0" rtlCol="0" anchor="t"/>
          <a:lstStyle/>
          <a:p>
            <a:pPr indent="0" marL="0">
              <a:buNone/>
            </a:pPr>
            <a:r>
              <a:rPr lang="en-US" sz="1300" dirty="0">
                <a:solidFill>
                  <a:srgbClr val="64748B"/>
                </a:solidFill>
              </a:rPr>
              <a:t>Image → registre → pods → exposé via un service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Schéma : architecture Kubernetes</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Noeud kubectl / CI"/>
          <p:cNvSpPr txBox="1"/>
          <p:nvPr/>
        </p:nvSpPr>
        <p:spPr>
          <a:xfrm>
            <a:off x="457200" y="1508760"/>
            <a:ext cx="1188720" cy="640080"/>
          </a:xfrm>
          <a:prstGeom prst="roundRect">
            <a:avLst>
              <a:gd name="adj" fmla="val 11429"/>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kubectl / CI</a:t>
            </a:r>
            <a:endParaRPr lang="en-US" sz="1200" dirty="0"/>
          </a:p>
        </p:txBody>
      </p:sp>
      <p:sp>
        <p:nvSpPr>
          <p:cNvPr id="7" name="Zone Control plane"/>
          <p:cNvSpPr/>
          <p:nvPr/>
        </p:nvSpPr>
        <p:spPr>
          <a:xfrm>
            <a:off x="1920240" y="1143000"/>
            <a:ext cx="2743200" cy="3108960"/>
          </a:xfrm>
          <a:prstGeom prst="roundRect">
            <a:avLst>
              <a:gd name="adj" fmla="val 2667"/>
            </a:avLst>
          </a:prstGeom>
          <a:solidFill>
            <a:srgbClr val="F8FAFC"/>
          </a:solidFill>
          <a:ln w="12700">
            <a:solidFill>
              <a:srgbClr val="CBD5E1"/>
            </a:solidFill>
            <a:prstDash val="dash"/>
          </a:ln>
        </p:spPr>
      </p:sp>
      <p:sp>
        <p:nvSpPr>
          <p:cNvPr id="8" name="Text 5"/>
          <p:cNvSpPr txBox="1"/>
          <p:nvPr/>
        </p:nvSpPr>
        <p:spPr>
          <a:xfrm>
            <a:off x="2029968" y="1188720"/>
            <a:ext cx="2523744" cy="256032"/>
          </a:xfrm>
          <a:prstGeom prst="rect">
            <a:avLst/>
          </a:prstGeom>
          <a:noFill/>
          <a:ln/>
        </p:spPr>
        <p:txBody>
          <a:bodyPr wrap="square" lIns="0" tIns="0" rIns="0" bIns="0" rtlCol="0" anchor="ctr"/>
          <a:lstStyle/>
          <a:p>
            <a:pPr algn="l" indent="0" marL="0">
              <a:buNone/>
            </a:pPr>
            <a:r>
              <a:rPr lang="en-US" sz="1100" b="1" dirty="0">
                <a:solidFill>
                  <a:srgbClr val="64748B"/>
                </a:solidFill>
              </a:rPr>
              <a:t>Control plane</a:t>
            </a:r>
            <a:endParaRPr lang="en-US" sz="1100" dirty="0"/>
          </a:p>
        </p:txBody>
      </p:sp>
      <p:sp>
        <p:nvSpPr>
          <p:cNvPr id="9" name="Noeud API Server"/>
          <p:cNvSpPr txBox="1"/>
          <p:nvPr/>
        </p:nvSpPr>
        <p:spPr>
          <a:xfrm>
            <a:off x="2103120" y="1554480"/>
            <a:ext cx="2377440" cy="548640"/>
          </a:xfrm>
          <a:prstGeom prst="roundRect">
            <a:avLst>
              <a:gd name="adj" fmla="val 13333"/>
            </a:avLst>
          </a:prstGeom>
          <a:solidFill>
            <a:srgbClr val="0F172A"/>
          </a:solidFill>
          <a:ln/>
        </p:spPr>
        <p:txBody>
          <a:bodyPr wrap="square" lIns="508" tIns="508" rIns="508" bIns="508" rtlCol="0" anchor="ctr"/>
          <a:lstStyle/>
          <a:p>
            <a:pPr algn="ctr" indent="0" marL="0">
              <a:buNone/>
            </a:pPr>
            <a:r>
              <a:rPr lang="en-US" sz="1300" b="1" dirty="0">
                <a:solidFill>
                  <a:srgbClr val="FFFFFF"/>
                </a:solidFill>
              </a:rPr>
              <a:t>API Server</a:t>
            </a:r>
            <a:endParaRPr lang="en-US" sz="1300" dirty="0"/>
          </a:p>
          <a:p>
            <a:pPr algn="ctr" indent="0" marL="0">
              <a:buNone/>
            </a:pPr>
            <a:r>
              <a:rPr lang="en-US" sz="1100" dirty="0">
                <a:solidFill>
                  <a:srgbClr val="FFFFFF"/>
                </a:solidFill>
              </a:rPr>
              <a:t>point d'entrée unique</a:t>
            </a:r>
            <a:endParaRPr lang="en-US" sz="1300" dirty="0"/>
          </a:p>
        </p:txBody>
      </p:sp>
      <p:sp>
        <p:nvSpPr>
          <p:cNvPr id="10" name="Noeud etcd"/>
          <p:cNvSpPr txBox="1"/>
          <p:nvPr/>
        </p:nvSpPr>
        <p:spPr>
          <a:xfrm>
            <a:off x="2103120" y="2286000"/>
            <a:ext cx="1097280" cy="548640"/>
          </a:xfrm>
          <a:prstGeom prst="roundRect">
            <a:avLst>
              <a:gd name="adj" fmla="val 13333"/>
            </a:avLst>
          </a:prstGeom>
          <a:solidFill>
            <a:srgbClr val="7C3AED"/>
          </a:solidFill>
          <a:ln/>
        </p:spPr>
        <p:txBody>
          <a:bodyPr wrap="square" lIns="508" tIns="508" rIns="508" bIns="508" rtlCol="0" anchor="ctr"/>
          <a:lstStyle/>
          <a:p>
            <a:pPr algn="ctr" indent="0" marL="0">
              <a:buNone/>
            </a:pPr>
            <a:r>
              <a:rPr lang="en-US" sz="1200" b="1" dirty="0">
                <a:solidFill>
                  <a:srgbClr val="FFFFFF"/>
                </a:solidFill>
              </a:rPr>
              <a:t>etcd</a:t>
            </a:r>
            <a:endParaRPr lang="en-US" sz="1200" dirty="0"/>
          </a:p>
          <a:p>
            <a:pPr algn="ctr" indent="0" marL="0">
              <a:buNone/>
            </a:pPr>
            <a:r>
              <a:rPr lang="en-US" sz="1100" dirty="0">
                <a:solidFill>
                  <a:srgbClr val="FFFFFF"/>
                </a:solidFill>
              </a:rPr>
              <a:t>état du cluster</a:t>
            </a:r>
            <a:endParaRPr lang="en-US" sz="1200" dirty="0"/>
          </a:p>
        </p:txBody>
      </p:sp>
      <p:sp>
        <p:nvSpPr>
          <p:cNvPr id="11" name="Noeud Scheduler"/>
          <p:cNvSpPr txBox="1"/>
          <p:nvPr/>
        </p:nvSpPr>
        <p:spPr>
          <a:xfrm>
            <a:off x="3383280" y="2286000"/>
            <a:ext cx="1097280" cy="548640"/>
          </a:xfrm>
          <a:prstGeom prst="roundRect">
            <a:avLst>
              <a:gd name="adj" fmla="val 13333"/>
            </a:avLst>
          </a:prstGeom>
          <a:solidFill>
            <a:srgbClr val="0EA5E9"/>
          </a:solidFill>
          <a:ln/>
        </p:spPr>
        <p:txBody>
          <a:bodyPr wrap="square" lIns="508" tIns="508" rIns="508" bIns="508" rtlCol="0" anchor="ctr"/>
          <a:lstStyle/>
          <a:p>
            <a:pPr algn="ctr" indent="0" marL="0">
              <a:buNone/>
            </a:pPr>
            <a:r>
              <a:rPr lang="en-US" sz="1200" b="1" dirty="0">
                <a:solidFill>
                  <a:srgbClr val="FFFFFF"/>
                </a:solidFill>
              </a:rPr>
              <a:t>Scheduler</a:t>
            </a:r>
            <a:endParaRPr lang="en-US" sz="1200" dirty="0"/>
          </a:p>
          <a:p>
            <a:pPr algn="ctr" indent="0" marL="0">
              <a:buNone/>
            </a:pPr>
            <a:r>
              <a:rPr lang="en-US" sz="1100" dirty="0">
                <a:solidFill>
                  <a:srgbClr val="FFFFFF"/>
                </a:solidFill>
              </a:rPr>
              <a:t>placement</a:t>
            </a:r>
            <a:endParaRPr lang="en-US" sz="1200" dirty="0"/>
          </a:p>
        </p:txBody>
      </p:sp>
      <p:sp>
        <p:nvSpPr>
          <p:cNvPr id="12" name="Noeud Controller manager"/>
          <p:cNvSpPr txBox="1"/>
          <p:nvPr/>
        </p:nvSpPr>
        <p:spPr>
          <a:xfrm>
            <a:off x="2103120" y="3017520"/>
            <a:ext cx="2377440" cy="548640"/>
          </a:xfrm>
          <a:prstGeom prst="roundRect">
            <a:avLst>
              <a:gd name="adj" fmla="val 13333"/>
            </a:avLst>
          </a:prstGeom>
          <a:solidFill>
            <a:srgbClr val="F97316"/>
          </a:solidFill>
          <a:ln/>
        </p:spPr>
        <p:txBody>
          <a:bodyPr wrap="square" lIns="508" tIns="508" rIns="508" bIns="508" rtlCol="0" anchor="ctr"/>
          <a:lstStyle/>
          <a:p>
            <a:pPr algn="ctr" indent="0" marL="0">
              <a:buNone/>
            </a:pPr>
            <a:r>
              <a:rPr lang="en-US" sz="1300" b="1" dirty="0">
                <a:solidFill>
                  <a:srgbClr val="FFFFFF"/>
                </a:solidFill>
              </a:rPr>
              <a:t>Controller manager</a:t>
            </a:r>
            <a:endParaRPr lang="en-US" sz="1300" dirty="0"/>
          </a:p>
          <a:p>
            <a:pPr algn="ctr" indent="0" marL="0">
              <a:buNone/>
            </a:pPr>
            <a:r>
              <a:rPr lang="en-US" sz="1100" dirty="0">
                <a:solidFill>
                  <a:srgbClr val="FFFFFF"/>
                </a:solidFill>
              </a:rPr>
              <a:t>boucles de contrôle</a:t>
            </a:r>
            <a:endParaRPr lang="en-US" sz="1300" dirty="0"/>
          </a:p>
        </p:txBody>
      </p:sp>
      <p:sp>
        <p:nvSpPr>
          <p:cNvPr id="13" name="Zone Nœud worker 1"/>
          <p:cNvSpPr/>
          <p:nvPr/>
        </p:nvSpPr>
        <p:spPr>
          <a:xfrm>
            <a:off x="5029200" y="1143000"/>
            <a:ext cx="3657600" cy="1463040"/>
          </a:xfrm>
          <a:prstGeom prst="roundRect">
            <a:avLst>
              <a:gd name="adj" fmla="val 5000"/>
            </a:avLst>
          </a:prstGeom>
          <a:solidFill>
            <a:srgbClr val="F8FAFC"/>
          </a:solidFill>
          <a:ln w="12700">
            <a:solidFill>
              <a:srgbClr val="CBD5E1"/>
            </a:solidFill>
            <a:prstDash val="dash"/>
          </a:ln>
        </p:spPr>
      </p:sp>
      <p:sp>
        <p:nvSpPr>
          <p:cNvPr id="14" name="Text 11"/>
          <p:cNvSpPr txBox="1"/>
          <p:nvPr/>
        </p:nvSpPr>
        <p:spPr>
          <a:xfrm>
            <a:off x="5138928" y="1188720"/>
            <a:ext cx="3438144" cy="256032"/>
          </a:xfrm>
          <a:prstGeom prst="rect">
            <a:avLst/>
          </a:prstGeom>
          <a:noFill/>
          <a:ln/>
        </p:spPr>
        <p:txBody>
          <a:bodyPr wrap="square" lIns="0" tIns="0" rIns="0" bIns="0" rtlCol="0" anchor="ctr"/>
          <a:lstStyle/>
          <a:p>
            <a:pPr algn="l" indent="0" marL="0">
              <a:buNone/>
            </a:pPr>
            <a:r>
              <a:rPr lang="en-US" sz="1100" b="1" dirty="0">
                <a:solidFill>
                  <a:srgbClr val="64748B"/>
                </a:solidFill>
              </a:rPr>
              <a:t>Nœud worker 1</a:t>
            </a:r>
            <a:endParaRPr lang="en-US" sz="1100" dirty="0"/>
          </a:p>
        </p:txBody>
      </p:sp>
      <p:sp>
        <p:nvSpPr>
          <p:cNvPr id="15" name="Noeud kubelet"/>
          <p:cNvSpPr txBox="1"/>
          <p:nvPr/>
        </p:nvSpPr>
        <p:spPr>
          <a:xfrm>
            <a:off x="5166360" y="1508760"/>
            <a:ext cx="1554480" cy="502920"/>
          </a:xfrm>
          <a:prstGeom prst="roundRect">
            <a:avLst>
              <a:gd name="adj" fmla="val 14545"/>
            </a:avLst>
          </a:prstGeom>
          <a:solidFill>
            <a:srgbClr val="0F172A"/>
          </a:solidFill>
          <a:ln/>
        </p:spPr>
        <p:txBody>
          <a:bodyPr wrap="square" lIns="508" tIns="508" rIns="508" bIns="508" rtlCol="0" anchor="ctr"/>
          <a:lstStyle/>
          <a:p>
            <a:pPr algn="ctr" indent="0" marL="0">
              <a:buNone/>
            </a:pPr>
            <a:r>
              <a:rPr lang="en-US" sz="1200" b="1" dirty="0">
                <a:solidFill>
                  <a:srgbClr val="FFFFFF"/>
                </a:solidFill>
              </a:rPr>
              <a:t>kubelet</a:t>
            </a:r>
            <a:endParaRPr lang="en-US" sz="1200" dirty="0"/>
          </a:p>
        </p:txBody>
      </p:sp>
      <p:sp>
        <p:nvSpPr>
          <p:cNvPr id="16" name="Noeud kube-proxy"/>
          <p:cNvSpPr txBox="1"/>
          <p:nvPr/>
        </p:nvSpPr>
        <p:spPr>
          <a:xfrm>
            <a:off x="6903720" y="1508760"/>
            <a:ext cx="1645920" cy="502920"/>
          </a:xfrm>
          <a:prstGeom prst="roundRect">
            <a:avLst>
              <a:gd name="adj" fmla="val 14545"/>
            </a:avLst>
          </a:prstGeom>
          <a:solidFill>
            <a:srgbClr val="64748B"/>
          </a:solidFill>
          <a:ln/>
        </p:spPr>
        <p:txBody>
          <a:bodyPr wrap="square" lIns="508" tIns="508" rIns="508" bIns="508" rtlCol="0" anchor="ctr"/>
          <a:lstStyle/>
          <a:p>
            <a:pPr algn="ctr" indent="0" marL="0">
              <a:buNone/>
            </a:pPr>
            <a:r>
              <a:rPr lang="en-US" sz="1200" b="1" dirty="0">
                <a:solidFill>
                  <a:srgbClr val="FFFFFF"/>
                </a:solidFill>
              </a:rPr>
              <a:t>kube-proxy</a:t>
            </a:r>
            <a:endParaRPr lang="en-US" sz="1200" dirty="0"/>
          </a:p>
        </p:txBody>
      </p:sp>
      <p:sp>
        <p:nvSpPr>
          <p:cNvPr id="17" name="Noeud Pod"/>
          <p:cNvSpPr txBox="1"/>
          <p:nvPr/>
        </p:nvSpPr>
        <p:spPr>
          <a:xfrm>
            <a:off x="5166360" y="2103120"/>
            <a:ext cx="960120" cy="384048"/>
          </a:xfrm>
          <a:prstGeom prst="roundRect">
            <a:avLst>
              <a:gd name="adj" fmla="val 19048"/>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Pod</a:t>
            </a:r>
            <a:endParaRPr lang="en-US" sz="1200" dirty="0"/>
          </a:p>
        </p:txBody>
      </p:sp>
      <p:sp>
        <p:nvSpPr>
          <p:cNvPr id="18" name="Noeud Pod"/>
          <p:cNvSpPr txBox="1"/>
          <p:nvPr/>
        </p:nvSpPr>
        <p:spPr>
          <a:xfrm>
            <a:off x="6263640" y="2103120"/>
            <a:ext cx="960120" cy="384048"/>
          </a:xfrm>
          <a:prstGeom prst="roundRect">
            <a:avLst>
              <a:gd name="adj" fmla="val 19048"/>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Pod</a:t>
            </a:r>
            <a:endParaRPr lang="en-US" sz="1200" dirty="0"/>
          </a:p>
        </p:txBody>
      </p:sp>
      <p:sp>
        <p:nvSpPr>
          <p:cNvPr id="19" name="Noeud Pod"/>
          <p:cNvSpPr txBox="1"/>
          <p:nvPr/>
        </p:nvSpPr>
        <p:spPr>
          <a:xfrm>
            <a:off x="7360920" y="2103120"/>
            <a:ext cx="960120" cy="384048"/>
          </a:xfrm>
          <a:prstGeom prst="roundRect">
            <a:avLst>
              <a:gd name="adj" fmla="val 19048"/>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Pod</a:t>
            </a:r>
            <a:endParaRPr lang="en-US" sz="1200" dirty="0"/>
          </a:p>
        </p:txBody>
      </p:sp>
      <p:sp>
        <p:nvSpPr>
          <p:cNvPr id="20" name="Zone Nœud worker 2"/>
          <p:cNvSpPr/>
          <p:nvPr/>
        </p:nvSpPr>
        <p:spPr>
          <a:xfrm>
            <a:off x="5029200" y="2743200"/>
            <a:ext cx="3657600" cy="1463040"/>
          </a:xfrm>
          <a:prstGeom prst="roundRect">
            <a:avLst>
              <a:gd name="adj" fmla="val 5000"/>
            </a:avLst>
          </a:prstGeom>
          <a:solidFill>
            <a:srgbClr val="F8FAFC"/>
          </a:solidFill>
          <a:ln w="12700">
            <a:solidFill>
              <a:srgbClr val="CBD5E1"/>
            </a:solidFill>
            <a:prstDash val="dash"/>
          </a:ln>
        </p:spPr>
      </p:sp>
      <p:sp>
        <p:nvSpPr>
          <p:cNvPr id="21" name="Text 18"/>
          <p:cNvSpPr txBox="1"/>
          <p:nvPr/>
        </p:nvSpPr>
        <p:spPr>
          <a:xfrm>
            <a:off x="5138928" y="2788920"/>
            <a:ext cx="3438144" cy="256032"/>
          </a:xfrm>
          <a:prstGeom prst="rect">
            <a:avLst/>
          </a:prstGeom>
          <a:noFill/>
          <a:ln/>
        </p:spPr>
        <p:txBody>
          <a:bodyPr wrap="square" lIns="0" tIns="0" rIns="0" bIns="0" rtlCol="0" anchor="ctr"/>
          <a:lstStyle/>
          <a:p>
            <a:pPr algn="l" indent="0" marL="0">
              <a:buNone/>
            </a:pPr>
            <a:r>
              <a:rPr lang="en-US" sz="1100" b="1" dirty="0">
                <a:solidFill>
                  <a:srgbClr val="64748B"/>
                </a:solidFill>
              </a:rPr>
              <a:t>Nœud worker 2</a:t>
            </a:r>
            <a:endParaRPr lang="en-US" sz="1100" dirty="0"/>
          </a:p>
        </p:txBody>
      </p:sp>
      <p:sp>
        <p:nvSpPr>
          <p:cNvPr id="22" name="Noeud kubelet"/>
          <p:cNvSpPr txBox="1"/>
          <p:nvPr/>
        </p:nvSpPr>
        <p:spPr>
          <a:xfrm>
            <a:off x="5166360" y="3108960"/>
            <a:ext cx="1554480" cy="502920"/>
          </a:xfrm>
          <a:prstGeom prst="roundRect">
            <a:avLst>
              <a:gd name="adj" fmla="val 14545"/>
            </a:avLst>
          </a:prstGeom>
          <a:solidFill>
            <a:srgbClr val="0F172A"/>
          </a:solidFill>
          <a:ln/>
        </p:spPr>
        <p:txBody>
          <a:bodyPr wrap="square" lIns="508" tIns="508" rIns="508" bIns="508" rtlCol="0" anchor="ctr"/>
          <a:lstStyle/>
          <a:p>
            <a:pPr algn="ctr" indent="0" marL="0">
              <a:buNone/>
            </a:pPr>
            <a:r>
              <a:rPr lang="en-US" sz="1200" b="1" dirty="0">
                <a:solidFill>
                  <a:srgbClr val="FFFFFF"/>
                </a:solidFill>
              </a:rPr>
              <a:t>kubelet</a:t>
            </a:r>
            <a:endParaRPr lang="en-US" sz="1200" dirty="0"/>
          </a:p>
        </p:txBody>
      </p:sp>
      <p:sp>
        <p:nvSpPr>
          <p:cNvPr id="23" name="Noeud kube-proxy"/>
          <p:cNvSpPr txBox="1"/>
          <p:nvPr/>
        </p:nvSpPr>
        <p:spPr>
          <a:xfrm>
            <a:off x="6903720" y="3108960"/>
            <a:ext cx="1645920" cy="502920"/>
          </a:xfrm>
          <a:prstGeom prst="roundRect">
            <a:avLst>
              <a:gd name="adj" fmla="val 14545"/>
            </a:avLst>
          </a:prstGeom>
          <a:solidFill>
            <a:srgbClr val="64748B"/>
          </a:solidFill>
          <a:ln/>
        </p:spPr>
        <p:txBody>
          <a:bodyPr wrap="square" lIns="508" tIns="508" rIns="508" bIns="508" rtlCol="0" anchor="ctr"/>
          <a:lstStyle/>
          <a:p>
            <a:pPr algn="ctr" indent="0" marL="0">
              <a:buNone/>
            </a:pPr>
            <a:r>
              <a:rPr lang="en-US" sz="1200" b="1" dirty="0">
                <a:solidFill>
                  <a:srgbClr val="FFFFFF"/>
                </a:solidFill>
              </a:rPr>
              <a:t>kube-proxy</a:t>
            </a:r>
            <a:endParaRPr lang="en-US" sz="1200" dirty="0"/>
          </a:p>
        </p:txBody>
      </p:sp>
      <p:sp>
        <p:nvSpPr>
          <p:cNvPr id="24" name="Noeud Pod"/>
          <p:cNvSpPr txBox="1"/>
          <p:nvPr/>
        </p:nvSpPr>
        <p:spPr>
          <a:xfrm>
            <a:off x="5166360" y="3703320"/>
            <a:ext cx="960120" cy="384048"/>
          </a:xfrm>
          <a:prstGeom prst="roundRect">
            <a:avLst>
              <a:gd name="adj" fmla="val 19048"/>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Pod</a:t>
            </a:r>
            <a:endParaRPr lang="en-US" sz="1200" dirty="0"/>
          </a:p>
        </p:txBody>
      </p:sp>
      <p:sp>
        <p:nvSpPr>
          <p:cNvPr id="25" name="Noeud Pod"/>
          <p:cNvSpPr txBox="1"/>
          <p:nvPr/>
        </p:nvSpPr>
        <p:spPr>
          <a:xfrm>
            <a:off x="6263640" y="3703320"/>
            <a:ext cx="960120" cy="384048"/>
          </a:xfrm>
          <a:prstGeom prst="roundRect">
            <a:avLst>
              <a:gd name="adj" fmla="val 19048"/>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Pod</a:t>
            </a:r>
            <a:endParaRPr lang="en-US" sz="1200" dirty="0"/>
          </a:p>
        </p:txBody>
      </p:sp>
      <p:sp>
        <p:nvSpPr>
          <p:cNvPr id="26" name="Noeud Pod"/>
          <p:cNvSpPr txBox="1"/>
          <p:nvPr/>
        </p:nvSpPr>
        <p:spPr>
          <a:xfrm>
            <a:off x="7360920" y="3703320"/>
            <a:ext cx="960120" cy="384048"/>
          </a:xfrm>
          <a:prstGeom prst="roundRect">
            <a:avLst>
              <a:gd name="adj" fmla="val 19048"/>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Pod</a:t>
            </a:r>
            <a:endParaRPr lang="en-US" sz="1200" dirty="0"/>
          </a:p>
        </p:txBody>
      </p:sp>
      <p:sp>
        <p:nvSpPr>
          <p:cNvPr id="27" name="Flèche"/>
          <p:cNvSpPr/>
          <p:nvPr/>
        </p:nvSpPr>
        <p:spPr>
          <a:xfrm>
            <a:off x="1645920" y="1828800"/>
            <a:ext cx="457200" cy="0"/>
          </a:xfrm>
          <a:prstGeom prst="line">
            <a:avLst/>
          </a:prstGeom>
          <a:noFill/>
          <a:ln w="22225">
            <a:solidFill>
              <a:srgbClr val="64748B"/>
            </a:solidFill>
            <a:prstDash val="solid"/>
            <a:tailEnd type="triangle"/>
          </a:ln>
        </p:spPr>
      </p:sp>
      <p:sp>
        <p:nvSpPr>
          <p:cNvPr id="28" name="Flèche"/>
          <p:cNvSpPr/>
          <p:nvPr/>
        </p:nvSpPr>
        <p:spPr>
          <a:xfrm>
            <a:off x="4663440" y="1874520"/>
            <a:ext cx="365760" cy="0"/>
          </a:xfrm>
          <a:prstGeom prst="line">
            <a:avLst/>
          </a:prstGeom>
          <a:noFill/>
          <a:ln w="22225">
            <a:solidFill>
              <a:srgbClr val="64748B"/>
            </a:solidFill>
            <a:prstDash val="solid"/>
            <a:tailEnd type="triangle"/>
          </a:ln>
        </p:spPr>
      </p:sp>
      <p:sp>
        <p:nvSpPr>
          <p:cNvPr id="29" name="Flèche"/>
          <p:cNvSpPr/>
          <p:nvPr/>
        </p:nvSpPr>
        <p:spPr>
          <a:xfrm>
            <a:off x="4663440" y="3474720"/>
            <a:ext cx="365760" cy="0"/>
          </a:xfrm>
          <a:prstGeom prst="line">
            <a:avLst/>
          </a:prstGeom>
          <a:noFill/>
          <a:ln w="22225">
            <a:solidFill>
              <a:srgbClr val="64748B"/>
            </a:solidFill>
            <a:prstDash val="solid"/>
            <a:tailEnd type="triangle"/>
          </a:ln>
        </p:spPr>
      </p:sp>
      <p:sp>
        <p:nvSpPr>
          <p:cNvPr id="30" name="Text 27"/>
          <p:cNvSpPr txBox="1"/>
          <p:nvPr/>
        </p:nvSpPr>
        <p:spPr>
          <a:xfrm>
            <a:off x="457200" y="4343400"/>
            <a:ext cx="8229600" cy="320040"/>
          </a:xfrm>
          <a:prstGeom prst="rect">
            <a:avLst/>
          </a:prstGeom>
          <a:noFill/>
          <a:ln/>
        </p:spPr>
        <p:txBody>
          <a:bodyPr wrap="square" lIns="0" tIns="0" rIns="0" bIns="0" rtlCol="0" anchor="ctr"/>
          <a:lstStyle/>
          <a:p>
            <a:pPr algn="ctr" indent="0" marL="0">
              <a:buNone/>
            </a:pPr>
            <a:r>
              <a:rPr lang="en-US" sz="1300" dirty="0">
                <a:solidFill>
                  <a:srgbClr val="64748B"/>
                </a:solidFill>
              </a:rPr>
              <a:t>Les nœuds worker exécutent les conteneurs ; le control plane décide de l'état voulu.</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Stratégies de déploiement</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Shape 3"/>
          <p:cNvSpPr/>
          <p:nvPr/>
        </p:nvSpPr>
        <p:spPr>
          <a:xfrm>
            <a:off x="457200" y="1280160"/>
            <a:ext cx="2651760" cy="548640"/>
          </a:xfrm>
          <a:prstGeom prst="roundRect">
            <a:avLst>
              <a:gd name="adj" fmla="val 13333"/>
            </a:avLst>
          </a:prstGeom>
          <a:solidFill>
            <a:srgbClr val="0D9488"/>
          </a:solidFill>
          <a:ln/>
        </p:spPr>
      </p:sp>
      <p:sp>
        <p:nvSpPr>
          <p:cNvPr id="7" name="Text 4"/>
          <p:cNvSpPr txBox="1"/>
          <p:nvPr/>
        </p:nvSpPr>
        <p:spPr>
          <a:xfrm>
            <a:off x="457200" y="1280160"/>
            <a:ext cx="2651760" cy="548640"/>
          </a:xfrm>
          <a:prstGeom prst="rect">
            <a:avLst/>
          </a:prstGeom>
          <a:noFill/>
          <a:ln/>
        </p:spPr>
        <p:txBody>
          <a:bodyPr wrap="square" lIns="0" tIns="0" rIns="0" bIns="0" rtlCol="0" anchor="ctr"/>
          <a:lstStyle/>
          <a:p>
            <a:pPr algn="ctr" indent="0" marL="0">
              <a:buNone/>
            </a:pPr>
            <a:r>
              <a:rPr lang="en-US" sz="1600" b="1" dirty="0">
                <a:solidFill>
                  <a:srgbClr val="FFFFFF"/>
                </a:solidFill>
              </a:rPr>
              <a:t>Rolling update</a:t>
            </a:r>
            <a:endParaRPr lang="en-US" sz="1600" dirty="0"/>
          </a:p>
        </p:txBody>
      </p:sp>
      <p:sp>
        <p:nvSpPr>
          <p:cNvPr id="8" name="Shape 5"/>
          <p:cNvSpPr/>
          <p:nvPr/>
        </p:nvSpPr>
        <p:spPr>
          <a:xfrm>
            <a:off x="457200" y="1920240"/>
            <a:ext cx="2651760" cy="2560320"/>
          </a:xfrm>
          <a:prstGeom prst="roundRect">
            <a:avLst>
              <a:gd name="adj" fmla="val 2857"/>
            </a:avLst>
          </a:prstGeom>
          <a:solidFill>
            <a:srgbClr val="F1F5F9"/>
          </a:solidFill>
          <a:ln/>
        </p:spPr>
      </p:sp>
      <p:sp>
        <p:nvSpPr>
          <p:cNvPr id="9" name="Text 6"/>
          <p:cNvSpPr txBox="1"/>
          <p:nvPr/>
        </p:nvSpPr>
        <p:spPr>
          <a:xfrm>
            <a:off x="594360" y="2011680"/>
            <a:ext cx="2377440" cy="2377440"/>
          </a:xfrm>
          <a:prstGeom prst="rect">
            <a:avLst/>
          </a:prstGeom>
          <a:noFill/>
          <a:ln/>
        </p:spPr>
        <p:txBody>
          <a:bodyPr wrap="square" lIns="0" tIns="0" rIns="0" bIns="0" rtlCol="0" anchor="t"/>
          <a:lstStyle/>
          <a:p>
            <a:pPr indent="0" marL="0">
              <a:spcAft>
                <a:spcPts val="600"/>
              </a:spcAft>
              <a:buNone/>
            </a:pPr>
            <a:r>
              <a:rPr lang="en-US" sz="1400" dirty="0">
                <a:solidFill>
                  <a:srgbClr val="1E293B"/>
                </a:solidFill>
              </a:rPr>
              <a:t>Remplace les instances une par une.</a:t>
            </a:r>
            <a:endParaRPr lang="en-US" sz="1400" dirty="0"/>
          </a:p>
          <a:p>
            <a:pPr indent="0" marL="0">
              <a:spcAft>
                <a:spcPts val="600"/>
              </a:spcAft>
              <a:buNone/>
            </a:pPr>
            <a:r>
              <a:rPr lang="en-US" sz="1400" dirty="0">
                <a:solidFill>
                  <a:srgbClr val="1E293B"/>
                </a:solidFill>
              </a:rPr>
              <a:t>+ simple, sans coupure</a:t>
            </a:r>
            <a:endParaRPr lang="en-US" sz="1400" dirty="0"/>
          </a:p>
          <a:p>
            <a:pPr indent="0" marL="0">
              <a:spcAft>
                <a:spcPts val="600"/>
              </a:spcAft>
              <a:buNone/>
            </a:pPr>
            <a:r>
              <a:rPr lang="en-US" sz="1400" dirty="0">
                <a:solidFill>
                  <a:srgbClr val="1E293B"/>
                </a:solidFill>
              </a:rPr>
              <a:t>− rollback plus lent</a:t>
            </a:r>
            <a:endParaRPr lang="en-US" sz="1400" dirty="0"/>
          </a:p>
        </p:txBody>
      </p:sp>
      <p:sp>
        <p:nvSpPr>
          <p:cNvPr id="10" name="Shape 7"/>
          <p:cNvSpPr/>
          <p:nvPr/>
        </p:nvSpPr>
        <p:spPr>
          <a:xfrm>
            <a:off x="3246120" y="1280160"/>
            <a:ext cx="2651760" cy="548640"/>
          </a:xfrm>
          <a:prstGeom prst="roundRect">
            <a:avLst>
              <a:gd name="adj" fmla="val 13333"/>
            </a:avLst>
          </a:prstGeom>
          <a:solidFill>
            <a:srgbClr val="0EA5E9"/>
          </a:solidFill>
          <a:ln/>
        </p:spPr>
      </p:sp>
      <p:sp>
        <p:nvSpPr>
          <p:cNvPr id="11" name="Text 8"/>
          <p:cNvSpPr txBox="1"/>
          <p:nvPr/>
        </p:nvSpPr>
        <p:spPr>
          <a:xfrm>
            <a:off x="3246120" y="1280160"/>
            <a:ext cx="2651760" cy="548640"/>
          </a:xfrm>
          <a:prstGeom prst="rect">
            <a:avLst/>
          </a:prstGeom>
          <a:noFill/>
          <a:ln/>
        </p:spPr>
        <p:txBody>
          <a:bodyPr wrap="square" lIns="0" tIns="0" rIns="0" bIns="0" rtlCol="0" anchor="ctr"/>
          <a:lstStyle/>
          <a:p>
            <a:pPr algn="ctr" indent="0" marL="0">
              <a:buNone/>
            </a:pPr>
            <a:r>
              <a:rPr lang="en-US" sz="1600" b="1" dirty="0">
                <a:solidFill>
                  <a:srgbClr val="FFFFFF"/>
                </a:solidFill>
              </a:rPr>
              <a:t>Blue / Green</a:t>
            </a:r>
            <a:endParaRPr lang="en-US" sz="1600" dirty="0"/>
          </a:p>
        </p:txBody>
      </p:sp>
      <p:sp>
        <p:nvSpPr>
          <p:cNvPr id="12" name="Shape 9"/>
          <p:cNvSpPr/>
          <p:nvPr/>
        </p:nvSpPr>
        <p:spPr>
          <a:xfrm>
            <a:off x="3246120" y="1920240"/>
            <a:ext cx="2651760" cy="2560320"/>
          </a:xfrm>
          <a:prstGeom prst="roundRect">
            <a:avLst>
              <a:gd name="adj" fmla="val 2857"/>
            </a:avLst>
          </a:prstGeom>
          <a:solidFill>
            <a:srgbClr val="F1F5F9"/>
          </a:solidFill>
          <a:ln/>
        </p:spPr>
      </p:sp>
      <p:sp>
        <p:nvSpPr>
          <p:cNvPr id="13" name="Text 10"/>
          <p:cNvSpPr txBox="1"/>
          <p:nvPr/>
        </p:nvSpPr>
        <p:spPr>
          <a:xfrm>
            <a:off x="3383280" y="2011680"/>
            <a:ext cx="2377440" cy="2377440"/>
          </a:xfrm>
          <a:prstGeom prst="rect">
            <a:avLst/>
          </a:prstGeom>
          <a:noFill/>
          <a:ln/>
        </p:spPr>
        <p:txBody>
          <a:bodyPr wrap="square" lIns="0" tIns="0" rIns="0" bIns="0" rtlCol="0" anchor="t"/>
          <a:lstStyle/>
          <a:p>
            <a:pPr indent="0" marL="0">
              <a:spcAft>
                <a:spcPts val="600"/>
              </a:spcAft>
              <a:buNone/>
            </a:pPr>
            <a:r>
              <a:rPr lang="en-US" sz="1400" dirty="0">
                <a:solidFill>
                  <a:srgbClr val="1E293B"/>
                </a:solidFill>
              </a:rPr>
              <a:t>Deux environnements : on bascule le trafic d'un coup.</a:t>
            </a:r>
            <a:endParaRPr lang="en-US" sz="1400" dirty="0"/>
          </a:p>
          <a:p>
            <a:pPr indent="0" marL="0">
              <a:spcAft>
                <a:spcPts val="600"/>
              </a:spcAft>
              <a:buNone/>
            </a:pPr>
            <a:r>
              <a:rPr lang="en-US" sz="1400" dirty="0">
                <a:solidFill>
                  <a:srgbClr val="1E293B"/>
                </a:solidFill>
              </a:rPr>
              <a:t>+ rollback instantané</a:t>
            </a:r>
            <a:endParaRPr lang="en-US" sz="1400" dirty="0"/>
          </a:p>
          <a:p>
            <a:pPr indent="0" marL="0">
              <a:spcAft>
                <a:spcPts val="600"/>
              </a:spcAft>
              <a:buNone/>
            </a:pPr>
            <a:r>
              <a:rPr lang="en-US" sz="1400" dirty="0">
                <a:solidFill>
                  <a:srgbClr val="1E293B"/>
                </a:solidFill>
              </a:rPr>
              <a:t>− coût doublé</a:t>
            </a:r>
            <a:endParaRPr lang="en-US" sz="1400" dirty="0"/>
          </a:p>
        </p:txBody>
      </p:sp>
      <p:sp>
        <p:nvSpPr>
          <p:cNvPr id="14" name="Shape 11"/>
          <p:cNvSpPr/>
          <p:nvPr/>
        </p:nvSpPr>
        <p:spPr>
          <a:xfrm>
            <a:off x="6035040" y="1280160"/>
            <a:ext cx="2651760" cy="548640"/>
          </a:xfrm>
          <a:prstGeom prst="roundRect">
            <a:avLst>
              <a:gd name="adj" fmla="val 13333"/>
            </a:avLst>
          </a:prstGeom>
          <a:solidFill>
            <a:srgbClr val="F97316"/>
          </a:solidFill>
          <a:ln/>
        </p:spPr>
      </p:sp>
      <p:sp>
        <p:nvSpPr>
          <p:cNvPr id="15" name="Text 12"/>
          <p:cNvSpPr txBox="1"/>
          <p:nvPr/>
        </p:nvSpPr>
        <p:spPr>
          <a:xfrm>
            <a:off x="6035040" y="1280160"/>
            <a:ext cx="2651760" cy="548640"/>
          </a:xfrm>
          <a:prstGeom prst="rect">
            <a:avLst/>
          </a:prstGeom>
          <a:noFill/>
          <a:ln/>
        </p:spPr>
        <p:txBody>
          <a:bodyPr wrap="square" lIns="0" tIns="0" rIns="0" bIns="0" rtlCol="0" anchor="ctr"/>
          <a:lstStyle/>
          <a:p>
            <a:pPr algn="ctr" indent="0" marL="0">
              <a:buNone/>
            </a:pPr>
            <a:r>
              <a:rPr lang="en-US" sz="1600" b="1" dirty="0">
                <a:solidFill>
                  <a:srgbClr val="FFFFFF"/>
                </a:solidFill>
              </a:rPr>
              <a:t>Canary</a:t>
            </a:r>
            <a:endParaRPr lang="en-US" sz="1600" dirty="0"/>
          </a:p>
        </p:txBody>
      </p:sp>
      <p:sp>
        <p:nvSpPr>
          <p:cNvPr id="16" name="Shape 13"/>
          <p:cNvSpPr/>
          <p:nvPr/>
        </p:nvSpPr>
        <p:spPr>
          <a:xfrm>
            <a:off x="6035040" y="1920240"/>
            <a:ext cx="2651760" cy="2560320"/>
          </a:xfrm>
          <a:prstGeom prst="roundRect">
            <a:avLst>
              <a:gd name="adj" fmla="val 2857"/>
            </a:avLst>
          </a:prstGeom>
          <a:solidFill>
            <a:srgbClr val="F1F5F9"/>
          </a:solidFill>
          <a:ln/>
        </p:spPr>
      </p:sp>
      <p:sp>
        <p:nvSpPr>
          <p:cNvPr id="17" name="Text 14"/>
          <p:cNvSpPr txBox="1"/>
          <p:nvPr/>
        </p:nvSpPr>
        <p:spPr>
          <a:xfrm>
            <a:off x="6172200" y="2011680"/>
            <a:ext cx="2377440" cy="2377440"/>
          </a:xfrm>
          <a:prstGeom prst="rect">
            <a:avLst/>
          </a:prstGeom>
          <a:noFill/>
          <a:ln/>
        </p:spPr>
        <p:txBody>
          <a:bodyPr wrap="square" lIns="0" tIns="0" rIns="0" bIns="0" rtlCol="0" anchor="t"/>
          <a:lstStyle/>
          <a:p>
            <a:pPr indent="0" marL="0">
              <a:spcAft>
                <a:spcPts val="600"/>
              </a:spcAft>
              <a:buNone/>
            </a:pPr>
            <a:r>
              <a:rPr lang="en-US" sz="1400" dirty="0">
                <a:solidFill>
                  <a:srgbClr val="1E293B"/>
                </a:solidFill>
              </a:rPr>
              <a:t>Nouvelle version pour 5 % du trafic, puis 25 %, 100 %.</a:t>
            </a:r>
            <a:endParaRPr lang="en-US" sz="1400" dirty="0"/>
          </a:p>
          <a:p>
            <a:pPr indent="0" marL="0">
              <a:spcAft>
                <a:spcPts val="600"/>
              </a:spcAft>
              <a:buNone/>
            </a:pPr>
            <a:r>
              <a:rPr lang="en-US" sz="1400" dirty="0">
                <a:solidFill>
                  <a:srgbClr val="1E293B"/>
                </a:solidFill>
              </a:rPr>
              <a:t>+ risque minimal</a:t>
            </a:r>
            <a:endParaRPr lang="en-US" sz="1400" dirty="0"/>
          </a:p>
          <a:p>
            <a:pPr indent="0" marL="0">
              <a:spcAft>
                <a:spcPts val="600"/>
              </a:spcAft>
              <a:buNone/>
            </a:pPr>
            <a:r>
              <a:rPr lang="en-US" sz="1400" dirty="0">
                <a:solidFill>
                  <a:srgbClr val="1E293B"/>
                </a:solidFill>
              </a:rPr>
              <a:t>− plus complexe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Monitoring et observabilité</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Carte"/>
          <p:cNvSpPr/>
          <p:nvPr/>
        </p:nvSpPr>
        <p:spPr>
          <a:xfrm>
            <a:off x="457200" y="1280160"/>
            <a:ext cx="2651760" cy="2194560"/>
          </a:xfrm>
          <a:prstGeom prst="roundRect">
            <a:avLst>
              <a:gd name="adj" fmla="val 3333"/>
            </a:avLst>
          </a:prstGeom>
          <a:solidFill>
            <a:srgbClr val="F1F5F9"/>
          </a:solidFill>
          <a:ln/>
        </p:spPr>
      </p:sp>
      <p:sp>
        <p:nvSpPr>
          <p:cNvPr id="7" name="Pastille"/>
          <p:cNvSpPr/>
          <p:nvPr/>
        </p:nvSpPr>
        <p:spPr>
          <a:xfrm>
            <a:off x="594360" y="1417320"/>
            <a:ext cx="457200" cy="457200"/>
          </a:xfrm>
          <a:prstGeom prst="ellipse">
            <a:avLst/>
          </a:prstGeom>
          <a:solidFill>
            <a:srgbClr val="0D9488"/>
          </a:solidFill>
          <a:ln/>
        </p:spPr>
      </p:sp>
      <p:pic>
        <p:nvPicPr>
          <p:cNvPr id="8" name="Image 0" descr="Métriques">    </p:cNvPr>
          <p:cNvPicPr>
            <a:picLocks noChangeAspect="1"/>
          </p:cNvPicPr>
          <p:nvPr/>
        </p:nvPicPr>
        <p:blipFill>
          <a:blip r:embed="rId1"/>
          <a:stretch>
            <a:fillRect/>
          </a:stretch>
        </p:blipFill>
        <p:spPr>
          <a:xfrm>
            <a:off x="704088" y="1527048"/>
            <a:ext cx="237744" cy="237744"/>
          </a:xfrm>
          <a:prstGeom prst="rect">
            <a:avLst/>
          </a:prstGeom>
        </p:spPr>
      </p:pic>
      <p:sp>
        <p:nvSpPr>
          <p:cNvPr id="9" name="Text 5"/>
          <p:cNvSpPr txBox="1"/>
          <p:nvPr/>
        </p:nvSpPr>
        <p:spPr>
          <a:xfrm>
            <a:off x="594360" y="1965960"/>
            <a:ext cx="2377440" cy="365760"/>
          </a:xfrm>
          <a:prstGeom prst="rect">
            <a:avLst/>
          </a:prstGeom>
          <a:noFill/>
          <a:ln/>
        </p:spPr>
        <p:txBody>
          <a:bodyPr wrap="square" lIns="0" tIns="0" rIns="0" bIns="0" rtlCol="0" anchor="ctr"/>
          <a:lstStyle/>
          <a:p>
            <a:pPr indent="0" marL="0">
              <a:buNone/>
            </a:pPr>
            <a:r>
              <a:rPr lang="en-US" sz="1600" b="1" dirty="0">
                <a:solidFill>
                  <a:srgbClr val="0F172A"/>
                </a:solidFill>
              </a:rPr>
              <a:t>Métriques</a:t>
            </a:r>
            <a:endParaRPr lang="en-US" sz="1600" dirty="0"/>
          </a:p>
        </p:txBody>
      </p:sp>
      <p:sp>
        <p:nvSpPr>
          <p:cNvPr id="10" name="Text 6"/>
          <p:cNvSpPr txBox="1"/>
          <p:nvPr/>
        </p:nvSpPr>
        <p:spPr>
          <a:xfrm>
            <a:off x="594360" y="2350008"/>
            <a:ext cx="2377440" cy="105156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CPU, latence, taux d'erreurs. Prometheus + Grafana.</a:t>
            </a:r>
            <a:endParaRPr lang="en-US" sz="1400" dirty="0"/>
          </a:p>
        </p:txBody>
      </p:sp>
      <p:sp>
        <p:nvSpPr>
          <p:cNvPr id="11" name="Carte"/>
          <p:cNvSpPr/>
          <p:nvPr/>
        </p:nvSpPr>
        <p:spPr>
          <a:xfrm>
            <a:off x="3246120" y="1280160"/>
            <a:ext cx="2651760" cy="2194560"/>
          </a:xfrm>
          <a:prstGeom prst="roundRect">
            <a:avLst>
              <a:gd name="adj" fmla="val 3333"/>
            </a:avLst>
          </a:prstGeom>
          <a:solidFill>
            <a:srgbClr val="F1F5F9"/>
          </a:solidFill>
          <a:ln/>
        </p:spPr>
      </p:sp>
      <p:sp>
        <p:nvSpPr>
          <p:cNvPr id="12" name="Pastille"/>
          <p:cNvSpPr/>
          <p:nvPr/>
        </p:nvSpPr>
        <p:spPr>
          <a:xfrm>
            <a:off x="3383280" y="1417320"/>
            <a:ext cx="457200" cy="457200"/>
          </a:xfrm>
          <a:prstGeom prst="ellipse">
            <a:avLst/>
          </a:prstGeom>
          <a:solidFill>
            <a:srgbClr val="0EA5E9"/>
          </a:solidFill>
          <a:ln/>
        </p:spPr>
      </p:sp>
      <p:pic>
        <p:nvPicPr>
          <p:cNvPr id="13" name="Image 1" descr="Logs">    </p:cNvPr>
          <p:cNvPicPr>
            <a:picLocks noChangeAspect="1"/>
          </p:cNvPicPr>
          <p:nvPr/>
        </p:nvPicPr>
        <p:blipFill>
          <a:blip r:embed="rId2"/>
          <a:stretch>
            <a:fillRect/>
          </a:stretch>
        </p:blipFill>
        <p:spPr>
          <a:xfrm>
            <a:off x="3493008" y="1527048"/>
            <a:ext cx="237744" cy="237744"/>
          </a:xfrm>
          <a:prstGeom prst="rect">
            <a:avLst/>
          </a:prstGeom>
        </p:spPr>
      </p:pic>
      <p:sp>
        <p:nvSpPr>
          <p:cNvPr id="14" name="Text 9"/>
          <p:cNvSpPr txBox="1"/>
          <p:nvPr/>
        </p:nvSpPr>
        <p:spPr>
          <a:xfrm>
            <a:off x="3383280" y="1965960"/>
            <a:ext cx="2377440" cy="365760"/>
          </a:xfrm>
          <a:prstGeom prst="rect">
            <a:avLst/>
          </a:prstGeom>
          <a:noFill/>
          <a:ln/>
        </p:spPr>
        <p:txBody>
          <a:bodyPr wrap="square" lIns="0" tIns="0" rIns="0" bIns="0" rtlCol="0" anchor="ctr"/>
          <a:lstStyle/>
          <a:p>
            <a:pPr indent="0" marL="0">
              <a:buNone/>
            </a:pPr>
            <a:r>
              <a:rPr lang="en-US" sz="1600" b="1" dirty="0">
                <a:solidFill>
                  <a:srgbClr val="0F172A"/>
                </a:solidFill>
              </a:rPr>
              <a:t>Logs</a:t>
            </a:r>
            <a:endParaRPr lang="en-US" sz="1600" dirty="0"/>
          </a:p>
        </p:txBody>
      </p:sp>
      <p:sp>
        <p:nvSpPr>
          <p:cNvPr id="15" name="Text 10"/>
          <p:cNvSpPr txBox="1"/>
          <p:nvPr/>
        </p:nvSpPr>
        <p:spPr>
          <a:xfrm>
            <a:off x="3383280" y="2350008"/>
            <a:ext cx="2377440" cy="105156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Événements détaillés. Loki, ELK.</a:t>
            </a:r>
            <a:endParaRPr lang="en-US" sz="1400" dirty="0"/>
          </a:p>
        </p:txBody>
      </p:sp>
      <p:sp>
        <p:nvSpPr>
          <p:cNvPr id="16" name="Carte"/>
          <p:cNvSpPr/>
          <p:nvPr/>
        </p:nvSpPr>
        <p:spPr>
          <a:xfrm>
            <a:off x="6035040" y="1280160"/>
            <a:ext cx="2651760" cy="2194560"/>
          </a:xfrm>
          <a:prstGeom prst="roundRect">
            <a:avLst>
              <a:gd name="adj" fmla="val 3333"/>
            </a:avLst>
          </a:prstGeom>
          <a:solidFill>
            <a:srgbClr val="F1F5F9"/>
          </a:solidFill>
          <a:ln/>
        </p:spPr>
      </p:sp>
      <p:sp>
        <p:nvSpPr>
          <p:cNvPr id="17" name="Pastille"/>
          <p:cNvSpPr/>
          <p:nvPr/>
        </p:nvSpPr>
        <p:spPr>
          <a:xfrm>
            <a:off x="6172200" y="1417320"/>
            <a:ext cx="457200" cy="457200"/>
          </a:xfrm>
          <a:prstGeom prst="ellipse">
            <a:avLst/>
          </a:prstGeom>
          <a:solidFill>
            <a:srgbClr val="7C3AED"/>
          </a:solidFill>
          <a:ln/>
        </p:spPr>
      </p:sp>
      <p:pic>
        <p:nvPicPr>
          <p:cNvPr id="18" name="Image 2" descr="Traces">    </p:cNvPr>
          <p:cNvPicPr>
            <a:picLocks noChangeAspect="1"/>
          </p:cNvPicPr>
          <p:nvPr/>
        </p:nvPicPr>
        <p:blipFill>
          <a:blip r:embed="rId3"/>
          <a:stretch>
            <a:fillRect/>
          </a:stretch>
        </p:blipFill>
        <p:spPr>
          <a:xfrm>
            <a:off x="6281928" y="1527048"/>
            <a:ext cx="237744" cy="237744"/>
          </a:xfrm>
          <a:prstGeom prst="rect">
            <a:avLst/>
          </a:prstGeom>
        </p:spPr>
      </p:pic>
      <p:sp>
        <p:nvSpPr>
          <p:cNvPr id="19" name="Text 13"/>
          <p:cNvSpPr txBox="1"/>
          <p:nvPr/>
        </p:nvSpPr>
        <p:spPr>
          <a:xfrm>
            <a:off x="6172200" y="1965960"/>
            <a:ext cx="2377440" cy="365760"/>
          </a:xfrm>
          <a:prstGeom prst="rect">
            <a:avLst/>
          </a:prstGeom>
          <a:noFill/>
          <a:ln/>
        </p:spPr>
        <p:txBody>
          <a:bodyPr wrap="square" lIns="0" tIns="0" rIns="0" bIns="0" rtlCol="0" anchor="ctr"/>
          <a:lstStyle/>
          <a:p>
            <a:pPr indent="0" marL="0">
              <a:buNone/>
            </a:pPr>
            <a:r>
              <a:rPr lang="en-US" sz="1600" b="1" dirty="0">
                <a:solidFill>
                  <a:srgbClr val="0F172A"/>
                </a:solidFill>
              </a:rPr>
              <a:t>Traces</a:t>
            </a:r>
            <a:endParaRPr lang="en-US" sz="1600" dirty="0"/>
          </a:p>
        </p:txBody>
      </p:sp>
      <p:sp>
        <p:nvSpPr>
          <p:cNvPr id="20" name="Text 14"/>
          <p:cNvSpPr txBox="1"/>
          <p:nvPr/>
        </p:nvSpPr>
        <p:spPr>
          <a:xfrm>
            <a:off x="6172200" y="2350008"/>
            <a:ext cx="2377440" cy="105156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Parcours d'une requête entre services. OpenTelemetry, Jaeger.</a:t>
            </a:r>
            <a:endParaRPr lang="en-US" sz="1400" dirty="0"/>
          </a:p>
        </p:txBody>
      </p:sp>
      <p:sp>
        <p:nvSpPr>
          <p:cNvPr id="21" name="Carte"/>
          <p:cNvSpPr/>
          <p:nvPr/>
        </p:nvSpPr>
        <p:spPr>
          <a:xfrm>
            <a:off x="457200" y="3657600"/>
            <a:ext cx="8229600" cy="868680"/>
          </a:xfrm>
          <a:prstGeom prst="roundRect">
            <a:avLst>
              <a:gd name="adj" fmla="val 8421"/>
            </a:avLst>
          </a:prstGeom>
          <a:solidFill>
            <a:srgbClr val="CCFBF1"/>
          </a:solidFill>
          <a:ln/>
        </p:spPr>
      </p:sp>
      <p:sp>
        <p:nvSpPr>
          <p:cNvPr id="22" name="Text 16"/>
          <p:cNvSpPr txBox="1"/>
          <p:nvPr/>
        </p:nvSpPr>
        <p:spPr>
          <a:xfrm>
            <a:off x="594360" y="3767328"/>
            <a:ext cx="7955280" cy="365760"/>
          </a:xfrm>
          <a:prstGeom prst="rect">
            <a:avLst/>
          </a:prstGeom>
          <a:noFill/>
          <a:ln/>
        </p:spPr>
        <p:txBody>
          <a:bodyPr wrap="square" lIns="0" tIns="0" rIns="0" bIns="0" rtlCol="0" anchor="ctr"/>
          <a:lstStyle/>
          <a:p>
            <a:pPr indent="0" marL="0">
              <a:buNone/>
            </a:pPr>
            <a:r>
              <a:rPr lang="en-US" sz="1500" b="1" dirty="0">
                <a:solidFill>
                  <a:srgbClr val="0F172A"/>
                </a:solidFill>
              </a:rPr>
              <a:t>Alerter sur les symptômes</a:t>
            </a:r>
            <a:endParaRPr lang="en-US" sz="1500" dirty="0"/>
          </a:p>
        </p:txBody>
      </p:sp>
      <p:sp>
        <p:nvSpPr>
          <p:cNvPr id="23" name="Text 17"/>
          <p:cNvSpPr txBox="1"/>
          <p:nvPr/>
        </p:nvSpPr>
        <p:spPr>
          <a:xfrm>
            <a:off x="594360" y="4151376"/>
            <a:ext cx="7955280" cy="301752"/>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Alerter sur ce que vivent les utilisateurs (SLO, erreurs, latence), pas sur chaque CPU à 80 %.</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Schéma : pile d'observabilité</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Zone Applications"/>
          <p:cNvSpPr/>
          <p:nvPr/>
        </p:nvSpPr>
        <p:spPr>
          <a:xfrm>
            <a:off x="457200" y="1188720"/>
            <a:ext cx="1920240" cy="3108960"/>
          </a:xfrm>
          <a:prstGeom prst="roundRect">
            <a:avLst>
              <a:gd name="adj" fmla="val 3810"/>
            </a:avLst>
          </a:prstGeom>
          <a:solidFill>
            <a:srgbClr val="F8FAFC"/>
          </a:solidFill>
          <a:ln w="12700">
            <a:solidFill>
              <a:srgbClr val="CBD5E1"/>
            </a:solidFill>
            <a:prstDash val="dash"/>
          </a:ln>
        </p:spPr>
      </p:sp>
      <p:sp>
        <p:nvSpPr>
          <p:cNvPr id="7" name="Text 4"/>
          <p:cNvSpPr txBox="1"/>
          <p:nvPr/>
        </p:nvSpPr>
        <p:spPr>
          <a:xfrm>
            <a:off x="566928" y="1234440"/>
            <a:ext cx="1700784" cy="256032"/>
          </a:xfrm>
          <a:prstGeom prst="rect">
            <a:avLst/>
          </a:prstGeom>
          <a:noFill/>
          <a:ln/>
        </p:spPr>
        <p:txBody>
          <a:bodyPr wrap="square" lIns="0" tIns="0" rIns="0" bIns="0" rtlCol="0" anchor="ctr"/>
          <a:lstStyle/>
          <a:p>
            <a:pPr algn="l" indent="0" marL="0">
              <a:buNone/>
            </a:pPr>
            <a:r>
              <a:rPr lang="en-US" sz="1100" b="1" dirty="0">
                <a:solidFill>
                  <a:srgbClr val="64748B"/>
                </a:solidFill>
              </a:rPr>
              <a:t>Applications</a:t>
            </a:r>
            <a:endParaRPr lang="en-US" sz="1100" dirty="0"/>
          </a:p>
        </p:txBody>
      </p:sp>
      <p:sp>
        <p:nvSpPr>
          <p:cNvPr id="8" name="Noeud Service A"/>
          <p:cNvSpPr txBox="1"/>
          <p:nvPr/>
        </p:nvSpPr>
        <p:spPr>
          <a:xfrm>
            <a:off x="594360" y="1645920"/>
            <a:ext cx="1645920" cy="548640"/>
          </a:xfrm>
          <a:prstGeom prst="roundRect">
            <a:avLst>
              <a:gd name="adj" fmla="val 13333"/>
            </a:avLst>
          </a:prstGeom>
          <a:solidFill>
            <a:srgbClr val="0F172A"/>
          </a:solidFill>
          <a:ln/>
        </p:spPr>
        <p:txBody>
          <a:bodyPr wrap="square" lIns="508" tIns="508" rIns="508" bIns="508" rtlCol="0" anchor="ctr"/>
          <a:lstStyle/>
          <a:p>
            <a:pPr algn="ctr" indent="0" marL="0">
              <a:buNone/>
            </a:pPr>
            <a:r>
              <a:rPr lang="en-US" sz="1300" b="1" dirty="0">
                <a:solidFill>
                  <a:srgbClr val="FFFFFF"/>
                </a:solidFill>
              </a:rPr>
              <a:t>Service A</a:t>
            </a:r>
            <a:endParaRPr lang="en-US" sz="1300" dirty="0"/>
          </a:p>
        </p:txBody>
      </p:sp>
      <p:sp>
        <p:nvSpPr>
          <p:cNvPr id="9" name="Noeud Service B"/>
          <p:cNvSpPr txBox="1"/>
          <p:nvPr/>
        </p:nvSpPr>
        <p:spPr>
          <a:xfrm>
            <a:off x="594360" y="2423160"/>
            <a:ext cx="1645920" cy="548640"/>
          </a:xfrm>
          <a:prstGeom prst="roundRect">
            <a:avLst>
              <a:gd name="adj" fmla="val 13333"/>
            </a:avLst>
          </a:prstGeom>
          <a:solidFill>
            <a:srgbClr val="0F172A"/>
          </a:solidFill>
          <a:ln/>
        </p:spPr>
        <p:txBody>
          <a:bodyPr wrap="square" lIns="508" tIns="508" rIns="508" bIns="508" rtlCol="0" anchor="ctr"/>
          <a:lstStyle/>
          <a:p>
            <a:pPr algn="ctr" indent="0" marL="0">
              <a:buNone/>
            </a:pPr>
            <a:r>
              <a:rPr lang="en-US" sz="1300" b="1" dirty="0">
                <a:solidFill>
                  <a:srgbClr val="FFFFFF"/>
                </a:solidFill>
              </a:rPr>
              <a:t>Service B</a:t>
            </a:r>
            <a:endParaRPr lang="en-US" sz="1300" dirty="0"/>
          </a:p>
        </p:txBody>
      </p:sp>
      <p:sp>
        <p:nvSpPr>
          <p:cNvPr id="10" name="Noeud Service C"/>
          <p:cNvSpPr txBox="1"/>
          <p:nvPr/>
        </p:nvSpPr>
        <p:spPr>
          <a:xfrm>
            <a:off x="594360" y="3200400"/>
            <a:ext cx="1645920" cy="548640"/>
          </a:xfrm>
          <a:prstGeom prst="roundRect">
            <a:avLst>
              <a:gd name="adj" fmla="val 13333"/>
            </a:avLst>
          </a:prstGeom>
          <a:solidFill>
            <a:srgbClr val="0F172A"/>
          </a:solidFill>
          <a:ln/>
        </p:spPr>
        <p:txBody>
          <a:bodyPr wrap="square" lIns="508" tIns="508" rIns="508" bIns="508" rtlCol="0" anchor="ctr"/>
          <a:lstStyle/>
          <a:p>
            <a:pPr algn="ctr" indent="0" marL="0">
              <a:buNone/>
            </a:pPr>
            <a:r>
              <a:rPr lang="en-US" sz="1300" b="1" dirty="0">
                <a:solidFill>
                  <a:srgbClr val="FFFFFF"/>
                </a:solidFill>
              </a:rPr>
              <a:t>Service C</a:t>
            </a:r>
            <a:endParaRPr lang="en-US" sz="1300" dirty="0"/>
          </a:p>
        </p:txBody>
      </p:sp>
      <p:sp>
        <p:nvSpPr>
          <p:cNvPr id="11" name="Noeud Prometheus"/>
          <p:cNvSpPr txBox="1"/>
          <p:nvPr/>
        </p:nvSpPr>
        <p:spPr>
          <a:xfrm>
            <a:off x="3657600" y="1417320"/>
            <a:ext cx="1828800" cy="685800"/>
          </a:xfrm>
          <a:prstGeom prst="roundRect">
            <a:avLst>
              <a:gd name="adj" fmla="val 10667"/>
            </a:avLst>
          </a:prstGeom>
          <a:solidFill>
            <a:srgbClr val="0D9488"/>
          </a:solidFill>
          <a:ln/>
        </p:spPr>
        <p:txBody>
          <a:bodyPr wrap="square" lIns="508" tIns="508" rIns="508" bIns="508" rtlCol="0" anchor="ctr"/>
          <a:lstStyle/>
          <a:p>
            <a:pPr algn="ctr" indent="0" marL="0">
              <a:buNone/>
            </a:pPr>
            <a:r>
              <a:rPr lang="en-US" sz="1300" b="1" dirty="0">
                <a:solidFill>
                  <a:srgbClr val="FFFFFF"/>
                </a:solidFill>
              </a:rPr>
              <a:t>Prometheus</a:t>
            </a:r>
            <a:endParaRPr lang="en-US" sz="1300" dirty="0"/>
          </a:p>
          <a:p>
            <a:pPr algn="ctr" indent="0" marL="0">
              <a:buNone/>
            </a:pPr>
            <a:r>
              <a:rPr lang="en-US" sz="1100" dirty="0">
                <a:solidFill>
                  <a:srgbClr val="FFFFFF"/>
                </a:solidFill>
              </a:rPr>
              <a:t>métriques</a:t>
            </a:r>
            <a:endParaRPr lang="en-US" sz="1300" dirty="0"/>
          </a:p>
        </p:txBody>
      </p:sp>
      <p:sp>
        <p:nvSpPr>
          <p:cNvPr id="12" name="Noeud Loki"/>
          <p:cNvSpPr txBox="1"/>
          <p:nvPr/>
        </p:nvSpPr>
        <p:spPr>
          <a:xfrm>
            <a:off x="3657600" y="2377440"/>
            <a:ext cx="1828800" cy="685800"/>
          </a:xfrm>
          <a:prstGeom prst="roundRect">
            <a:avLst>
              <a:gd name="adj" fmla="val 10667"/>
            </a:avLst>
          </a:prstGeom>
          <a:solidFill>
            <a:srgbClr val="0EA5E9"/>
          </a:solidFill>
          <a:ln/>
        </p:spPr>
        <p:txBody>
          <a:bodyPr wrap="square" lIns="508" tIns="508" rIns="508" bIns="508" rtlCol="0" anchor="ctr"/>
          <a:lstStyle/>
          <a:p>
            <a:pPr algn="ctr" indent="0" marL="0">
              <a:buNone/>
            </a:pPr>
            <a:r>
              <a:rPr lang="en-US" sz="1300" b="1" dirty="0">
                <a:solidFill>
                  <a:srgbClr val="FFFFFF"/>
                </a:solidFill>
              </a:rPr>
              <a:t>Loki</a:t>
            </a:r>
            <a:endParaRPr lang="en-US" sz="1300" dirty="0"/>
          </a:p>
          <a:p>
            <a:pPr algn="ctr" indent="0" marL="0">
              <a:buNone/>
            </a:pPr>
            <a:r>
              <a:rPr lang="en-US" sz="1100" dirty="0">
                <a:solidFill>
                  <a:srgbClr val="FFFFFF"/>
                </a:solidFill>
              </a:rPr>
              <a:t>logs</a:t>
            </a:r>
            <a:endParaRPr lang="en-US" sz="1300" dirty="0"/>
          </a:p>
        </p:txBody>
      </p:sp>
      <p:sp>
        <p:nvSpPr>
          <p:cNvPr id="13" name="Noeud Tempo / Jaeger"/>
          <p:cNvSpPr txBox="1"/>
          <p:nvPr/>
        </p:nvSpPr>
        <p:spPr>
          <a:xfrm>
            <a:off x="3657600" y="3337560"/>
            <a:ext cx="1828800" cy="685800"/>
          </a:xfrm>
          <a:prstGeom prst="roundRect">
            <a:avLst>
              <a:gd name="adj" fmla="val 10667"/>
            </a:avLst>
          </a:prstGeom>
          <a:solidFill>
            <a:srgbClr val="7C3AED"/>
          </a:solidFill>
          <a:ln/>
        </p:spPr>
        <p:txBody>
          <a:bodyPr wrap="square" lIns="508" tIns="508" rIns="508" bIns="508" rtlCol="0" anchor="ctr"/>
          <a:lstStyle/>
          <a:p>
            <a:pPr algn="ctr" indent="0" marL="0">
              <a:buNone/>
            </a:pPr>
            <a:r>
              <a:rPr lang="en-US" sz="1300" b="1" dirty="0">
                <a:solidFill>
                  <a:srgbClr val="FFFFFF"/>
                </a:solidFill>
              </a:rPr>
              <a:t>Tempo / Jaeger</a:t>
            </a:r>
            <a:endParaRPr lang="en-US" sz="1300" dirty="0"/>
          </a:p>
          <a:p>
            <a:pPr algn="ctr" indent="0" marL="0">
              <a:buNone/>
            </a:pPr>
            <a:r>
              <a:rPr lang="en-US" sz="1100" dirty="0">
                <a:solidFill>
                  <a:srgbClr val="FFFFFF"/>
                </a:solidFill>
              </a:rPr>
              <a:t>traces</a:t>
            </a:r>
            <a:endParaRPr lang="en-US" sz="1300" dirty="0"/>
          </a:p>
        </p:txBody>
      </p:sp>
      <p:sp>
        <p:nvSpPr>
          <p:cNvPr id="14" name="Flèche"/>
          <p:cNvSpPr/>
          <p:nvPr/>
        </p:nvSpPr>
        <p:spPr>
          <a:xfrm>
            <a:off x="2377440" y="1755648"/>
            <a:ext cx="1280160" cy="0"/>
          </a:xfrm>
          <a:prstGeom prst="line">
            <a:avLst/>
          </a:prstGeom>
          <a:noFill/>
          <a:ln w="22225">
            <a:solidFill>
              <a:srgbClr val="64748B"/>
            </a:solidFill>
            <a:prstDash val="solid"/>
            <a:tailEnd type="triangle"/>
          </a:ln>
        </p:spPr>
      </p:sp>
      <p:sp>
        <p:nvSpPr>
          <p:cNvPr id="15" name="Text 12"/>
          <p:cNvSpPr txBox="1"/>
          <p:nvPr/>
        </p:nvSpPr>
        <p:spPr>
          <a:xfrm>
            <a:off x="2468880" y="1463040"/>
            <a:ext cx="1188720" cy="256032"/>
          </a:xfrm>
          <a:prstGeom prst="rect">
            <a:avLst/>
          </a:prstGeom>
          <a:noFill/>
          <a:ln/>
        </p:spPr>
        <p:txBody>
          <a:bodyPr wrap="square" lIns="0" tIns="0" rIns="0" bIns="0" rtlCol="0" anchor="ctr"/>
          <a:lstStyle/>
          <a:p>
            <a:pPr algn="l" indent="0" marL="0">
              <a:buNone/>
            </a:pPr>
            <a:r>
              <a:rPr lang="en-US" sz="1000" i="1" dirty="0">
                <a:solidFill>
                  <a:srgbClr val="64748B"/>
                </a:solidFill>
              </a:rPr>
              <a:t>scrape /metrics</a:t>
            </a:r>
            <a:endParaRPr lang="en-US" sz="1000" dirty="0"/>
          </a:p>
        </p:txBody>
      </p:sp>
      <p:sp>
        <p:nvSpPr>
          <p:cNvPr id="16" name="Flèche"/>
          <p:cNvSpPr/>
          <p:nvPr/>
        </p:nvSpPr>
        <p:spPr>
          <a:xfrm>
            <a:off x="2377440" y="2715768"/>
            <a:ext cx="1280160" cy="0"/>
          </a:xfrm>
          <a:prstGeom prst="line">
            <a:avLst/>
          </a:prstGeom>
          <a:noFill/>
          <a:ln w="22225">
            <a:solidFill>
              <a:srgbClr val="64748B"/>
            </a:solidFill>
            <a:prstDash val="solid"/>
            <a:tailEnd type="triangle"/>
          </a:ln>
        </p:spPr>
      </p:sp>
      <p:sp>
        <p:nvSpPr>
          <p:cNvPr id="17" name="Text 14"/>
          <p:cNvSpPr txBox="1"/>
          <p:nvPr/>
        </p:nvSpPr>
        <p:spPr>
          <a:xfrm>
            <a:off x="2468880" y="2423160"/>
            <a:ext cx="1188720" cy="256032"/>
          </a:xfrm>
          <a:prstGeom prst="rect">
            <a:avLst/>
          </a:prstGeom>
          <a:noFill/>
          <a:ln/>
        </p:spPr>
        <p:txBody>
          <a:bodyPr wrap="square" lIns="0" tIns="0" rIns="0" bIns="0" rtlCol="0" anchor="ctr"/>
          <a:lstStyle/>
          <a:p>
            <a:pPr algn="l" indent="0" marL="0">
              <a:buNone/>
            </a:pPr>
            <a:r>
              <a:rPr lang="en-US" sz="1000" i="1" dirty="0">
                <a:solidFill>
                  <a:srgbClr val="64748B"/>
                </a:solidFill>
              </a:rPr>
              <a:t>collecte des logs</a:t>
            </a:r>
            <a:endParaRPr lang="en-US" sz="1000" dirty="0"/>
          </a:p>
        </p:txBody>
      </p:sp>
      <p:sp>
        <p:nvSpPr>
          <p:cNvPr id="18" name="Flèche"/>
          <p:cNvSpPr/>
          <p:nvPr/>
        </p:nvSpPr>
        <p:spPr>
          <a:xfrm>
            <a:off x="2377440" y="3675888"/>
            <a:ext cx="1280160" cy="0"/>
          </a:xfrm>
          <a:prstGeom prst="line">
            <a:avLst/>
          </a:prstGeom>
          <a:noFill/>
          <a:ln w="22225">
            <a:solidFill>
              <a:srgbClr val="64748B"/>
            </a:solidFill>
            <a:prstDash val="solid"/>
            <a:tailEnd type="triangle"/>
          </a:ln>
        </p:spPr>
      </p:sp>
      <p:sp>
        <p:nvSpPr>
          <p:cNvPr id="19" name="Text 16"/>
          <p:cNvSpPr txBox="1"/>
          <p:nvPr/>
        </p:nvSpPr>
        <p:spPr>
          <a:xfrm>
            <a:off x="2468880" y="3383280"/>
            <a:ext cx="1188720" cy="256032"/>
          </a:xfrm>
          <a:prstGeom prst="rect">
            <a:avLst/>
          </a:prstGeom>
          <a:noFill/>
          <a:ln/>
        </p:spPr>
        <p:txBody>
          <a:bodyPr wrap="square" lIns="0" tIns="0" rIns="0" bIns="0" rtlCol="0" anchor="ctr"/>
          <a:lstStyle/>
          <a:p>
            <a:pPr algn="l" indent="0" marL="0">
              <a:buNone/>
            </a:pPr>
            <a:r>
              <a:rPr lang="en-US" sz="1000" i="1" dirty="0">
                <a:solidFill>
                  <a:srgbClr val="64748B"/>
                </a:solidFill>
              </a:rPr>
              <a:t>OpenTelemetry</a:t>
            </a:r>
            <a:endParaRPr lang="en-US" sz="1000" dirty="0"/>
          </a:p>
        </p:txBody>
      </p:sp>
      <p:sp>
        <p:nvSpPr>
          <p:cNvPr id="20" name="Noeud Alertmanager"/>
          <p:cNvSpPr txBox="1"/>
          <p:nvPr/>
        </p:nvSpPr>
        <p:spPr>
          <a:xfrm>
            <a:off x="6400800" y="1280160"/>
            <a:ext cx="2286000" cy="685800"/>
          </a:xfrm>
          <a:prstGeom prst="roundRect">
            <a:avLst>
              <a:gd name="adj" fmla="val 10667"/>
            </a:avLst>
          </a:prstGeom>
          <a:solidFill>
            <a:srgbClr val="F97316"/>
          </a:solidFill>
          <a:ln/>
        </p:spPr>
        <p:txBody>
          <a:bodyPr wrap="square" lIns="508" tIns="508" rIns="508" bIns="508" rtlCol="0" anchor="ctr"/>
          <a:lstStyle/>
          <a:p>
            <a:pPr algn="ctr" indent="0" marL="0">
              <a:buNone/>
            </a:pPr>
            <a:r>
              <a:rPr lang="en-US" sz="1300" b="1" dirty="0">
                <a:solidFill>
                  <a:srgbClr val="FFFFFF"/>
                </a:solidFill>
              </a:rPr>
              <a:t>Alertmanager</a:t>
            </a:r>
            <a:endParaRPr lang="en-US" sz="1300" dirty="0"/>
          </a:p>
          <a:p>
            <a:pPr algn="ctr" indent="0" marL="0">
              <a:buNone/>
            </a:pPr>
            <a:r>
              <a:rPr lang="en-US" sz="1100" dirty="0">
                <a:solidFill>
                  <a:srgbClr val="FFFFFF"/>
                </a:solidFill>
              </a:rPr>
              <a:t>Slack, e-mail, astreinte</a:t>
            </a:r>
            <a:endParaRPr lang="en-US" sz="1300" dirty="0"/>
          </a:p>
        </p:txBody>
      </p:sp>
      <p:sp>
        <p:nvSpPr>
          <p:cNvPr id="21" name="Noeud Grafana"/>
          <p:cNvSpPr txBox="1"/>
          <p:nvPr/>
        </p:nvSpPr>
        <p:spPr>
          <a:xfrm>
            <a:off x="6400800" y="2423160"/>
            <a:ext cx="2286000" cy="914400"/>
          </a:xfrm>
          <a:prstGeom prst="roundRect">
            <a:avLst>
              <a:gd name="adj" fmla="val 8000"/>
            </a:avLst>
          </a:prstGeom>
          <a:solidFill>
            <a:srgbClr val="0F172A"/>
          </a:solidFill>
          <a:ln/>
        </p:spPr>
        <p:txBody>
          <a:bodyPr wrap="square" lIns="508" tIns="508" rIns="508" bIns="508" rtlCol="0" anchor="ctr"/>
          <a:lstStyle/>
          <a:p>
            <a:pPr algn="ctr" indent="0" marL="0">
              <a:buNone/>
            </a:pPr>
            <a:r>
              <a:rPr lang="en-US" sz="1400" b="1" dirty="0">
                <a:solidFill>
                  <a:srgbClr val="FFFFFF"/>
                </a:solidFill>
              </a:rPr>
              <a:t>Grafana</a:t>
            </a:r>
            <a:endParaRPr lang="en-US" sz="1400" dirty="0"/>
          </a:p>
          <a:p>
            <a:pPr algn="ctr" indent="0" marL="0">
              <a:buNone/>
            </a:pPr>
            <a:r>
              <a:rPr lang="en-US" sz="1200" dirty="0">
                <a:solidFill>
                  <a:srgbClr val="FFFFFF"/>
                </a:solidFill>
              </a:rPr>
              <a:t>tableaux de bord et corrélation</a:t>
            </a:r>
            <a:endParaRPr lang="en-US" sz="1400" dirty="0"/>
          </a:p>
        </p:txBody>
      </p:sp>
      <p:sp>
        <p:nvSpPr>
          <p:cNvPr id="22" name="Flèche"/>
          <p:cNvSpPr/>
          <p:nvPr/>
        </p:nvSpPr>
        <p:spPr>
          <a:xfrm>
            <a:off x="5486400" y="1600200"/>
            <a:ext cx="914400" cy="0"/>
          </a:xfrm>
          <a:prstGeom prst="line">
            <a:avLst/>
          </a:prstGeom>
          <a:noFill/>
          <a:ln w="22225">
            <a:solidFill>
              <a:srgbClr val="64748B"/>
            </a:solidFill>
            <a:prstDash val="solid"/>
            <a:tailEnd type="triangle"/>
          </a:ln>
        </p:spPr>
      </p:sp>
      <p:sp>
        <p:nvSpPr>
          <p:cNvPr id="23" name="Text 20"/>
          <p:cNvSpPr txBox="1"/>
          <p:nvPr/>
        </p:nvSpPr>
        <p:spPr>
          <a:xfrm>
            <a:off x="5669280" y="1325880"/>
            <a:ext cx="731520" cy="256032"/>
          </a:xfrm>
          <a:prstGeom prst="rect">
            <a:avLst/>
          </a:prstGeom>
          <a:noFill/>
          <a:ln/>
        </p:spPr>
        <p:txBody>
          <a:bodyPr wrap="square" lIns="0" tIns="0" rIns="0" bIns="0" rtlCol="0" anchor="ctr"/>
          <a:lstStyle/>
          <a:p>
            <a:pPr algn="l" indent="0" marL="0">
              <a:buNone/>
            </a:pPr>
            <a:r>
              <a:rPr lang="en-US" sz="1000" i="1" dirty="0">
                <a:solidFill>
                  <a:srgbClr val="64748B"/>
                </a:solidFill>
              </a:rPr>
              <a:t>règles</a:t>
            </a:r>
            <a:endParaRPr lang="en-US" sz="1000" dirty="0"/>
          </a:p>
        </p:txBody>
      </p:sp>
      <p:sp>
        <p:nvSpPr>
          <p:cNvPr id="24" name="Flèche"/>
          <p:cNvSpPr/>
          <p:nvPr/>
        </p:nvSpPr>
        <p:spPr>
          <a:xfrm>
            <a:off x="5486400" y="1920240"/>
            <a:ext cx="914400" cy="731520"/>
          </a:xfrm>
          <a:prstGeom prst="line">
            <a:avLst/>
          </a:prstGeom>
          <a:noFill/>
          <a:ln w="22225">
            <a:solidFill>
              <a:srgbClr val="64748B"/>
            </a:solidFill>
            <a:prstDash val="solid"/>
            <a:tailEnd type="triangle"/>
          </a:ln>
        </p:spPr>
      </p:sp>
      <p:sp>
        <p:nvSpPr>
          <p:cNvPr id="25" name="Flèche"/>
          <p:cNvSpPr/>
          <p:nvPr/>
        </p:nvSpPr>
        <p:spPr>
          <a:xfrm>
            <a:off x="5486400" y="2743200"/>
            <a:ext cx="914400" cy="137160"/>
          </a:xfrm>
          <a:prstGeom prst="line">
            <a:avLst/>
          </a:prstGeom>
          <a:noFill/>
          <a:ln w="22225">
            <a:solidFill>
              <a:srgbClr val="64748B"/>
            </a:solidFill>
            <a:prstDash val="solid"/>
            <a:tailEnd type="triangle"/>
          </a:ln>
        </p:spPr>
      </p:sp>
      <p:sp>
        <p:nvSpPr>
          <p:cNvPr id="26" name="Flèche"/>
          <p:cNvSpPr/>
          <p:nvPr/>
        </p:nvSpPr>
        <p:spPr>
          <a:xfrm flipV="1">
            <a:off x="5486400" y="3200400"/>
            <a:ext cx="914400" cy="457200"/>
          </a:xfrm>
          <a:prstGeom prst="line">
            <a:avLst/>
          </a:prstGeom>
          <a:noFill/>
          <a:ln w="22225">
            <a:solidFill>
              <a:srgbClr val="64748B"/>
            </a:solidFill>
            <a:prstDash val="solid"/>
            <a:tailEnd type="triangle"/>
          </a:ln>
        </p:spPr>
      </p:sp>
      <p:sp>
        <p:nvSpPr>
          <p:cNvPr id="27" name="Text 24"/>
          <p:cNvSpPr txBox="1"/>
          <p:nvPr/>
        </p:nvSpPr>
        <p:spPr>
          <a:xfrm>
            <a:off x="457200" y="4389120"/>
            <a:ext cx="8229600" cy="274320"/>
          </a:xfrm>
          <a:prstGeom prst="rect">
            <a:avLst/>
          </a:prstGeom>
          <a:noFill/>
          <a:ln/>
        </p:spPr>
        <p:txBody>
          <a:bodyPr wrap="square" lIns="0" tIns="0" rIns="0" bIns="0" rtlCol="0" anchor="ctr"/>
          <a:lstStyle/>
          <a:p>
            <a:pPr algn="ctr" indent="0" marL="0">
              <a:buNone/>
            </a:pPr>
            <a:r>
              <a:rPr lang="en-US" sz="1300" dirty="0">
                <a:solidFill>
                  <a:srgbClr val="64748B"/>
                </a:solidFill>
              </a:rPr>
              <a:t>Trois sources de données, un seul point de lecture pour diagnostiquer.</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DevSecOps : la sécurité dès le début</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Étape"/>
          <p:cNvSpPr/>
          <p:nvPr/>
        </p:nvSpPr>
        <p:spPr>
          <a:xfrm>
            <a:off x="457200" y="1280160"/>
            <a:ext cx="1514246" cy="640080"/>
          </a:xfrm>
          <a:prstGeom prst="roundRect">
            <a:avLst>
              <a:gd name="adj" fmla="val 11429"/>
            </a:avLst>
          </a:prstGeom>
          <a:solidFill>
            <a:srgbClr val="0F172A"/>
          </a:solidFill>
          <a:ln/>
        </p:spPr>
      </p:sp>
      <p:sp>
        <p:nvSpPr>
          <p:cNvPr id="7" name="Text 4"/>
          <p:cNvSpPr txBox="1"/>
          <p:nvPr/>
        </p:nvSpPr>
        <p:spPr>
          <a:xfrm>
            <a:off x="457200" y="1280160"/>
            <a:ext cx="1514246" cy="640080"/>
          </a:xfrm>
          <a:prstGeom prst="rect">
            <a:avLst/>
          </a:prstGeom>
          <a:noFill/>
          <a:ln/>
        </p:spPr>
        <p:txBody>
          <a:bodyPr wrap="square" lIns="508" tIns="508" rIns="508" bIns="508" rtlCol="0" anchor="ctr"/>
          <a:lstStyle/>
          <a:p>
            <a:pPr algn="ctr" indent="0" marL="0">
              <a:buNone/>
            </a:pPr>
            <a:r>
              <a:rPr lang="en-US" sz="1500" b="1" dirty="0">
                <a:solidFill>
                  <a:srgbClr val="FFFFFF"/>
                </a:solidFill>
              </a:rPr>
              <a:t>Code</a:t>
            </a:r>
            <a:endParaRPr lang="en-US" sz="1500" dirty="0"/>
          </a:p>
        </p:txBody>
      </p:sp>
      <p:sp>
        <p:nvSpPr>
          <p:cNvPr id="8" name="Text 5"/>
          <p:cNvSpPr txBox="1"/>
          <p:nvPr/>
        </p:nvSpPr>
        <p:spPr>
          <a:xfrm>
            <a:off x="1953158" y="1280160"/>
            <a:ext cx="201168" cy="64008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9" name="Étape"/>
          <p:cNvSpPr/>
          <p:nvPr/>
        </p:nvSpPr>
        <p:spPr>
          <a:xfrm>
            <a:off x="2136038" y="1280160"/>
            <a:ext cx="1514246" cy="640080"/>
          </a:xfrm>
          <a:prstGeom prst="roundRect">
            <a:avLst>
              <a:gd name="adj" fmla="val 11429"/>
            </a:avLst>
          </a:prstGeom>
          <a:solidFill>
            <a:srgbClr val="0F172A"/>
          </a:solidFill>
          <a:ln/>
        </p:spPr>
      </p:sp>
      <p:sp>
        <p:nvSpPr>
          <p:cNvPr id="10" name="Text 7"/>
          <p:cNvSpPr txBox="1"/>
          <p:nvPr/>
        </p:nvSpPr>
        <p:spPr>
          <a:xfrm>
            <a:off x="2136038" y="1280160"/>
            <a:ext cx="1514246" cy="640080"/>
          </a:xfrm>
          <a:prstGeom prst="rect">
            <a:avLst/>
          </a:prstGeom>
          <a:noFill/>
          <a:ln/>
        </p:spPr>
        <p:txBody>
          <a:bodyPr wrap="square" lIns="508" tIns="508" rIns="508" bIns="508" rtlCol="0" anchor="ctr"/>
          <a:lstStyle/>
          <a:p>
            <a:pPr algn="ctr" indent="0" marL="0">
              <a:buNone/>
            </a:pPr>
            <a:r>
              <a:rPr lang="en-US" sz="1500" b="1" dirty="0">
                <a:solidFill>
                  <a:srgbClr val="FFFFFF"/>
                </a:solidFill>
              </a:rPr>
              <a:t>Build</a:t>
            </a:r>
            <a:endParaRPr lang="en-US" sz="1500" dirty="0"/>
          </a:p>
        </p:txBody>
      </p:sp>
      <p:sp>
        <p:nvSpPr>
          <p:cNvPr id="11" name="Text 8"/>
          <p:cNvSpPr txBox="1"/>
          <p:nvPr/>
        </p:nvSpPr>
        <p:spPr>
          <a:xfrm>
            <a:off x="3631997" y="1280160"/>
            <a:ext cx="201168" cy="64008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2" name="Étape"/>
          <p:cNvSpPr/>
          <p:nvPr/>
        </p:nvSpPr>
        <p:spPr>
          <a:xfrm>
            <a:off x="3814877" y="1280160"/>
            <a:ext cx="1514246" cy="640080"/>
          </a:xfrm>
          <a:prstGeom prst="roundRect">
            <a:avLst>
              <a:gd name="adj" fmla="val 11429"/>
            </a:avLst>
          </a:prstGeom>
          <a:solidFill>
            <a:srgbClr val="0F172A"/>
          </a:solidFill>
          <a:ln/>
        </p:spPr>
      </p:sp>
      <p:sp>
        <p:nvSpPr>
          <p:cNvPr id="13" name="Text 10"/>
          <p:cNvSpPr txBox="1"/>
          <p:nvPr/>
        </p:nvSpPr>
        <p:spPr>
          <a:xfrm>
            <a:off x="3814877" y="1280160"/>
            <a:ext cx="1514246" cy="640080"/>
          </a:xfrm>
          <a:prstGeom prst="rect">
            <a:avLst/>
          </a:prstGeom>
          <a:noFill/>
          <a:ln/>
        </p:spPr>
        <p:txBody>
          <a:bodyPr wrap="square" lIns="508" tIns="508" rIns="508" bIns="508" rtlCol="0" anchor="ctr"/>
          <a:lstStyle/>
          <a:p>
            <a:pPr algn="ctr" indent="0" marL="0">
              <a:buNone/>
            </a:pPr>
            <a:r>
              <a:rPr lang="en-US" sz="1500" b="1" dirty="0">
                <a:solidFill>
                  <a:srgbClr val="FFFFFF"/>
                </a:solidFill>
              </a:rPr>
              <a:t>Test</a:t>
            </a:r>
            <a:endParaRPr lang="en-US" sz="1500" dirty="0"/>
          </a:p>
        </p:txBody>
      </p:sp>
      <p:sp>
        <p:nvSpPr>
          <p:cNvPr id="14" name="Text 11"/>
          <p:cNvSpPr txBox="1"/>
          <p:nvPr/>
        </p:nvSpPr>
        <p:spPr>
          <a:xfrm>
            <a:off x="5310835" y="1280160"/>
            <a:ext cx="201168" cy="64008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5" name="Étape"/>
          <p:cNvSpPr/>
          <p:nvPr/>
        </p:nvSpPr>
        <p:spPr>
          <a:xfrm>
            <a:off x="5493715" y="1280160"/>
            <a:ext cx="1514246" cy="640080"/>
          </a:xfrm>
          <a:prstGeom prst="roundRect">
            <a:avLst>
              <a:gd name="adj" fmla="val 11429"/>
            </a:avLst>
          </a:prstGeom>
          <a:solidFill>
            <a:srgbClr val="0F172A"/>
          </a:solidFill>
          <a:ln/>
        </p:spPr>
      </p:sp>
      <p:sp>
        <p:nvSpPr>
          <p:cNvPr id="16" name="Text 13"/>
          <p:cNvSpPr txBox="1"/>
          <p:nvPr/>
        </p:nvSpPr>
        <p:spPr>
          <a:xfrm>
            <a:off x="5493715" y="1280160"/>
            <a:ext cx="1514246" cy="640080"/>
          </a:xfrm>
          <a:prstGeom prst="rect">
            <a:avLst/>
          </a:prstGeom>
          <a:noFill/>
          <a:ln/>
        </p:spPr>
        <p:txBody>
          <a:bodyPr wrap="square" lIns="508" tIns="508" rIns="508" bIns="508" rtlCol="0" anchor="ctr"/>
          <a:lstStyle/>
          <a:p>
            <a:pPr algn="ctr" indent="0" marL="0">
              <a:buNone/>
            </a:pPr>
            <a:r>
              <a:rPr lang="en-US" sz="1500" b="1" dirty="0">
                <a:solidFill>
                  <a:srgbClr val="FFFFFF"/>
                </a:solidFill>
              </a:rPr>
              <a:t>Release</a:t>
            </a:r>
            <a:endParaRPr lang="en-US" sz="1500" dirty="0"/>
          </a:p>
        </p:txBody>
      </p:sp>
      <p:sp>
        <p:nvSpPr>
          <p:cNvPr id="17" name="Text 14"/>
          <p:cNvSpPr txBox="1"/>
          <p:nvPr/>
        </p:nvSpPr>
        <p:spPr>
          <a:xfrm>
            <a:off x="6989674" y="1280160"/>
            <a:ext cx="201168" cy="64008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8" name="Étape"/>
          <p:cNvSpPr/>
          <p:nvPr/>
        </p:nvSpPr>
        <p:spPr>
          <a:xfrm>
            <a:off x="7172554" y="1280160"/>
            <a:ext cx="1514246" cy="640080"/>
          </a:xfrm>
          <a:prstGeom prst="roundRect">
            <a:avLst>
              <a:gd name="adj" fmla="val 11429"/>
            </a:avLst>
          </a:prstGeom>
          <a:solidFill>
            <a:srgbClr val="0F172A"/>
          </a:solidFill>
          <a:ln/>
        </p:spPr>
      </p:sp>
      <p:sp>
        <p:nvSpPr>
          <p:cNvPr id="19" name="Text 16"/>
          <p:cNvSpPr txBox="1"/>
          <p:nvPr/>
        </p:nvSpPr>
        <p:spPr>
          <a:xfrm>
            <a:off x="7172554" y="1280160"/>
            <a:ext cx="1514246" cy="640080"/>
          </a:xfrm>
          <a:prstGeom prst="rect">
            <a:avLst/>
          </a:prstGeom>
          <a:noFill/>
          <a:ln/>
        </p:spPr>
        <p:txBody>
          <a:bodyPr wrap="square" lIns="508" tIns="508" rIns="508" bIns="508" rtlCol="0" anchor="ctr"/>
          <a:lstStyle/>
          <a:p>
            <a:pPr algn="ctr" indent="0" marL="0">
              <a:buNone/>
            </a:pPr>
            <a:r>
              <a:rPr lang="en-US" sz="1500" b="1" dirty="0">
                <a:solidFill>
                  <a:srgbClr val="FFFFFF"/>
                </a:solidFill>
              </a:rPr>
              <a:t>Run</a:t>
            </a:r>
            <a:endParaRPr lang="en-US" sz="1500" dirty="0"/>
          </a:p>
        </p:txBody>
      </p:sp>
      <p:sp>
        <p:nvSpPr>
          <p:cNvPr id="20" name="Text 17"/>
          <p:cNvSpPr txBox="1"/>
          <p:nvPr/>
        </p:nvSpPr>
        <p:spPr>
          <a:xfrm>
            <a:off x="457200" y="2057400"/>
            <a:ext cx="1600200" cy="822960"/>
          </a:xfrm>
          <a:prstGeom prst="rect">
            <a:avLst/>
          </a:prstGeom>
          <a:noFill/>
          <a:ln/>
        </p:spPr>
        <p:txBody>
          <a:bodyPr wrap="square" lIns="0" tIns="0" rIns="0" bIns="0" rtlCol="0" anchor="t"/>
          <a:lstStyle/>
          <a:p>
            <a:pPr indent="0" marL="0">
              <a:buNone/>
            </a:pPr>
            <a:r>
              <a:rPr lang="en-US" sz="1300" b="1" dirty="0">
                <a:solidFill>
                  <a:srgbClr val="F97316"/>
                </a:solidFill>
              </a:rPr>
              <a:t>SAST / lint</a:t>
            </a:r>
            <a:endParaRPr lang="en-US" sz="1300" dirty="0"/>
          </a:p>
          <a:p>
            <a:pPr indent="0" marL="0">
              <a:buNone/>
            </a:pPr>
            <a:r>
              <a:rPr lang="en-US" sz="1300" dirty="0">
                <a:solidFill>
                  <a:srgbClr val="1E293B"/>
                </a:solidFill>
              </a:rPr>
              <a:t>Analyse du code source</a:t>
            </a:r>
            <a:endParaRPr lang="en-US" sz="1300" dirty="0"/>
          </a:p>
        </p:txBody>
      </p:sp>
      <p:sp>
        <p:nvSpPr>
          <p:cNvPr id="21" name="Text 18"/>
          <p:cNvSpPr txBox="1"/>
          <p:nvPr/>
        </p:nvSpPr>
        <p:spPr>
          <a:xfrm>
            <a:off x="2139696" y="2057400"/>
            <a:ext cx="1600200" cy="822960"/>
          </a:xfrm>
          <a:prstGeom prst="rect">
            <a:avLst/>
          </a:prstGeom>
          <a:noFill/>
          <a:ln/>
        </p:spPr>
        <p:txBody>
          <a:bodyPr wrap="square" lIns="0" tIns="0" rIns="0" bIns="0" rtlCol="0" anchor="t"/>
          <a:lstStyle/>
          <a:p>
            <a:pPr indent="0" marL="0">
              <a:buNone/>
            </a:pPr>
            <a:r>
              <a:rPr lang="en-US" sz="1300" b="1" dirty="0">
                <a:solidFill>
                  <a:srgbClr val="F97316"/>
                </a:solidFill>
              </a:rPr>
              <a:t>SCA</a:t>
            </a:r>
            <a:endParaRPr lang="en-US" sz="1300" dirty="0"/>
          </a:p>
          <a:p>
            <a:pPr indent="0" marL="0">
              <a:buNone/>
            </a:pPr>
            <a:r>
              <a:rPr lang="en-US" sz="1300" dirty="0">
                <a:solidFill>
                  <a:srgbClr val="1E293B"/>
                </a:solidFill>
              </a:rPr>
              <a:t>Dépendances vulnérables</a:t>
            </a:r>
            <a:endParaRPr lang="en-US" sz="1300" dirty="0"/>
          </a:p>
        </p:txBody>
      </p:sp>
      <p:sp>
        <p:nvSpPr>
          <p:cNvPr id="22" name="Text 19"/>
          <p:cNvSpPr txBox="1"/>
          <p:nvPr/>
        </p:nvSpPr>
        <p:spPr>
          <a:xfrm>
            <a:off x="3822192" y="2057400"/>
            <a:ext cx="1600200" cy="822960"/>
          </a:xfrm>
          <a:prstGeom prst="rect">
            <a:avLst/>
          </a:prstGeom>
          <a:noFill/>
          <a:ln/>
        </p:spPr>
        <p:txBody>
          <a:bodyPr wrap="square" lIns="0" tIns="0" rIns="0" bIns="0" rtlCol="0" anchor="t"/>
          <a:lstStyle/>
          <a:p>
            <a:pPr indent="0" marL="0">
              <a:buNone/>
            </a:pPr>
            <a:r>
              <a:rPr lang="en-US" sz="1300" b="1" dirty="0">
                <a:solidFill>
                  <a:srgbClr val="F97316"/>
                </a:solidFill>
              </a:rPr>
              <a:t>Scan d'images</a:t>
            </a:r>
            <a:endParaRPr lang="en-US" sz="1300" dirty="0"/>
          </a:p>
          <a:p>
            <a:pPr indent="0" marL="0">
              <a:buNone/>
            </a:pPr>
            <a:r>
              <a:rPr lang="en-US" sz="1300" dirty="0">
                <a:solidFill>
                  <a:srgbClr val="1E293B"/>
                </a:solidFill>
              </a:rPr>
              <a:t>Trivy, Grype</a:t>
            </a:r>
            <a:endParaRPr lang="en-US" sz="1300" dirty="0"/>
          </a:p>
        </p:txBody>
      </p:sp>
      <p:sp>
        <p:nvSpPr>
          <p:cNvPr id="23" name="Text 20"/>
          <p:cNvSpPr txBox="1"/>
          <p:nvPr/>
        </p:nvSpPr>
        <p:spPr>
          <a:xfrm>
            <a:off x="5504688" y="2057400"/>
            <a:ext cx="1600200" cy="822960"/>
          </a:xfrm>
          <a:prstGeom prst="rect">
            <a:avLst/>
          </a:prstGeom>
          <a:noFill/>
          <a:ln/>
        </p:spPr>
        <p:txBody>
          <a:bodyPr wrap="square" lIns="0" tIns="0" rIns="0" bIns="0" rtlCol="0" anchor="t"/>
          <a:lstStyle/>
          <a:p>
            <a:pPr indent="0" marL="0">
              <a:buNone/>
            </a:pPr>
            <a:r>
              <a:rPr lang="en-US" sz="1300" b="1" dirty="0">
                <a:solidFill>
                  <a:srgbClr val="F97316"/>
                </a:solidFill>
              </a:rPr>
              <a:t>DAST</a:t>
            </a:r>
            <a:endParaRPr lang="en-US" sz="1300" dirty="0"/>
          </a:p>
          <a:p>
            <a:pPr indent="0" marL="0">
              <a:buNone/>
            </a:pPr>
            <a:r>
              <a:rPr lang="en-US" sz="1300" dirty="0">
                <a:solidFill>
                  <a:srgbClr val="1E293B"/>
                </a:solidFill>
              </a:rPr>
              <a:t>Tests dynamiques</a:t>
            </a:r>
            <a:endParaRPr lang="en-US" sz="1300" dirty="0"/>
          </a:p>
        </p:txBody>
      </p:sp>
      <p:sp>
        <p:nvSpPr>
          <p:cNvPr id="24" name="Text 21"/>
          <p:cNvSpPr txBox="1"/>
          <p:nvPr/>
        </p:nvSpPr>
        <p:spPr>
          <a:xfrm>
            <a:off x="7187184" y="2057400"/>
            <a:ext cx="1600200" cy="822960"/>
          </a:xfrm>
          <a:prstGeom prst="rect">
            <a:avLst/>
          </a:prstGeom>
          <a:noFill/>
          <a:ln/>
        </p:spPr>
        <p:txBody>
          <a:bodyPr wrap="square" lIns="0" tIns="0" rIns="0" bIns="0" rtlCol="0" anchor="t"/>
          <a:lstStyle/>
          <a:p>
            <a:pPr indent="0" marL="0">
              <a:buNone/>
            </a:pPr>
            <a:r>
              <a:rPr lang="en-US" sz="1300" b="1" dirty="0">
                <a:solidFill>
                  <a:srgbClr val="F97316"/>
                </a:solidFill>
              </a:rPr>
              <a:t>Runtime</a:t>
            </a:r>
            <a:endParaRPr lang="en-US" sz="1300" dirty="0"/>
          </a:p>
          <a:p>
            <a:pPr indent="0" marL="0">
              <a:buNone/>
            </a:pPr>
            <a:r>
              <a:rPr lang="en-US" sz="1300" dirty="0">
                <a:solidFill>
                  <a:srgbClr val="1E293B"/>
                </a:solidFill>
              </a:rPr>
              <a:t>Falco, politiques</a:t>
            </a:r>
            <a:endParaRPr lang="en-US" sz="1300" dirty="0"/>
          </a:p>
        </p:txBody>
      </p:sp>
      <p:sp>
        <p:nvSpPr>
          <p:cNvPr id="25" name="Carte"/>
          <p:cNvSpPr/>
          <p:nvPr/>
        </p:nvSpPr>
        <p:spPr>
          <a:xfrm>
            <a:off x="457200" y="3108960"/>
            <a:ext cx="4023360" cy="1417320"/>
          </a:xfrm>
          <a:prstGeom prst="roundRect">
            <a:avLst>
              <a:gd name="adj" fmla="val 5161"/>
            </a:avLst>
          </a:prstGeom>
          <a:solidFill>
            <a:srgbClr val="F1F5F9"/>
          </a:solidFill>
          <a:ln/>
        </p:spPr>
      </p:sp>
      <p:sp>
        <p:nvSpPr>
          <p:cNvPr id="26" name="Pastille"/>
          <p:cNvSpPr/>
          <p:nvPr/>
        </p:nvSpPr>
        <p:spPr>
          <a:xfrm>
            <a:off x="594360" y="3246120"/>
            <a:ext cx="457200" cy="457200"/>
          </a:xfrm>
          <a:prstGeom prst="ellipse">
            <a:avLst/>
          </a:prstGeom>
          <a:solidFill>
            <a:srgbClr val="F97316"/>
          </a:solidFill>
          <a:ln/>
        </p:spPr>
      </p:sp>
      <p:pic>
        <p:nvPicPr>
          <p:cNvPr id="27" name="Image 0" descr="Shift-left">    </p:cNvPr>
          <p:cNvPicPr>
            <a:picLocks noChangeAspect="1"/>
          </p:cNvPicPr>
          <p:nvPr/>
        </p:nvPicPr>
        <p:blipFill>
          <a:blip r:embed="rId1"/>
          <a:stretch>
            <a:fillRect/>
          </a:stretch>
        </p:blipFill>
        <p:spPr>
          <a:xfrm>
            <a:off x="704088" y="3355848"/>
            <a:ext cx="237744" cy="237744"/>
          </a:xfrm>
          <a:prstGeom prst="rect">
            <a:avLst/>
          </a:prstGeom>
        </p:spPr>
      </p:pic>
      <p:sp>
        <p:nvSpPr>
          <p:cNvPr id="28" name="Text 24"/>
          <p:cNvSpPr txBox="1"/>
          <p:nvPr/>
        </p:nvSpPr>
        <p:spPr>
          <a:xfrm>
            <a:off x="594360" y="3794760"/>
            <a:ext cx="3749040" cy="365760"/>
          </a:xfrm>
          <a:prstGeom prst="rect">
            <a:avLst/>
          </a:prstGeom>
          <a:noFill/>
          <a:ln/>
        </p:spPr>
        <p:txBody>
          <a:bodyPr wrap="square" lIns="0" tIns="0" rIns="0" bIns="0" rtlCol="0" anchor="ctr"/>
          <a:lstStyle/>
          <a:p>
            <a:pPr indent="0" marL="0">
              <a:buNone/>
            </a:pPr>
            <a:r>
              <a:rPr lang="en-US" sz="1500" b="1" dirty="0">
                <a:solidFill>
                  <a:srgbClr val="0F172A"/>
                </a:solidFill>
              </a:rPr>
              <a:t>Shift-left</a:t>
            </a:r>
            <a:endParaRPr lang="en-US" sz="1500" dirty="0"/>
          </a:p>
        </p:txBody>
      </p:sp>
      <p:sp>
        <p:nvSpPr>
          <p:cNvPr id="29" name="Text 25"/>
          <p:cNvSpPr txBox="1"/>
          <p:nvPr/>
        </p:nvSpPr>
        <p:spPr>
          <a:xfrm>
            <a:off x="594360" y="4178808"/>
            <a:ext cx="3749040" cy="27432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Détecter tôt = corriger moins cher. Les scans tournent dans le pipeline.</a:t>
            </a:r>
            <a:endParaRPr lang="en-US" sz="1300" dirty="0"/>
          </a:p>
        </p:txBody>
      </p:sp>
      <p:sp>
        <p:nvSpPr>
          <p:cNvPr id="30" name="Carte"/>
          <p:cNvSpPr/>
          <p:nvPr/>
        </p:nvSpPr>
        <p:spPr>
          <a:xfrm>
            <a:off x="4663440" y="3108960"/>
            <a:ext cx="4023360" cy="1417320"/>
          </a:xfrm>
          <a:prstGeom prst="roundRect">
            <a:avLst>
              <a:gd name="adj" fmla="val 5161"/>
            </a:avLst>
          </a:prstGeom>
          <a:solidFill>
            <a:srgbClr val="F1F5F9"/>
          </a:solidFill>
          <a:ln/>
        </p:spPr>
      </p:sp>
      <p:sp>
        <p:nvSpPr>
          <p:cNvPr id="31" name="Pastille"/>
          <p:cNvSpPr/>
          <p:nvPr/>
        </p:nvSpPr>
        <p:spPr>
          <a:xfrm>
            <a:off x="4800600" y="3246120"/>
            <a:ext cx="457200" cy="457200"/>
          </a:xfrm>
          <a:prstGeom prst="ellipse">
            <a:avLst/>
          </a:prstGeom>
          <a:solidFill>
            <a:srgbClr val="7C3AED"/>
          </a:solidFill>
          <a:ln/>
        </p:spPr>
      </p:sp>
      <p:pic>
        <p:nvPicPr>
          <p:cNvPr id="32" name="Image 1" descr="Secrets">    </p:cNvPr>
          <p:cNvPicPr>
            <a:picLocks noChangeAspect="1"/>
          </p:cNvPicPr>
          <p:nvPr/>
        </p:nvPicPr>
        <p:blipFill>
          <a:blip r:embed="rId2"/>
          <a:stretch>
            <a:fillRect/>
          </a:stretch>
        </p:blipFill>
        <p:spPr>
          <a:xfrm>
            <a:off x="4910328" y="3355848"/>
            <a:ext cx="237744" cy="237744"/>
          </a:xfrm>
          <a:prstGeom prst="rect">
            <a:avLst/>
          </a:prstGeom>
        </p:spPr>
      </p:pic>
      <p:sp>
        <p:nvSpPr>
          <p:cNvPr id="33" name="Text 28"/>
          <p:cNvSpPr txBox="1"/>
          <p:nvPr/>
        </p:nvSpPr>
        <p:spPr>
          <a:xfrm>
            <a:off x="4800600" y="3794760"/>
            <a:ext cx="3749040" cy="365760"/>
          </a:xfrm>
          <a:prstGeom prst="rect">
            <a:avLst/>
          </a:prstGeom>
          <a:noFill/>
          <a:ln/>
        </p:spPr>
        <p:txBody>
          <a:bodyPr wrap="square" lIns="0" tIns="0" rIns="0" bIns="0" rtlCol="0" anchor="ctr"/>
          <a:lstStyle/>
          <a:p>
            <a:pPr indent="0" marL="0">
              <a:buNone/>
            </a:pPr>
            <a:r>
              <a:rPr lang="en-US" sz="1500" b="1" dirty="0">
                <a:solidFill>
                  <a:srgbClr val="0F172A"/>
                </a:solidFill>
              </a:rPr>
              <a:t>Secrets</a:t>
            </a:r>
            <a:endParaRPr lang="en-US" sz="1500" dirty="0"/>
          </a:p>
        </p:txBody>
      </p:sp>
      <p:sp>
        <p:nvSpPr>
          <p:cNvPr id="34" name="Text 29"/>
          <p:cNvSpPr txBox="1"/>
          <p:nvPr/>
        </p:nvSpPr>
        <p:spPr>
          <a:xfrm>
            <a:off x="4800600" y="4178808"/>
            <a:ext cx="3749040" cy="27432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Jamais de mot de passe dans Git. Utiliser un coffre (Vault, gestionnaire cloud).</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Mesurer le succès : les métriques DORA</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Shape 3"/>
          <p:cNvSpPr/>
          <p:nvPr/>
        </p:nvSpPr>
        <p:spPr>
          <a:xfrm>
            <a:off x="457200" y="1280160"/>
            <a:ext cx="4023360" cy="1554480"/>
          </a:xfrm>
          <a:prstGeom prst="roundRect">
            <a:avLst>
              <a:gd name="adj" fmla="val 4706"/>
            </a:avLst>
          </a:prstGeom>
          <a:solidFill>
            <a:srgbClr val="F1F5F9"/>
          </a:solidFill>
          <a:ln/>
        </p:spPr>
      </p:sp>
      <p:sp>
        <p:nvSpPr>
          <p:cNvPr id="7" name="Text 4"/>
          <p:cNvSpPr txBox="1"/>
          <p:nvPr/>
        </p:nvSpPr>
        <p:spPr>
          <a:xfrm>
            <a:off x="640080" y="1417320"/>
            <a:ext cx="3657600" cy="731520"/>
          </a:xfrm>
          <a:prstGeom prst="rect">
            <a:avLst/>
          </a:prstGeom>
          <a:noFill/>
          <a:ln/>
        </p:spPr>
        <p:txBody>
          <a:bodyPr wrap="square" lIns="0" tIns="0" rIns="0" bIns="0" rtlCol="0" anchor="ctr"/>
          <a:lstStyle/>
          <a:p>
            <a:pPr indent="0" marL="0">
              <a:buNone/>
            </a:pPr>
            <a:r>
              <a:rPr lang="en-US" sz="3600" b="1" dirty="0">
                <a:solidFill>
                  <a:srgbClr val="0D9488"/>
                </a:solidFill>
                <a:latin typeface="Cambria" pitchFamily="34" charset="0"/>
                <a:ea typeface="Cambria" pitchFamily="34" charset="-122"/>
                <a:cs typeface="Cambria" pitchFamily="34" charset="-120"/>
              </a:rPr>
              <a:t>À la demande</a:t>
            </a:r>
            <a:endParaRPr lang="en-US" sz="3600" dirty="0"/>
          </a:p>
        </p:txBody>
      </p:sp>
      <p:sp>
        <p:nvSpPr>
          <p:cNvPr id="8" name="Text 5"/>
          <p:cNvSpPr txBox="1"/>
          <p:nvPr/>
        </p:nvSpPr>
        <p:spPr>
          <a:xfrm>
            <a:off x="640080" y="2148840"/>
            <a:ext cx="2743200" cy="548640"/>
          </a:xfrm>
          <a:prstGeom prst="rect">
            <a:avLst/>
          </a:prstGeom>
          <a:noFill/>
          <a:ln/>
        </p:spPr>
        <p:txBody>
          <a:bodyPr wrap="square" lIns="0" tIns="0" rIns="0" bIns="0" rtlCol="0" anchor="t"/>
          <a:lstStyle/>
          <a:p>
            <a:pPr indent="0" marL="0">
              <a:buNone/>
            </a:pPr>
            <a:r>
              <a:rPr lang="en-US" sz="1500" b="1" dirty="0">
                <a:solidFill>
                  <a:srgbClr val="0F172A"/>
                </a:solidFill>
              </a:rPr>
              <a:t>Fréquence de déploiement</a:t>
            </a:r>
            <a:endParaRPr lang="en-US" sz="1500" dirty="0"/>
          </a:p>
        </p:txBody>
      </p:sp>
      <p:sp>
        <p:nvSpPr>
          <p:cNvPr id="9" name="Text 6"/>
          <p:cNvSpPr txBox="1"/>
          <p:nvPr/>
        </p:nvSpPr>
        <p:spPr>
          <a:xfrm>
            <a:off x="3291840" y="1371600"/>
            <a:ext cx="1097280" cy="274320"/>
          </a:xfrm>
          <a:prstGeom prst="rect">
            <a:avLst/>
          </a:prstGeom>
          <a:noFill/>
          <a:ln/>
        </p:spPr>
        <p:txBody>
          <a:bodyPr wrap="square" lIns="0" tIns="0" rIns="0" bIns="0" rtlCol="0" anchor="ctr"/>
          <a:lstStyle/>
          <a:p>
            <a:pPr algn="r" indent="0" marL="0">
              <a:buNone/>
            </a:pPr>
            <a:r>
              <a:rPr lang="en-US" sz="1100" b="1" dirty="0">
                <a:solidFill>
                  <a:srgbClr val="0D9488"/>
                </a:solidFill>
              </a:rPr>
              <a:t>Vitesse</a:t>
            </a:r>
            <a:endParaRPr lang="en-US" sz="1100" dirty="0"/>
          </a:p>
        </p:txBody>
      </p:sp>
      <p:sp>
        <p:nvSpPr>
          <p:cNvPr id="10" name="Shape 7"/>
          <p:cNvSpPr/>
          <p:nvPr/>
        </p:nvSpPr>
        <p:spPr>
          <a:xfrm>
            <a:off x="4663440" y="1280160"/>
            <a:ext cx="4023360" cy="1554480"/>
          </a:xfrm>
          <a:prstGeom prst="roundRect">
            <a:avLst>
              <a:gd name="adj" fmla="val 4706"/>
            </a:avLst>
          </a:prstGeom>
          <a:solidFill>
            <a:srgbClr val="F1F5F9"/>
          </a:solidFill>
          <a:ln/>
        </p:spPr>
      </p:sp>
      <p:sp>
        <p:nvSpPr>
          <p:cNvPr id="11" name="Text 8"/>
          <p:cNvSpPr txBox="1"/>
          <p:nvPr/>
        </p:nvSpPr>
        <p:spPr>
          <a:xfrm>
            <a:off x="4846320" y="1417320"/>
            <a:ext cx="3657600" cy="731520"/>
          </a:xfrm>
          <a:prstGeom prst="rect">
            <a:avLst/>
          </a:prstGeom>
          <a:noFill/>
          <a:ln/>
        </p:spPr>
        <p:txBody>
          <a:bodyPr wrap="square" lIns="0" tIns="0" rIns="0" bIns="0" rtlCol="0" anchor="ctr"/>
          <a:lstStyle/>
          <a:p>
            <a:pPr indent="0" marL="0">
              <a:buNone/>
            </a:pPr>
            <a:r>
              <a:rPr lang="en-US" sz="3600" b="1" dirty="0">
                <a:solidFill>
                  <a:srgbClr val="0EA5E9"/>
                </a:solidFill>
                <a:latin typeface="Cambria" pitchFamily="34" charset="0"/>
                <a:ea typeface="Cambria" pitchFamily="34" charset="-122"/>
                <a:cs typeface="Cambria" pitchFamily="34" charset="-120"/>
              </a:rPr>
              <a:t>&lt; 1 jour</a:t>
            </a:r>
            <a:endParaRPr lang="en-US" sz="3600" dirty="0"/>
          </a:p>
        </p:txBody>
      </p:sp>
      <p:sp>
        <p:nvSpPr>
          <p:cNvPr id="12" name="Text 9"/>
          <p:cNvSpPr txBox="1"/>
          <p:nvPr/>
        </p:nvSpPr>
        <p:spPr>
          <a:xfrm>
            <a:off x="4846320" y="2148840"/>
            <a:ext cx="2743200" cy="548640"/>
          </a:xfrm>
          <a:prstGeom prst="rect">
            <a:avLst/>
          </a:prstGeom>
          <a:noFill/>
          <a:ln/>
        </p:spPr>
        <p:txBody>
          <a:bodyPr wrap="square" lIns="0" tIns="0" rIns="0" bIns="0" rtlCol="0" anchor="t"/>
          <a:lstStyle/>
          <a:p>
            <a:pPr indent="0" marL="0">
              <a:buNone/>
            </a:pPr>
            <a:r>
              <a:rPr lang="en-US" sz="1500" b="1" dirty="0">
                <a:solidFill>
                  <a:srgbClr val="0F172A"/>
                </a:solidFill>
              </a:rPr>
              <a:t>Délai de livraison</a:t>
            </a:r>
            <a:endParaRPr lang="en-US" sz="1500" dirty="0"/>
          </a:p>
        </p:txBody>
      </p:sp>
      <p:sp>
        <p:nvSpPr>
          <p:cNvPr id="13" name="Text 10"/>
          <p:cNvSpPr txBox="1"/>
          <p:nvPr/>
        </p:nvSpPr>
        <p:spPr>
          <a:xfrm>
            <a:off x="7498080" y="1371600"/>
            <a:ext cx="1097280" cy="274320"/>
          </a:xfrm>
          <a:prstGeom prst="rect">
            <a:avLst/>
          </a:prstGeom>
          <a:noFill/>
          <a:ln/>
        </p:spPr>
        <p:txBody>
          <a:bodyPr wrap="square" lIns="0" tIns="0" rIns="0" bIns="0" rtlCol="0" anchor="ctr"/>
          <a:lstStyle/>
          <a:p>
            <a:pPr algn="r" indent="0" marL="0">
              <a:buNone/>
            </a:pPr>
            <a:r>
              <a:rPr lang="en-US" sz="1100" b="1" dirty="0">
                <a:solidFill>
                  <a:srgbClr val="0EA5E9"/>
                </a:solidFill>
              </a:rPr>
              <a:t>Vitesse</a:t>
            </a:r>
            <a:endParaRPr lang="en-US" sz="1100" dirty="0"/>
          </a:p>
        </p:txBody>
      </p:sp>
      <p:sp>
        <p:nvSpPr>
          <p:cNvPr id="14" name="Shape 11"/>
          <p:cNvSpPr/>
          <p:nvPr/>
        </p:nvSpPr>
        <p:spPr>
          <a:xfrm>
            <a:off x="457200" y="2971800"/>
            <a:ext cx="4023360" cy="1554480"/>
          </a:xfrm>
          <a:prstGeom prst="roundRect">
            <a:avLst>
              <a:gd name="adj" fmla="val 4706"/>
            </a:avLst>
          </a:prstGeom>
          <a:solidFill>
            <a:srgbClr val="F1F5F9"/>
          </a:solidFill>
          <a:ln/>
        </p:spPr>
      </p:sp>
      <p:sp>
        <p:nvSpPr>
          <p:cNvPr id="15" name="Text 12"/>
          <p:cNvSpPr txBox="1"/>
          <p:nvPr/>
        </p:nvSpPr>
        <p:spPr>
          <a:xfrm>
            <a:off x="640080" y="3108960"/>
            <a:ext cx="3657600" cy="731520"/>
          </a:xfrm>
          <a:prstGeom prst="rect">
            <a:avLst/>
          </a:prstGeom>
          <a:noFill/>
          <a:ln/>
        </p:spPr>
        <p:txBody>
          <a:bodyPr wrap="square" lIns="0" tIns="0" rIns="0" bIns="0" rtlCol="0" anchor="ctr"/>
          <a:lstStyle/>
          <a:p>
            <a:pPr indent="0" marL="0">
              <a:buNone/>
            </a:pPr>
            <a:r>
              <a:rPr lang="en-US" sz="3600" b="1" dirty="0">
                <a:solidFill>
                  <a:srgbClr val="F97316"/>
                </a:solidFill>
                <a:latin typeface="Cambria" pitchFamily="34" charset="0"/>
                <a:ea typeface="Cambria" pitchFamily="34" charset="-122"/>
                <a:cs typeface="Cambria" pitchFamily="34" charset="-120"/>
              </a:rPr>
              <a:t>0 – 15 %</a:t>
            </a:r>
            <a:endParaRPr lang="en-US" sz="3600" dirty="0"/>
          </a:p>
        </p:txBody>
      </p:sp>
      <p:sp>
        <p:nvSpPr>
          <p:cNvPr id="16" name="Text 13"/>
          <p:cNvSpPr txBox="1"/>
          <p:nvPr/>
        </p:nvSpPr>
        <p:spPr>
          <a:xfrm>
            <a:off x="640080" y="3840480"/>
            <a:ext cx="2743200" cy="548640"/>
          </a:xfrm>
          <a:prstGeom prst="rect">
            <a:avLst/>
          </a:prstGeom>
          <a:noFill/>
          <a:ln/>
        </p:spPr>
        <p:txBody>
          <a:bodyPr wrap="square" lIns="0" tIns="0" rIns="0" bIns="0" rtlCol="0" anchor="t"/>
          <a:lstStyle/>
          <a:p>
            <a:pPr indent="0" marL="0">
              <a:buNone/>
            </a:pPr>
            <a:r>
              <a:rPr lang="en-US" sz="1500" b="1" dirty="0">
                <a:solidFill>
                  <a:srgbClr val="0F172A"/>
                </a:solidFill>
              </a:rPr>
              <a:t>Taux d'échec des changements</a:t>
            </a:r>
            <a:endParaRPr lang="en-US" sz="1500" dirty="0"/>
          </a:p>
        </p:txBody>
      </p:sp>
      <p:sp>
        <p:nvSpPr>
          <p:cNvPr id="17" name="Text 14"/>
          <p:cNvSpPr txBox="1"/>
          <p:nvPr/>
        </p:nvSpPr>
        <p:spPr>
          <a:xfrm>
            <a:off x="3291840" y="3063240"/>
            <a:ext cx="1097280" cy="274320"/>
          </a:xfrm>
          <a:prstGeom prst="rect">
            <a:avLst/>
          </a:prstGeom>
          <a:noFill/>
          <a:ln/>
        </p:spPr>
        <p:txBody>
          <a:bodyPr wrap="square" lIns="0" tIns="0" rIns="0" bIns="0" rtlCol="0" anchor="ctr"/>
          <a:lstStyle/>
          <a:p>
            <a:pPr algn="r" indent="0" marL="0">
              <a:buNone/>
            </a:pPr>
            <a:r>
              <a:rPr lang="en-US" sz="1100" b="1" dirty="0">
                <a:solidFill>
                  <a:srgbClr val="F97316"/>
                </a:solidFill>
              </a:rPr>
              <a:t>Stabilité</a:t>
            </a:r>
            <a:endParaRPr lang="en-US" sz="1100" dirty="0"/>
          </a:p>
        </p:txBody>
      </p:sp>
      <p:sp>
        <p:nvSpPr>
          <p:cNvPr id="18" name="Shape 15"/>
          <p:cNvSpPr/>
          <p:nvPr/>
        </p:nvSpPr>
        <p:spPr>
          <a:xfrm>
            <a:off x="4663440" y="2971800"/>
            <a:ext cx="4023360" cy="1554480"/>
          </a:xfrm>
          <a:prstGeom prst="roundRect">
            <a:avLst>
              <a:gd name="adj" fmla="val 4706"/>
            </a:avLst>
          </a:prstGeom>
          <a:solidFill>
            <a:srgbClr val="F1F5F9"/>
          </a:solidFill>
          <a:ln/>
        </p:spPr>
      </p:sp>
      <p:sp>
        <p:nvSpPr>
          <p:cNvPr id="19" name="Text 16"/>
          <p:cNvSpPr txBox="1"/>
          <p:nvPr/>
        </p:nvSpPr>
        <p:spPr>
          <a:xfrm>
            <a:off x="4846320" y="3108960"/>
            <a:ext cx="3657600" cy="731520"/>
          </a:xfrm>
          <a:prstGeom prst="rect">
            <a:avLst/>
          </a:prstGeom>
          <a:noFill/>
          <a:ln/>
        </p:spPr>
        <p:txBody>
          <a:bodyPr wrap="square" lIns="0" tIns="0" rIns="0" bIns="0" rtlCol="0" anchor="ctr"/>
          <a:lstStyle/>
          <a:p>
            <a:pPr indent="0" marL="0">
              <a:buNone/>
            </a:pPr>
            <a:r>
              <a:rPr lang="en-US" sz="3600" b="1" dirty="0">
                <a:solidFill>
                  <a:srgbClr val="7C3AED"/>
                </a:solidFill>
                <a:latin typeface="Cambria" pitchFamily="34" charset="0"/>
                <a:ea typeface="Cambria" pitchFamily="34" charset="-122"/>
                <a:cs typeface="Cambria" pitchFamily="34" charset="-120"/>
              </a:rPr>
              <a:t>&lt; 1 heure</a:t>
            </a:r>
            <a:endParaRPr lang="en-US" sz="3600" dirty="0"/>
          </a:p>
        </p:txBody>
      </p:sp>
      <p:sp>
        <p:nvSpPr>
          <p:cNvPr id="20" name="Text 17"/>
          <p:cNvSpPr txBox="1"/>
          <p:nvPr/>
        </p:nvSpPr>
        <p:spPr>
          <a:xfrm>
            <a:off x="4846320" y="3840480"/>
            <a:ext cx="2743200" cy="548640"/>
          </a:xfrm>
          <a:prstGeom prst="rect">
            <a:avLst/>
          </a:prstGeom>
          <a:noFill/>
          <a:ln/>
        </p:spPr>
        <p:txBody>
          <a:bodyPr wrap="square" lIns="0" tIns="0" rIns="0" bIns="0" rtlCol="0" anchor="t"/>
          <a:lstStyle/>
          <a:p>
            <a:pPr indent="0" marL="0">
              <a:buNone/>
            </a:pPr>
            <a:r>
              <a:rPr lang="en-US" sz="1500" b="1" dirty="0">
                <a:solidFill>
                  <a:srgbClr val="0F172A"/>
                </a:solidFill>
              </a:rPr>
              <a:t>Temps de restauration</a:t>
            </a:r>
            <a:endParaRPr lang="en-US" sz="1500" dirty="0"/>
          </a:p>
        </p:txBody>
      </p:sp>
      <p:sp>
        <p:nvSpPr>
          <p:cNvPr id="21" name="Text 18"/>
          <p:cNvSpPr txBox="1"/>
          <p:nvPr/>
        </p:nvSpPr>
        <p:spPr>
          <a:xfrm>
            <a:off x="7498080" y="3063240"/>
            <a:ext cx="1097280" cy="274320"/>
          </a:xfrm>
          <a:prstGeom prst="rect">
            <a:avLst/>
          </a:prstGeom>
          <a:noFill/>
          <a:ln/>
        </p:spPr>
        <p:txBody>
          <a:bodyPr wrap="square" lIns="0" tIns="0" rIns="0" bIns="0" rtlCol="0" anchor="ctr"/>
          <a:lstStyle/>
          <a:p>
            <a:pPr algn="r" indent="0" marL="0">
              <a:buNone/>
            </a:pPr>
            <a:r>
              <a:rPr lang="en-US" sz="1100" b="1" dirty="0">
                <a:solidFill>
                  <a:srgbClr val="7C3AED"/>
                </a:solidFill>
              </a:rPr>
              <a:t>Stabilité</a:t>
            </a:r>
            <a:endParaRPr lang="en-US" sz="1100" dirty="0"/>
          </a:p>
        </p:txBody>
      </p:sp>
      <p:sp>
        <p:nvSpPr>
          <p:cNvPr id="22" name="Text 19"/>
          <p:cNvSpPr txBox="1"/>
          <p:nvPr/>
        </p:nvSpPr>
        <p:spPr>
          <a:xfrm>
            <a:off x="457200" y="4709160"/>
            <a:ext cx="5486400" cy="228600"/>
          </a:xfrm>
          <a:prstGeom prst="rect">
            <a:avLst/>
          </a:prstGeom>
          <a:noFill/>
          <a:ln/>
        </p:spPr>
        <p:txBody>
          <a:bodyPr wrap="square" lIns="0" tIns="0" rIns="0" bIns="0" rtlCol="0" anchor="ctr"/>
          <a:lstStyle/>
          <a:p>
            <a:pPr indent="0" marL="0">
              <a:buNone/>
            </a:pPr>
            <a:r>
              <a:rPr lang="en-US" sz="1000" dirty="0">
                <a:solidFill>
                  <a:srgbClr val="64748B"/>
                </a:solidFill>
              </a:rPr>
              <a:t>Repères « Elite » du rapport DORA</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TP : Docker, Kubernetes et Terraform</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Fiche TP"/>
          <p:cNvSpPr/>
          <p:nvPr/>
        </p:nvSpPr>
        <p:spPr>
          <a:xfrm>
            <a:off x="457200" y="1188720"/>
            <a:ext cx="2651760" cy="2743200"/>
          </a:xfrm>
          <a:prstGeom prst="roundRect">
            <a:avLst>
              <a:gd name="adj" fmla="val 2759"/>
            </a:avLst>
          </a:prstGeom>
          <a:solidFill>
            <a:srgbClr val="F1F5F9"/>
          </a:solidFill>
          <a:ln/>
        </p:spPr>
      </p:sp>
      <p:sp>
        <p:nvSpPr>
          <p:cNvPr id="7" name="Text 4"/>
          <p:cNvSpPr txBox="1"/>
          <p:nvPr/>
        </p:nvSpPr>
        <p:spPr>
          <a:xfrm>
            <a:off x="594360" y="1280160"/>
            <a:ext cx="2377440" cy="2560320"/>
          </a:xfrm>
          <a:prstGeom prst="rect">
            <a:avLst/>
          </a:prstGeom>
          <a:noFill/>
          <a:ln/>
        </p:spPr>
        <p:txBody>
          <a:bodyPr wrap="square" lIns="0" tIns="0" rIns="0" bIns="0" rtlCol="0" anchor="t"/>
          <a:lstStyle/>
          <a:p>
            <a:pPr indent="0" marL="0">
              <a:buNone/>
            </a:pPr>
            <a:r>
              <a:rPr lang="en-US" sz="1300" b="1" dirty="0">
                <a:solidFill>
                  <a:srgbClr val="0EA5E9"/>
                </a:solidFill>
              </a:rPr>
              <a:t>Durée</a:t>
            </a:r>
            <a:endParaRPr lang="en-US" sz="1300" dirty="0"/>
          </a:p>
          <a:p>
            <a:pPr indent="0" marL="0">
              <a:buNone/>
            </a:pPr>
            <a:r>
              <a:rPr lang="en-US" sz="1300" dirty="0">
                <a:solidFill>
                  <a:srgbClr val="1E293B"/>
                </a:solidFill>
              </a:rPr>
              <a:t>3 h</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0EA5E9"/>
                </a:solidFill>
              </a:rPr>
              <a:t>Objectif</a:t>
            </a:r>
            <a:endParaRPr lang="en-US" sz="1300" dirty="0"/>
          </a:p>
          <a:p>
            <a:pPr indent="0" marL="0">
              <a:buNone/>
            </a:pPr>
            <a:r>
              <a:rPr lang="en-US" sz="1300" dirty="0">
                <a:solidFill>
                  <a:srgbClr val="1E293B"/>
                </a:solidFill>
              </a:rPr>
              <a:t>Conteneuriser une application, la déployer sur un cluster local et décrire son infrastructure en code.</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0EA5E9"/>
                </a:solidFill>
              </a:rPr>
              <a:t>Prérequis</a:t>
            </a:r>
            <a:endParaRPr lang="en-US" sz="1300" dirty="0"/>
          </a:p>
          <a:p>
            <a:pPr indent="0" marL="0">
              <a:buNone/>
            </a:pPr>
            <a:r>
              <a:rPr lang="en-US" sz="1300" dirty="0">
                <a:solidFill>
                  <a:srgbClr val="1E293B"/>
                </a:solidFill>
              </a:rPr>
              <a:t>Docker, kind ou minikube, kubectl, Terraform.</a:t>
            </a:r>
            <a:endParaRPr lang="en-US" sz="1300" dirty="0"/>
          </a:p>
        </p:txBody>
      </p:sp>
      <p:sp>
        <p:nvSpPr>
          <p:cNvPr id="8" name="Shape 5"/>
          <p:cNvSpPr/>
          <p:nvPr/>
        </p:nvSpPr>
        <p:spPr>
          <a:xfrm>
            <a:off x="3337560" y="1280160"/>
            <a:ext cx="365760" cy="365760"/>
          </a:xfrm>
          <a:prstGeom prst="ellipse">
            <a:avLst/>
          </a:prstGeom>
          <a:solidFill>
            <a:srgbClr val="0EA5E9"/>
          </a:solidFill>
          <a:ln/>
        </p:spPr>
      </p:sp>
      <p:sp>
        <p:nvSpPr>
          <p:cNvPr id="9" name="Text 6"/>
          <p:cNvSpPr txBox="1"/>
          <p:nvPr/>
        </p:nvSpPr>
        <p:spPr>
          <a:xfrm>
            <a:off x="3337560" y="1280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7"/>
          <p:cNvSpPr txBox="1"/>
          <p:nvPr/>
        </p:nvSpPr>
        <p:spPr>
          <a:xfrm>
            <a:off x="3840480" y="118872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Écrire un Dockerfile et construire l'image : docker build -t shop:1.0 .</a:t>
            </a:r>
            <a:endParaRPr lang="en-US" sz="1300" dirty="0"/>
          </a:p>
        </p:txBody>
      </p:sp>
      <p:sp>
        <p:nvSpPr>
          <p:cNvPr id="11" name="Shape 8"/>
          <p:cNvSpPr/>
          <p:nvPr/>
        </p:nvSpPr>
        <p:spPr>
          <a:xfrm>
            <a:off x="3337560" y="1828800"/>
            <a:ext cx="365760" cy="365760"/>
          </a:xfrm>
          <a:prstGeom prst="ellipse">
            <a:avLst/>
          </a:prstGeom>
          <a:solidFill>
            <a:srgbClr val="0EA5E9"/>
          </a:solidFill>
          <a:ln/>
        </p:spPr>
      </p:sp>
      <p:sp>
        <p:nvSpPr>
          <p:cNvPr id="12" name="Text 9"/>
          <p:cNvSpPr txBox="1"/>
          <p:nvPr/>
        </p:nvSpPr>
        <p:spPr>
          <a:xfrm>
            <a:off x="3337560" y="1828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3840480" y="173736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Créer un cluster local : kind create cluster</a:t>
            </a:r>
            <a:endParaRPr lang="en-US" sz="1300" dirty="0"/>
          </a:p>
        </p:txBody>
      </p:sp>
      <p:sp>
        <p:nvSpPr>
          <p:cNvPr id="14" name="Shape 11"/>
          <p:cNvSpPr/>
          <p:nvPr/>
        </p:nvSpPr>
        <p:spPr>
          <a:xfrm>
            <a:off x="3337560" y="2377440"/>
            <a:ext cx="365760" cy="365760"/>
          </a:xfrm>
          <a:prstGeom prst="ellipse">
            <a:avLst/>
          </a:prstGeom>
          <a:solidFill>
            <a:srgbClr val="0EA5E9"/>
          </a:solidFill>
          <a:ln/>
        </p:spPr>
      </p:sp>
      <p:sp>
        <p:nvSpPr>
          <p:cNvPr id="15" name="Text 12"/>
          <p:cNvSpPr txBox="1"/>
          <p:nvPr/>
        </p:nvSpPr>
        <p:spPr>
          <a:xfrm>
            <a:off x="3337560" y="2377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3"/>
          <p:cNvSpPr txBox="1"/>
          <p:nvPr/>
        </p:nvSpPr>
        <p:spPr>
          <a:xfrm>
            <a:off x="3840480" y="228600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Écrire deployment.yaml et service.yaml, puis kubectl apply -f .</a:t>
            </a:r>
            <a:endParaRPr lang="en-US" sz="1300" dirty="0"/>
          </a:p>
        </p:txBody>
      </p:sp>
      <p:sp>
        <p:nvSpPr>
          <p:cNvPr id="17" name="Shape 14"/>
          <p:cNvSpPr/>
          <p:nvPr/>
        </p:nvSpPr>
        <p:spPr>
          <a:xfrm>
            <a:off x="3337560" y="2926080"/>
            <a:ext cx="365760" cy="365760"/>
          </a:xfrm>
          <a:prstGeom prst="ellipse">
            <a:avLst/>
          </a:prstGeom>
          <a:solidFill>
            <a:srgbClr val="0EA5E9"/>
          </a:solidFill>
          <a:ln/>
        </p:spPr>
      </p:sp>
      <p:sp>
        <p:nvSpPr>
          <p:cNvPr id="18" name="Text 15"/>
          <p:cNvSpPr txBox="1"/>
          <p:nvPr/>
        </p:nvSpPr>
        <p:spPr>
          <a:xfrm>
            <a:off x="3337560" y="2926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3840480" y="283464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Provisionner avec Terraform (fournisseur docker ou kubernetes) : plan, apply, destroy</a:t>
            </a:r>
            <a:endParaRPr lang="en-US" sz="1300" dirty="0"/>
          </a:p>
        </p:txBody>
      </p:sp>
      <p:sp>
        <p:nvSpPr>
          <p:cNvPr id="20" name="Shape 17"/>
          <p:cNvSpPr/>
          <p:nvPr/>
        </p:nvSpPr>
        <p:spPr>
          <a:xfrm>
            <a:off x="3337560" y="3474720"/>
            <a:ext cx="365760" cy="365760"/>
          </a:xfrm>
          <a:prstGeom prst="ellipse">
            <a:avLst/>
          </a:prstGeom>
          <a:solidFill>
            <a:srgbClr val="0EA5E9"/>
          </a:solidFill>
          <a:ln/>
        </p:spPr>
      </p:sp>
      <p:sp>
        <p:nvSpPr>
          <p:cNvPr id="21" name="Text 18"/>
          <p:cNvSpPr txBox="1"/>
          <p:nvPr/>
        </p:nvSpPr>
        <p:spPr>
          <a:xfrm>
            <a:off x="3337560" y="3474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19"/>
          <p:cNvSpPr txBox="1"/>
          <p:nvPr/>
        </p:nvSpPr>
        <p:spPr>
          <a:xfrm>
            <a:off x="3840480" y="338328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Tester une mise à jour progressive : kubectl set image puis kubectl rollout undo</a:t>
            </a:r>
            <a:endParaRPr lang="en-US" sz="1300" dirty="0"/>
          </a:p>
        </p:txBody>
      </p:sp>
      <p:sp>
        <p:nvSpPr>
          <p:cNvPr id="23" name="Livrable"/>
          <p:cNvSpPr/>
          <p:nvPr/>
        </p:nvSpPr>
        <p:spPr>
          <a:xfrm>
            <a:off x="457200" y="4069080"/>
            <a:ext cx="8229600" cy="548640"/>
          </a:xfrm>
          <a:prstGeom prst="roundRect">
            <a:avLst>
              <a:gd name="adj" fmla="val 13333"/>
            </a:avLst>
          </a:prstGeom>
          <a:solidFill>
            <a:srgbClr val="0F172A"/>
          </a:solidFill>
          <a:ln/>
        </p:spPr>
      </p:sp>
      <p:sp>
        <p:nvSpPr>
          <p:cNvPr id="24" name="Text 21"/>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400" b="1" dirty="0">
                <a:solidFill>
                  <a:srgbClr val="5EEAD4"/>
                </a:solidFill>
              </a:rPr>
              <a:t>Livrable : </a:t>
            </a:r>
            <a:pPr indent="0" marL="0">
              <a:buNone/>
            </a:pPr>
            <a:r>
              <a:rPr lang="en-US" sz="1400" dirty="0">
                <a:solidFill>
                  <a:srgbClr val="FFFFFF"/>
                </a:solidFill>
              </a:rPr>
              <a:t>application accessible, fichiers Terraform et YAML versionnés dans Git.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Quiz niveau Intermédiaire</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Question"/>
          <p:cNvSpPr/>
          <p:nvPr/>
        </p:nvSpPr>
        <p:spPr>
          <a:xfrm>
            <a:off x="457200" y="1143000"/>
            <a:ext cx="8229600" cy="612648"/>
          </a:xfrm>
          <a:prstGeom prst="roundRect">
            <a:avLst>
              <a:gd name="adj" fmla="val 11940"/>
            </a:avLst>
          </a:prstGeom>
          <a:solidFill>
            <a:srgbClr val="F1F5F9"/>
          </a:solidFill>
          <a:ln/>
        </p:spPr>
      </p:sp>
      <p:sp>
        <p:nvSpPr>
          <p:cNvPr id="7" name="Shape 4"/>
          <p:cNvSpPr/>
          <p:nvPr/>
        </p:nvSpPr>
        <p:spPr>
          <a:xfrm>
            <a:off x="566928" y="1280160"/>
            <a:ext cx="347472" cy="347472"/>
          </a:xfrm>
          <a:prstGeom prst="ellipse">
            <a:avLst/>
          </a:prstGeom>
          <a:solidFill>
            <a:srgbClr val="0EA5E9"/>
          </a:solidFill>
          <a:ln/>
        </p:spPr>
      </p:sp>
      <p:sp>
        <p:nvSpPr>
          <p:cNvPr id="8" name="Text 5"/>
          <p:cNvSpPr txBox="1"/>
          <p:nvPr/>
        </p:nvSpPr>
        <p:spPr>
          <a:xfrm>
            <a:off x="566928"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6"/>
          <p:cNvSpPr txBox="1"/>
          <p:nvPr/>
        </p:nvSpPr>
        <p:spPr>
          <a:xfrm>
            <a:off x="1051560" y="11430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Quel est l'avantage principal de l'infrastructure as code ?</a:t>
            </a:r>
            <a:endParaRPr lang="en-US" sz="1400" dirty="0"/>
          </a:p>
          <a:p>
            <a:pPr indent="0" marL="0">
              <a:buNone/>
            </a:pPr>
            <a:r>
              <a:rPr lang="en-US" sz="1200" dirty="0">
                <a:solidFill>
                  <a:srgbClr val="1E293B"/>
                </a:solidFill>
              </a:rPr>
              <a:t>A) Reproductibilité et historique des changements    B) Se passer de Git    C) Remplacer les tests</a:t>
            </a:r>
            <a:endParaRPr lang="en-US" sz="1400" dirty="0"/>
          </a:p>
        </p:txBody>
      </p:sp>
      <p:sp>
        <p:nvSpPr>
          <p:cNvPr id="10" name="Question"/>
          <p:cNvSpPr/>
          <p:nvPr/>
        </p:nvSpPr>
        <p:spPr>
          <a:xfrm>
            <a:off x="457200" y="1828800"/>
            <a:ext cx="8229600" cy="612648"/>
          </a:xfrm>
          <a:prstGeom prst="roundRect">
            <a:avLst>
              <a:gd name="adj" fmla="val 11940"/>
            </a:avLst>
          </a:prstGeom>
          <a:solidFill>
            <a:srgbClr val="F1F5F9"/>
          </a:solidFill>
          <a:ln/>
        </p:spPr>
      </p:sp>
      <p:sp>
        <p:nvSpPr>
          <p:cNvPr id="11" name="Shape 8"/>
          <p:cNvSpPr/>
          <p:nvPr/>
        </p:nvSpPr>
        <p:spPr>
          <a:xfrm>
            <a:off x="566928" y="1965960"/>
            <a:ext cx="347472" cy="347472"/>
          </a:xfrm>
          <a:prstGeom prst="ellipse">
            <a:avLst/>
          </a:prstGeom>
          <a:solidFill>
            <a:srgbClr val="0EA5E9"/>
          </a:solidFill>
          <a:ln/>
        </p:spPr>
      </p:sp>
      <p:sp>
        <p:nvSpPr>
          <p:cNvPr id="12" name="Text 9"/>
          <p:cNvSpPr txBox="1"/>
          <p:nvPr/>
        </p:nvSpPr>
        <p:spPr>
          <a:xfrm>
            <a:off x="566928" y="19659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51560" y="18288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Pourquoi lire terraform plan avant terraform apply ?</a:t>
            </a:r>
            <a:endParaRPr lang="en-US" sz="1400" dirty="0"/>
          </a:p>
          <a:p>
            <a:pPr indent="0" marL="0">
              <a:buNone/>
            </a:pPr>
            <a:r>
              <a:rPr lang="en-US" sz="1200" dirty="0">
                <a:solidFill>
                  <a:srgbClr val="1E293B"/>
                </a:solidFill>
              </a:rPr>
              <a:t>A) Pour installer le fournisseur    B) Pour voir les changements avant de les appliquer    C) Pour détruire l'infrastructure</a:t>
            </a:r>
            <a:endParaRPr lang="en-US" sz="1400" dirty="0"/>
          </a:p>
        </p:txBody>
      </p:sp>
      <p:sp>
        <p:nvSpPr>
          <p:cNvPr id="14" name="Question"/>
          <p:cNvSpPr/>
          <p:nvPr/>
        </p:nvSpPr>
        <p:spPr>
          <a:xfrm>
            <a:off x="457200" y="2514600"/>
            <a:ext cx="8229600" cy="612648"/>
          </a:xfrm>
          <a:prstGeom prst="roundRect">
            <a:avLst>
              <a:gd name="adj" fmla="val 11940"/>
            </a:avLst>
          </a:prstGeom>
          <a:solidFill>
            <a:srgbClr val="F1F5F9"/>
          </a:solidFill>
          <a:ln/>
        </p:spPr>
      </p:sp>
      <p:sp>
        <p:nvSpPr>
          <p:cNvPr id="15" name="Shape 12"/>
          <p:cNvSpPr/>
          <p:nvPr/>
        </p:nvSpPr>
        <p:spPr>
          <a:xfrm>
            <a:off x="566928" y="2651760"/>
            <a:ext cx="347472" cy="347472"/>
          </a:xfrm>
          <a:prstGeom prst="ellipse">
            <a:avLst/>
          </a:prstGeom>
          <a:solidFill>
            <a:srgbClr val="0EA5E9"/>
          </a:solidFill>
          <a:ln/>
        </p:spPr>
      </p:sp>
      <p:sp>
        <p:nvSpPr>
          <p:cNvPr id="16" name="Text 13"/>
          <p:cNvSpPr txBox="1"/>
          <p:nvPr/>
        </p:nvSpPr>
        <p:spPr>
          <a:xfrm>
            <a:off x="566928"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4"/>
          <p:cNvSpPr txBox="1"/>
          <p:nvPr/>
        </p:nvSpPr>
        <p:spPr>
          <a:xfrm>
            <a:off x="1051560" y="25146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Quelle stratégie bascule d'un coup tout le trafic entre deux environnements ?</a:t>
            </a:r>
            <a:endParaRPr lang="en-US" sz="1400" dirty="0"/>
          </a:p>
          <a:p>
            <a:pPr indent="0" marL="0">
              <a:buNone/>
            </a:pPr>
            <a:r>
              <a:rPr lang="en-US" sz="1200" dirty="0">
                <a:solidFill>
                  <a:srgbClr val="1E293B"/>
                </a:solidFill>
              </a:rPr>
              <a:t>A) Canary    B) Rolling update    C) Blue / Green</a:t>
            </a:r>
            <a:endParaRPr lang="en-US" sz="1400" dirty="0"/>
          </a:p>
        </p:txBody>
      </p:sp>
      <p:sp>
        <p:nvSpPr>
          <p:cNvPr id="18" name="Question"/>
          <p:cNvSpPr/>
          <p:nvPr/>
        </p:nvSpPr>
        <p:spPr>
          <a:xfrm>
            <a:off x="457200" y="3200400"/>
            <a:ext cx="8229600" cy="612648"/>
          </a:xfrm>
          <a:prstGeom prst="roundRect">
            <a:avLst>
              <a:gd name="adj" fmla="val 11940"/>
            </a:avLst>
          </a:prstGeom>
          <a:solidFill>
            <a:srgbClr val="F1F5F9"/>
          </a:solidFill>
          <a:ln/>
        </p:spPr>
      </p:sp>
      <p:sp>
        <p:nvSpPr>
          <p:cNvPr id="19" name="Shape 16"/>
          <p:cNvSpPr/>
          <p:nvPr/>
        </p:nvSpPr>
        <p:spPr>
          <a:xfrm>
            <a:off x="566928" y="3337560"/>
            <a:ext cx="347472" cy="347472"/>
          </a:xfrm>
          <a:prstGeom prst="ellipse">
            <a:avLst/>
          </a:prstGeom>
          <a:solidFill>
            <a:srgbClr val="0EA5E9"/>
          </a:solidFill>
          <a:ln/>
        </p:spPr>
      </p:sp>
      <p:sp>
        <p:nvSpPr>
          <p:cNvPr id="20" name="Text 17"/>
          <p:cNvSpPr txBox="1"/>
          <p:nvPr/>
        </p:nvSpPr>
        <p:spPr>
          <a:xfrm>
            <a:off x="566928" y="33375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8"/>
          <p:cNvSpPr txBox="1"/>
          <p:nvPr/>
        </p:nvSpPr>
        <p:spPr>
          <a:xfrm>
            <a:off x="1051560" y="32004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Quels sont les trois piliers de l'observabilité ?</a:t>
            </a:r>
            <a:endParaRPr lang="en-US" sz="1400" dirty="0"/>
          </a:p>
          <a:p>
            <a:pPr indent="0" marL="0">
              <a:buNone/>
            </a:pPr>
            <a:r>
              <a:rPr lang="en-US" sz="1200" dirty="0">
                <a:solidFill>
                  <a:srgbClr val="1E293B"/>
                </a:solidFill>
              </a:rPr>
              <a:t>A) Métriques, logs, traces    B) CPU, mémoire, disque    C) Build, test, déploiement</a:t>
            </a:r>
            <a:endParaRPr lang="en-US" sz="1400" dirty="0"/>
          </a:p>
        </p:txBody>
      </p:sp>
      <p:sp>
        <p:nvSpPr>
          <p:cNvPr id="22" name="Question"/>
          <p:cNvSpPr/>
          <p:nvPr/>
        </p:nvSpPr>
        <p:spPr>
          <a:xfrm>
            <a:off x="457200" y="3886200"/>
            <a:ext cx="8229600" cy="612648"/>
          </a:xfrm>
          <a:prstGeom prst="roundRect">
            <a:avLst>
              <a:gd name="adj" fmla="val 11940"/>
            </a:avLst>
          </a:prstGeom>
          <a:solidFill>
            <a:srgbClr val="F1F5F9"/>
          </a:solidFill>
          <a:ln/>
        </p:spPr>
      </p:sp>
      <p:sp>
        <p:nvSpPr>
          <p:cNvPr id="23" name="Shape 20"/>
          <p:cNvSpPr/>
          <p:nvPr/>
        </p:nvSpPr>
        <p:spPr>
          <a:xfrm>
            <a:off x="566928" y="4023360"/>
            <a:ext cx="347472" cy="347472"/>
          </a:xfrm>
          <a:prstGeom prst="ellipse">
            <a:avLst/>
          </a:prstGeom>
          <a:solidFill>
            <a:srgbClr val="0EA5E9"/>
          </a:solidFill>
          <a:ln/>
        </p:spPr>
      </p:sp>
      <p:sp>
        <p:nvSpPr>
          <p:cNvPr id="24" name="Text 21"/>
          <p:cNvSpPr txBox="1"/>
          <p:nvPr/>
        </p:nvSpPr>
        <p:spPr>
          <a:xfrm>
            <a:off x="566928" y="40233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5" name="Text 22"/>
          <p:cNvSpPr txBox="1"/>
          <p:nvPr/>
        </p:nvSpPr>
        <p:spPr>
          <a:xfrm>
            <a:off x="1051560" y="38862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 mesure le taux d'échec des changements (DORA) ?</a:t>
            </a:r>
            <a:endParaRPr lang="en-US" sz="1400" dirty="0"/>
          </a:p>
          <a:p>
            <a:pPr indent="0" marL="0">
              <a:buNone/>
            </a:pPr>
            <a:r>
              <a:rPr lang="en-US" sz="1200" dirty="0">
                <a:solidFill>
                  <a:srgbClr val="1E293B"/>
                </a:solidFill>
              </a:rPr>
              <a:t>A) Le nombre de commits par jour    B) La part des changements provoquant un incident ou un retour arrière    C) La durée du build</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40080" y="1097280"/>
            <a:ext cx="2743200" cy="1463040"/>
          </a:xfrm>
          <a:prstGeom prst="rect">
            <a:avLst/>
          </a:prstGeom>
          <a:noFill/>
          <a:ln/>
        </p:spPr>
        <p:txBody>
          <a:bodyPr wrap="square" lIns="0" tIns="0" rIns="0" bIns="0" rtlCol="0" anchor="ctr"/>
          <a:lstStyle/>
          <a:p>
            <a:pPr indent="0" marL="0">
              <a:buNone/>
            </a:pPr>
            <a:r>
              <a:rPr lang="en-US" sz="9600" b="1" dirty="0">
                <a:solidFill>
                  <a:srgbClr val="7C3AED"/>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640080" y="2651760"/>
            <a:ext cx="78638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GitOps</a:t>
            </a:r>
            <a:endParaRPr lang="en-US" sz="3800" dirty="0"/>
          </a:p>
        </p:txBody>
      </p:sp>
      <p:sp>
        <p:nvSpPr>
          <p:cNvPr id="4" name="Text 2"/>
          <p:cNvSpPr txBox="1"/>
          <p:nvPr/>
        </p:nvSpPr>
        <p:spPr>
          <a:xfrm>
            <a:off x="640080" y="3474720"/>
            <a:ext cx="7863840" cy="731520"/>
          </a:xfrm>
          <a:prstGeom prst="rect">
            <a:avLst/>
          </a:prstGeom>
          <a:noFill/>
          <a:ln/>
        </p:spPr>
        <p:txBody>
          <a:bodyPr wrap="square" lIns="0" tIns="0" rIns="0" bIns="0" rtlCol="0" anchor="ctr"/>
          <a:lstStyle/>
          <a:p>
            <a:pPr indent="0" marL="0">
              <a:buNone/>
            </a:pPr>
            <a:r>
              <a:rPr lang="en-US" sz="1800" dirty="0">
                <a:solidFill>
                  <a:srgbClr val="CBD5E1"/>
                </a:solidFill>
              </a:rPr>
              <a:t>Git comme source unique de vérité pour l'infrastructure et les applications</a:t>
            </a:r>
            <a:endParaRPr lang="en-US" sz="1800" dirty="0"/>
          </a:p>
        </p:txBody>
      </p:sp>
      <p:sp>
        <p:nvSpPr>
          <p:cNvPr id="6"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Qu'est-ce que GitOps ?</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Text 3"/>
          <p:cNvSpPr txBox="1"/>
          <p:nvPr/>
        </p:nvSpPr>
        <p:spPr>
          <a:xfrm>
            <a:off x="457200" y="1143000"/>
            <a:ext cx="8229600" cy="914400"/>
          </a:xfrm>
          <a:prstGeom prst="rect">
            <a:avLst/>
          </a:prstGeom>
          <a:noFill/>
          <a:ln/>
        </p:spPr>
        <p:txBody>
          <a:bodyPr wrap="square" lIns="0" tIns="0" rIns="0" bIns="0" rtlCol="0" anchor="ctr"/>
          <a:lstStyle/>
          <a:p>
            <a:pPr indent="0" marL="0">
              <a:buNone/>
            </a:pPr>
            <a:r>
              <a:rPr lang="en-US" sz="1800" dirty="0">
                <a:solidFill>
                  <a:srgbClr val="1E293B"/>
                </a:solidFill>
              </a:rPr>
              <a:t>Un mode d'exploitation où l'état désiré du système est décrit de manière déclarative dans Git, et où un agent automatique réconcilie en continu l'état réel avec cet état désiré.</a:t>
            </a:r>
            <a:endParaRPr lang="en-US" sz="1800" dirty="0"/>
          </a:p>
        </p:txBody>
      </p:sp>
      <p:sp>
        <p:nvSpPr>
          <p:cNvPr id="7" name="Text 4"/>
          <p:cNvSpPr txBox="1"/>
          <p:nvPr/>
        </p:nvSpPr>
        <p:spPr>
          <a:xfrm>
            <a:off x="457200" y="2194560"/>
            <a:ext cx="8229600" cy="548640"/>
          </a:xfrm>
          <a:prstGeom prst="rect">
            <a:avLst/>
          </a:prstGeom>
          <a:noFill/>
          <a:ln/>
        </p:spPr>
        <p:txBody>
          <a:bodyPr wrap="square" lIns="0" tIns="0" rIns="0" bIns="0" rtlCol="0" anchor="ctr"/>
          <a:lstStyle/>
          <a:p>
            <a:pPr indent="0" marL="0">
              <a:buNone/>
            </a:pPr>
            <a:r>
              <a:rPr lang="en-US" sz="2000" b="1" dirty="0">
                <a:solidFill>
                  <a:srgbClr val="7C3AED"/>
                </a:solidFill>
                <a:latin typeface="Cambria" pitchFamily="34" charset="0"/>
                <a:ea typeface="Cambria" pitchFamily="34" charset="-122"/>
                <a:cs typeface="Cambria" pitchFamily="34" charset="-120"/>
              </a:rPr>
              <a:t>GitOps = IaC + Git + Pull Request + réconciliation automatique</a:t>
            </a:r>
            <a:endParaRPr lang="en-US" sz="2000" dirty="0"/>
          </a:p>
        </p:txBody>
      </p:sp>
      <p:sp>
        <p:nvSpPr>
          <p:cNvPr id="8" name="Carte"/>
          <p:cNvSpPr/>
          <p:nvPr/>
        </p:nvSpPr>
        <p:spPr>
          <a:xfrm>
            <a:off x="457200" y="2926080"/>
            <a:ext cx="2651760" cy="1600200"/>
          </a:xfrm>
          <a:prstGeom prst="roundRect">
            <a:avLst>
              <a:gd name="adj" fmla="val 4571"/>
            </a:avLst>
          </a:prstGeom>
          <a:solidFill>
            <a:srgbClr val="F1F5F9"/>
          </a:solidFill>
          <a:ln/>
        </p:spPr>
      </p:sp>
      <p:sp>
        <p:nvSpPr>
          <p:cNvPr id="9" name="Pastille"/>
          <p:cNvSpPr/>
          <p:nvPr/>
        </p:nvSpPr>
        <p:spPr>
          <a:xfrm>
            <a:off x="594360" y="3063240"/>
            <a:ext cx="457200" cy="457200"/>
          </a:xfrm>
          <a:prstGeom prst="ellipse">
            <a:avLst/>
          </a:prstGeom>
          <a:solidFill>
            <a:srgbClr val="7C3AED"/>
          </a:solidFill>
          <a:ln/>
        </p:spPr>
      </p:sp>
      <p:pic>
        <p:nvPicPr>
          <p:cNvPr id="10" name="Image 0" descr="Auditabilité">    </p:cNvPr>
          <p:cNvPicPr>
            <a:picLocks noChangeAspect="1"/>
          </p:cNvPicPr>
          <p:nvPr/>
        </p:nvPicPr>
        <p:blipFill>
          <a:blip r:embed="rId1"/>
          <a:stretch>
            <a:fillRect/>
          </a:stretch>
        </p:blipFill>
        <p:spPr>
          <a:xfrm>
            <a:off x="704088" y="3172968"/>
            <a:ext cx="237744" cy="237744"/>
          </a:xfrm>
          <a:prstGeom prst="rect">
            <a:avLst/>
          </a:prstGeom>
        </p:spPr>
      </p:pic>
      <p:sp>
        <p:nvSpPr>
          <p:cNvPr id="11" name="Text 7"/>
          <p:cNvSpPr txBox="1"/>
          <p:nvPr/>
        </p:nvSpPr>
        <p:spPr>
          <a:xfrm>
            <a:off x="594360" y="361188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Auditabilité</a:t>
            </a:r>
            <a:endParaRPr lang="en-US" sz="1500" dirty="0"/>
          </a:p>
        </p:txBody>
      </p:sp>
      <p:sp>
        <p:nvSpPr>
          <p:cNvPr id="12" name="Text 8"/>
          <p:cNvSpPr txBox="1"/>
          <p:nvPr/>
        </p:nvSpPr>
        <p:spPr>
          <a:xfrm>
            <a:off x="594360" y="3995928"/>
            <a:ext cx="2377440" cy="45720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Chaque changement = un commit</a:t>
            </a:r>
            <a:endParaRPr lang="en-US" sz="1400" dirty="0"/>
          </a:p>
        </p:txBody>
      </p:sp>
      <p:sp>
        <p:nvSpPr>
          <p:cNvPr id="13" name="Carte"/>
          <p:cNvSpPr/>
          <p:nvPr/>
        </p:nvSpPr>
        <p:spPr>
          <a:xfrm>
            <a:off x="3246120" y="2926080"/>
            <a:ext cx="2651760" cy="1600200"/>
          </a:xfrm>
          <a:prstGeom prst="roundRect">
            <a:avLst>
              <a:gd name="adj" fmla="val 4571"/>
            </a:avLst>
          </a:prstGeom>
          <a:solidFill>
            <a:srgbClr val="F1F5F9"/>
          </a:solidFill>
          <a:ln/>
        </p:spPr>
      </p:sp>
      <p:sp>
        <p:nvSpPr>
          <p:cNvPr id="14" name="Pastille"/>
          <p:cNvSpPr/>
          <p:nvPr/>
        </p:nvSpPr>
        <p:spPr>
          <a:xfrm>
            <a:off x="3383280" y="3063240"/>
            <a:ext cx="457200" cy="457200"/>
          </a:xfrm>
          <a:prstGeom prst="ellipse">
            <a:avLst/>
          </a:prstGeom>
          <a:solidFill>
            <a:srgbClr val="7C3AED"/>
          </a:solidFill>
          <a:ln/>
        </p:spPr>
      </p:sp>
      <p:pic>
        <p:nvPicPr>
          <p:cNvPr id="15" name="Image 1" descr="Rollback simple">    </p:cNvPr>
          <p:cNvPicPr>
            <a:picLocks noChangeAspect="1"/>
          </p:cNvPicPr>
          <p:nvPr/>
        </p:nvPicPr>
        <p:blipFill>
          <a:blip r:embed="rId2"/>
          <a:stretch>
            <a:fillRect/>
          </a:stretch>
        </p:blipFill>
        <p:spPr>
          <a:xfrm>
            <a:off x="3493008" y="3172968"/>
            <a:ext cx="237744" cy="237744"/>
          </a:xfrm>
          <a:prstGeom prst="rect">
            <a:avLst/>
          </a:prstGeom>
        </p:spPr>
      </p:pic>
      <p:sp>
        <p:nvSpPr>
          <p:cNvPr id="16" name="Text 11"/>
          <p:cNvSpPr txBox="1"/>
          <p:nvPr/>
        </p:nvSpPr>
        <p:spPr>
          <a:xfrm>
            <a:off x="3383280" y="361188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Rollback simple</a:t>
            </a:r>
            <a:endParaRPr lang="en-US" sz="1500" dirty="0"/>
          </a:p>
        </p:txBody>
      </p:sp>
      <p:sp>
        <p:nvSpPr>
          <p:cNvPr id="17" name="Text 12"/>
          <p:cNvSpPr txBox="1"/>
          <p:nvPr/>
        </p:nvSpPr>
        <p:spPr>
          <a:xfrm>
            <a:off x="3383280" y="3995928"/>
            <a:ext cx="2377440" cy="45720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git revert</a:t>
            </a:r>
            <a:endParaRPr lang="en-US" sz="1400" dirty="0"/>
          </a:p>
        </p:txBody>
      </p:sp>
      <p:sp>
        <p:nvSpPr>
          <p:cNvPr id="18" name="Carte"/>
          <p:cNvSpPr/>
          <p:nvPr/>
        </p:nvSpPr>
        <p:spPr>
          <a:xfrm>
            <a:off x="6035040" y="2926080"/>
            <a:ext cx="2651760" cy="1600200"/>
          </a:xfrm>
          <a:prstGeom prst="roundRect">
            <a:avLst>
              <a:gd name="adj" fmla="val 4571"/>
            </a:avLst>
          </a:prstGeom>
          <a:solidFill>
            <a:srgbClr val="F1F5F9"/>
          </a:solidFill>
          <a:ln/>
        </p:spPr>
      </p:sp>
      <p:sp>
        <p:nvSpPr>
          <p:cNvPr id="19" name="Pastille"/>
          <p:cNvSpPr/>
          <p:nvPr/>
        </p:nvSpPr>
        <p:spPr>
          <a:xfrm>
            <a:off x="6172200" y="3063240"/>
            <a:ext cx="457200" cy="457200"/>
          </a:xfrm>
          <a:prstGeom prst="ellipse">
            <a:avLst/>
          </a:prstGeom>
          <a:solidFill>
            <a:srgbClr val="7C3AED"/>
          </a:solidFill>
          <a:ln/>
        </p:spPr>
      </p:sp>
      <p:pic>
        <p:nvPicPr>
          <p:cNvPr id="20" name="Image 2" descr="Sécurité">    </p:cNvPr>
          <p:cNvPicPr>
            <a:picLocks noChangeAspect="1"/>
          </p:cNvPicPr>
          <p:nvPr/>
        </p:nvPicPr>
        <p:blipFill>
          <a:blip r:embed="rId3"/>
          <a:stretch>
            <a:fillRect/>
          </a:stretch>
        </p:blipFill>
        <p:spPr>
          <a:xfrm>
            <a:off x="6281928" y="3172968"/>
            <a:ext cx="237744" cy="237744"/>
          </a:xfrm>
          <a:prstGeom prst="rect">
            <a:avLst/>
          </a:prstGeom>
        </p:spPr>
      </p:pic>
      <p:sp>
        <p:nvSpPr>
          <p:cNvPr id="21" name="Text 15"/>
          <p:cNvSpPr txBox="1"/>
          <p:nvPr/>
        </p:nvSpPr>
        <p:spPr>
          <a:xfrm>
            <a:off x="6172200" y="361188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Sécurité</a:t>
            </a:r>
            <a:endParaRPr lang="en-US" sz="1500" dirty="0"/>
          </a:p>
        </p:txBody>
      </p:sp>
      <p:sp>
        <p:nvSpPr>
          <p:cNvPr id="22" name="Text 16"/>
          <p:cNvSpPr txBox="1"/>
          <p:nvPr/>
        </p:nvSpPr>
        <p:spPr>
          <a:xfrm>
            <a:off x="6172200" y="3995928"/>
            <a:ext cx="2377440" cy="457200"/>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Pas d'accès direct au cluster</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Les 4 principes GitOps (OpenGitOps)</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Shape 3"/>
          <p:cNvSpPr/>
          <p:nvPr/>
        </p:nvSpPr>
        <p:spPr>
          <a:xfrm>
            <a:off x="457200" y="1280160"/>
            <a:ext cx="4023360" cy="1508760"/>
          </a:xfrm>
          <a:prstGeom prst="roundRect">
            <a:avLst>
              <a:gd name="adj" fmla="val 4848"/>
            </a:avLst>
          </a:prstGeom>
          <a:solidFill>
            <a:srgbClr val="F1F5F9"/>
          </a:solidFill>
          <a:ln/>
        </p:spPr>
      </p:sp>
      <p:sp>
        <p:nvSpPr>
          <p:cNvPr id="7" name="Shape 4"/>
          <p:cNvSpPr/>
          <p:nvPr/>
        </p:nvSpPr>
        <p:spPr>
          <a:xfrm>
            <a:off x="640080" y="1463040"/>
            <a:ext cx="594360" cy="594360"/>
          </a:xfrm>
          <a:prstGeom prst="ellipse">
            <a:avLst/>
          </a:prstGeom>
          <a:solidFill>
            <a:srgbClr val="7C3AED"/>
          </a:solidFill>
          <a:ln/>
        </p:spPr>
      </p:sp>
      <p:sp>
        <p:nvSpPr>
          <p:cNvPr id="8" name="Text 5"/>
          <p:cNvSpPr txBox="1"/>
          <p:nvPr/>
        </p:nvSpPr>
        <p:spPr>
          <a:xfrm>
            <a:off x="640080" y="14630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9" name="Text 6"/>
          <p:cNvSpPr txBox="1"/>
          <p:nvPr/>
        </p:nvSpPr>
        <p:spPr>
          <a:xfrm>
            <a:off x="1417320" y="1463040"/>
            <a:ext cx="2926080" cy="594360"/>
          </a:xfrm>
          <a:prstGeom prst="rect">
            <a:avLst/>
          </a:prstGeom>
          <a:noFill/>
          <a:ln/>
        </p:spPr>
        <p:txBody>
          <a:bodyPr wrap="square" lIns="0" tIns="0" rIns="0" bIns="0" rtlCol="0" anchor="ctr"/>
          <a:lstStyle/>
          <a:p>
            <a:pPr indent="0" marL="0">
              <a:buNone/>
            </a:pPr>
            <a:r>
              <a:rPr lang="en-US" sz="1700" b="1" dirty="0">
                <a:solidFill>
                  <a:srgbClr val="0F172A"/>
                </a:solidFill>
              </a:rPr>
              <a:t>Déclaratif</a:t>
            </a:r>
            <a:endParaRPr lang="en-US" sz="1700" dirty="0"/>
          </a:p>
        </p:txBody>
      </p:sp>
      <p:sp>
        <p:nvSpPr>
          <p:cNvPr id="10" name="Text 7"/>
          <p:cNvSpPr txBox="1"/>
          <p:nvPr/>
        </p:nvSpPr>
        <p:spPr>
          <a:xfrm>
            <a:off x="640080" y="2148840"/>
            <a:ext cx="3657600" cy="594360"/>
          </a:xfrm>
          <a:prstGeom prst="rect">
            <a:avLst/>
          </a:prstGeom>
          <a:noFill/>
          <a:ln/>
        </p:spPr>
        <p:txBody>
          <a:bodyPr wrap="square" lIns="0" tIns="0" rIns="0" bIns="0" rtlCol="0" anchor="t"/>
          <a:lstStyle/>
          <a:p>
            <a:pPr indent="0" marL="0">
              <a:buNone/>
            </a:pPr>
            <a:r>
              <a:rPr lang="en-US" sz="1400" dirty="0">
                <a:solidFill>
                  <a:srgbClr val="1E293B"/>
                </a:solidFill>
              </a:rPr>
              <a:t>Le système est décrit par son état désiré, pas par des étapes.</a:t>
            </a:r>
            <a:endParaRPr lang="en-US" sz="1400" dirty="0"/>
          </a:p>
        </p:txBody>
      </p:sp>
      <p:sp>
        <p:nvSpPr>
          <p:cNvPr id="11" name="Shape 8"/>
          <p:cNvSpPr/>
          <p:nvPr/>
        </p:nvSpPr>
        <p:spPr>
          <a:xfrm>
            <a:off x="4663440" y="1280160"/>
            <a:ext cx="4023360" cy="1508760"/>
          </a:xfrm>
          <a:prstGeom prst="roundRect">
            <a:avLst>
              <a:gd name="adj" fmla="val 4848"/>
            </a:avLst>
          </a:prstGeom>
          <a:solidFill>
            <a:srgbClr val="F1F5F9"/>
          </a:solidFill>
          <a:ln/>
        </p:spPr>
      </p:sp>
      <p:sp>
        <p:nvSpPr>
          <p:cNvPr id="12" name="Shape 9"/>
          <p:cNvSpPr/>
          <p:nvPr/>
        </p:nvSpPr>
        <p:spPr>
          <a:xfrm>
            <a:off x="4846320" y="1463040"/>
            <a:ext cx="594360" cy="594360"/>
          </a:xfrm>
          <a:prstGeom prst="ellipse">
            <a:avLst/>
          </a:prstGeom>
          <a:solidFill>
            <a:srgbClr val="7C3AED"/>
          </a:solidFill>
          <a:ln/>
        </p:spPr>
      </p:sp>
      <p:sp>
        <p:nvSpPr>
          <p:cNvPr id="13" name="Text 10"/>
          <p:cNvSpPr txBox="1"/>
          <p:nvPr/>
        </p:nvSpPr>
        <p:spPr>
          <a:xfrm>
            <a:off x="4846320" y="146304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4" name="Text 11"/>
          <p:cNvSpPr txBox="1"/>
          <p:nvPr/>
        </p:nvSpPr>
        <p:spPr>
          <a:xfrm>
            <a:off x="5623560" y="1463040"/>
            <a:ext cx="2926080" cy="594360"/>
          </a:xfrm>
          <a:prstGeom prst="rect">
            <a:avLst/>
          </a:prstGeom>
          <a:noFill/>
          <a:ln/>
        </p:spPr>
        <p:txBody>
          <a:bodyPr wrap="square" lIns="0" tIns="0" rIns="0" bIns="0" rtlCol="0" anchor="ctr"/>
          <a:lstStyle/>
          <a:p>
            <a:pPr indent="0" marL="0">
              <a:buNone/>
            </a:pPr>
            <a:r>
              <a:rPr lang="en-US" sz="1700" b="1" dirty="0">
                <a:solidFill>
                  <a:srgbClr val="0F172A"/>
                </a:solidFill>
              </a:rPr>
              <a:t>Versionné et immuable</a:t>
            </a:r>
            <a:endParaRPr lang="en-US" sz="1700" dirty="0"/>
          </a:p>
        </p:txBody>
      </p:sp>
      <p:sp>
        <p:nvSpPr>
          <p:cNvPr id="15" name="Text 12"/>
          <p:cNvSpPr txBox="1"/>
          <p:nvPr/>
        </p:nvSpPr>
        <p:spPr>
          <a:xfrm>
            <a:off x="4846320" y="2148840"/>
            <a:ext cx="3657600" cy="594360"/>
          </a:xfrm>
          <a:prstGeom prst="rect">
            <a:avLst/>
          </a:prstGeom>
          <a:noFill/>
          <a:ln/>
        </p:spPr>
        <p:txBody>
          <a:bodyPr wrap="square" lIns="0" tIns="0" rIns="0" bIns="0" rtlCol="0" anchor="t"/>
          <a:lstStyle/>
          <a:p>
            <a:pPr indent="0" marL="0">
              <a:buNone/>
            </a:pPr>
            <a:r>
              <a:rPr lang="en-US" sz="1400" dirty="0">
                <a:solidFill>
                  <a:srgbClr val="1E293B"/>
                </a:solidFill>
              </a:rPr>
              <a:t>L'état désiré est stocké dans Git avec un historique complet.</a:t>
            </a:r>
            <a:endParaRPr lang="en-US" sz="1400" dirty="0"/>
          </a:p>
        </p:txBody>
      </p:sp>
      <p:sp>
        <p:nvSpPr>
          <p:cNvPr id="16" name="Shape 13"/>
          <p:cNvSpPr/>
          <p:nvPr/>
        </p:nvSpPr>
        <p:spPr>
          <a:xfrm>
            <a:off x="457200" y="2926080"/>
            <a:ext cx="4023360" cy="1508760"/>
          </a:xfrm>
          <a:prstGeom prst="roundRect">
            <a:avLst>
              <a:gd name="adj" fmla="val 4848"/>
            </a:avLst>
          </a:prstGeom>
          <a:solidFill>
            <a:srgbClr val="F1F5F9"/>
          </a:solidFill>
          <a:ln/>
        </p:spPr>
      </p:sp>
      <p:sp>
        <p:nvSpPr>
          <p:cNvPr id="17" name="Shape 14"/>
          <p:cNvSpPr/>
          <p:nvPr/>
        </p:nvSpPr>
        <p:spPr>
          <a:xfrm>
            <a:off x="640080" y="3108960"/>
            <a:ext cx="594360" cy="594360"/>
          </a:xfrm>
          <a:prstGeom prst="ellipse">
            <a:avLst/>
          </a:prstGeom>
          <a:solidFill>
            <a:srgbClr val="7C3AED"/>
          </a:solidFill>
          <a:ln/>
        </p:spPr>
      </p:sp>
      <p:sp>
        <p:nvSpPr>
          <p:cNvPr id="18" name="Text 15"/>
          <p:cNvSpPr txBox="1"/>
          <p:nvPr/>
        </p:nvSpPr>
        <p:spPr>
          <a:xfrm>
            <a:off x="640080" y="31089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9" name="Text 16"/>
          <p:cNvSpPr txBox="1"/>
          <p:nvPr/>
        </p:nvSpPr>
        <p:spPr>
          <a:xfrm>
            <a:off x="1417320" y="3108960"/>
            <a:ext cx="2926080" cy="594360"/>
          </a:xfrm>
          <a:prstGeom prst="rect">
            <a:avLst/>
          </a:prstGeom>
          <a:noFill/>
          <a:ln/>
        </p:spPr>
        <p:txBody>
          <a:bodyPr wrap="square" lIns="0" tIns="0" rIns="0" bIns="0" rtlCol="0" anchor="ctr"/>
          <a:lstStyle/>
          <a:p>
            <a:pPr indent="0" marL="0">
              <a:buNone/>
            </a:pPr>
            <a:r>
              <a:rPr lang="en-US" sz="1700" b="1" dirty="0">
                <a:solidFill>
                  <a:srgbClr val="0F172A"/>
                </a:solidFill>
              </a:rPr>
              <a:t>Tiré automatiquement</a:t>
            </a:r>
            <a:endParaRPr lang="en-US" sz="1700" dirty="0"/>
          </a:p>
        </p:txBody>
      </p:sp>
      <p:sp>
        <p:nvSpPr>
          <p:cNvPr id="20" name="Text 17"/>
          <p:cNvSpPr txBox="1"/>
          <p:nvPr/>
        </p:nvSpPr>
        <p:spPr>
          <a:xfrm>
            <a:off x="640080" y="3794760"/>
            <a:ext cx="3657600" cy="594360"/>
          </a:xfrm>
          <a:prstGeom prst="rect">
            <a:avLst/>
          </a:prstGeom>
          <a:noFill/>
          <a:ln/>
        </p:spPr>
        <p:txBody>
          <a:bodyPr wrap="square" lIns="0" tIns="0" rIns="0" bIns="0" rtlCol="0" anchor="t"/>
          <a:lstStyle/>
          <a:p>
            <a:pPr indent="0" marL="0">
              <a:buNone/>
            </a:pPr>
            <a:r>
              <a:rPr lang="en-US" sz="1400" dirty="0">
                <a:solidFill>
                  <a:srgbClr val="1E293B"/>
                </a:solidFill>
              </a:rPr>
              <a:t>Des agents récupèrent l'état désiré depuis la source.</a:t>
            </a:r>
            <a:endParaRPr lang="en-US" sz="1400" dirty="0"/>
          </a:p>
        </p:txBody>
      </p:sp>
      <p:sp>
        <p:nvSpPr>
          <p:cNvPr id="21" name="Shape 18"/>
          <p:cNvSpPr/>
          <p:nvPr/>
        </p:nvSpPr>
        <p:spPr>
          <a:xfrm>
            <a:off x="4663440" y="2926080"/>
            <a:ext cx="4023360" cy="1508760"/>
          </a:xfrm>
          <a:prstGeom prst="roundRect">
            <a:avLst>
              <a:gd name="adj" fmla="val 4848"/>
            </a:avLst>
          </a:prstGeom>
          <a:solidFill>
            <a:srgbClr val="F1F5F9"/>
          </a:solidFill>
          <a:ln/>
        </p:spPr>
      </p:sp>
      <p:sp>
        <p:nvSpPr>
          <p:cNvPr id="22" name="Shape 19"/>
          <p:cNvSpPr/>
          <p:nvPr/>
        </p:nvSpPr>
        <p:spPr>
          <a:xfrm>
            <a:off x="4846320" y="3108960"/>
            <a:ext cx="594360" cy="594360"/>
          </a:xfrm>
          <a:prstGeom prst="ellipse">
            <a:avLst/>
          </a:prstGeom>
          <a:solidFill>
            <a:srgbClr val="7C3AED"/>
          </a:solidFill>
          <a:ln/>
        </p:spPr>
      </p:sp>
      <p:sp>
        <p:nvSpPr>
          <p:cNvPr id="23" name="Text 20"/>
          <p:cNvSpPr txBox="1"/>
          <p:nvPr/>
        </p:nvSpPr>
        <p:spPr>
          <a:xfrm>
            <a:off x="4846320" y="31089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4" name="Text 21"/>
          <p:cNvSpPr txBox="1"/>
          <p:nvPr/>
        </p:nvSpPr>
        <p:spPr>
          <a:xfrm>
            <a:off x="5623560" y="3108960"/>
            <a:ext cx="2926080" cy="594360"/>
          </a:xfrm>
          <a:prstGeom prst="rect">
            <a:avLst/>
          </a:prstGeom>
          <a:noFill/>
          <a:ln/>
        </p:spPr>
        <p:txBody>
          <a:bodyPr wrap="square" lIns="0" tIns="0" rIns="0" bIns="0" rtlCol="0" anchor="ctr"/>
          <a:lstStyle/>
          <a:p>
            <a:pPr indent="0" marL="0">
              <a:buNone/>
            </a:pPr>
            <a:r>
              <a:rPr lang="en-US" sz="1700" b="1" dirty="0">
                <a:solidFill>
                  <a:srgbClr val="0F172A"/>
                </a:solidFill>
              </a:rPr>
              <a:t>Réconcilié en continu</a:t>
            </a:r>
            <a:endParaRPr lang="en-US" sz="1700" dirty="0"/>
          </a:p>
        </p:txBody>
      </p:sp>
      <p:sp>
        <p:nvSpPr>
          <p:cNvPr id="25" name="Text 22"/>
          <p:cNvSpPr txBox="1"/>
          <p:nvPr/>
        </p:nvSpPr>
        <p:spPr>
          <a:xfrm>
            <a:off x="4846320" y="3794760"/>
            <a:ext cx="3657600" cy="594360"/>
          </a:xfrm>
          <a:prstGeom prst="rect">
            <a:avLst/>
          </a:prstGeom>
          <a:noFill/>
          <a:ln/>
        </p:spPr>
        <p:txBody>
          <a:bodyPr wrap="square" lIns="0" tIns="0" rIns="0" bIns="0" rtlCol="0" anchor="t"/>
          <a:lstStyle/>
          <a:p>
            <a:pPr indent="0" marL="0">
              <a:buNone/>
            </a:pPr>
            <a:r>
              <a:rPr lang="en-US" sz="1400" dirty="0">
                <a:solidFill>
                  <a:srgbClr val="1E293B"/>
                </a:solidFill>
              </a:rPr>
              <a:t>Les agents corrigent toute dérive entre état réel et désiré.</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Schéma : la boucle de réconciliation</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Noeud 1. Lire"/>
          <p:cNvSpPr txBox="1"/>
          <p:nvPr/>
        </p:nvSpPr>
        <p:spPr>
          <a:xfrm>
            <a:off x="731520" y="1280160"/>
            <a:ext cx="2560320" cy="822960"/>
          </a:xfrm>
          <a:prstGeom prst="roundRect">
            <a:avLst>
              <a:gd name="adj" fmla="val 8889"/>
            </a:avLst>
          </a:prstGeom>
          <a:solidFill>
            <a:srgbClr val="7C3AED"/>
          </a:solidFill>
          <a:ln/>
        </p:spPr>
        <p:txBody>
          <a:bodyPr wrap="square" lIns="508" tIns="508" rIns="508" bIns="508" rtlCol="0" anchor="ctr"/>
          <a:lstStyle/>
          <a:p>
            <a:pPr algn="ctr" indent="0" marL="0">
              <a:buNone/>
            </a:pPr>
            <a:r>
              <a:rPr lang="en-US" sz="1500" b="1" dirty="0">
                <a:solidFill>
                  <a:srgbClr val="FFFFFF"/>
                </a:solidFill>
              </a:rPr>
              <a:t>1. Lire</a:t>
            </a:r>
            <a:endParaRPr lang="en-US" sz="1500" dirty="0"/>
          </a:p>
          <a:p>
            <a:pPr algn="ctr" indent="0" marL="0">
              <a:buNone/>
            </a:pPr>
            <a:r>
              <a:rPr lang="en-US" sz="1300" dirty="0">
                <a:solidFill>
                  <a:srgbClr val="FFFFFF"/>
                </a:solidFill>
              </a:rPr>
              <a:t>l'état désiré dans Git</a:t>
            </a:r>
            <a:endParaRPr lang="en-US" sz="1500" dirty="0"/>
          </a:p>
        </p:txBody>
      </p:sp>
      <p:sp>
        <p:nvSpPr>
          <p:cNvPr id="7" name="Noeud 2. Observer"/>
          <p:cNvSpPr txBox="1"/>
          <p:nvPr/>
        </p:nvSpPr>
        <p:spPr>
          <a:xfrm>
            <a:off x="5852160" y="1280160"/>
            <a:ext cx="2560320" cy="822960"/>
          </a:xfrm>
          <a:prstGeom prst="roundRect">
            <a:avLst>
              <a:gd name="adj" fmla="val 8889"/>
            </a:avLst>
          </a:prstGeom>
          <a:solidFill>
            <a:srgbClr val="0D9488"/>
          </a:solidFill>
          <a:ln/>
        </p:spPr>
        <p:txBody>
          <a:bodyPr wrap="square" lIns="508" tIns="508" rIns="508" bIns="508" rtlCol="0" anchor="ctr"/>
          <a:lstStyle/>
          <a:p>
            <a:pPr algn="ctr" indent="0" marL="0">
              <a:buNone/>
            </a:pPr>
            <a:r>
              <a:rPr lang="en-US" sz="1500" b="1" dirty="0">
                <a:solidFill>
                  <a:srgbClr val="FFFFFF"/>
                </a:solidFill>
              </a:rPr>
              <a:t>2. Observer</a:t>
            </a:r>
            <a:endParaRPr lang="en-US" sz="1500" dirty="0"/>
          </a:p>
          <a:p>
            <a:pPr algn="ctr" indent="0" marL="0">
              <a:buNone/>
            </a:pPr>
            <a:r>
              <a:rPr lang="en-US" sz="1300" dirty="0">
                <a:solidFill>
                  <a:srgbClr val="FFFFFF"/>
                </a:solidFill>
              </a:rPr>
              <a:t>l'état réel du cluster</a:t>
            </a:r>
            <a:endParaRPr lang="en-US" sz="1500" dirty="0"/>
          </a:p>
        </p:txBody>
      </p:sp>
      <p:sp>
        <p:nvSpPr>
          <p:cNvPr id="8" name="Noeud 3. Comparer"/>
          <p:cNvSpPr txBox="1"/>
          <p:nvPr/>
        </p:nvSpPr>
        <p:spPr>
          <a:xfrm>
            <a:off x="5852160" y="3108960"/>
            <a:ext cx="2560320" cy="822960"/>
          </a:xfrm>
          <a:prstGeom prst="roundRect">
            <a:avLst>
              <a:gd name="adj" fmla="val 8889"/>
            </a:avLst>
          </a:prstGeom>
          <a:solidFill>
            <a:srgbClr val="0EA5E9"/>
          </a:solidFill>
          <a:ln/>
        </p:spPr>
        <p:txBody>
          <a:bodyPr wrap="square" lIns="508" tIns="508" rIns="508" bIns="508" rtlCol="0" anchor="ctr"/>
          <a:lstStyle/>
          <a:p>
            <a:pPr algn="ctr" indent="0" marL="0">
              <a:buNone/>
            </a:pPr>
            <a:r>
              <a:rPr lang="en-US" sz="1500" b="1" dirty="0">
                <a:solidFill>
                  <a:srgbClr val="FFFFFF"/>
                </a:solidFill>
              </a:rPr>
              <a:t>3. Comparer</a:t>
            </a:r>
            <a:endParaRPr lang="en-US" sz="1500" dirty="0"/>
          </a:p>
          <a:p>
            <a:pPr algn="ctr" indent="0" marL="0">
              <a:buNone/>
            </a:pPr>
            <a:r>
              <a:rPr lang="en-US" sz="1300" dirty="0">
                <a:solidFill>
                  <a:srgbClr val="FFFFFF"/>
                </a:solidFill>
              </a:rPr>
              <a:t>détecter la dérive</a:t>
            </a:r>
            <a:endParaRPr lang="en-US" sz="1500" dirty="0"/>
          </a:p>
        </p:txBody>
      </p:sp>
      <p:sp>
        <p:nvSpPr>
          <p:cNvPr id="9" name="Noeud 4. Appliquer"/>
          <p:cNvSpPr txBox="1"/>
          <p:nvPr/>
        </p:nvSpPr>
        <p:spPr>
          <a:xfrm>
            <a:off x="731520" y="3108960"/>
            <a:ext cx="2560320" cy="822960"/>
          </a:xfrm>
          <a:prstGeom prst="roundRect">
            <a:avLst>
              <a:gd name="adj" fmla="val 8889"/>
            </a:avLst>
          </a:prstGeom>
          <a:solidFill>
            <a:srgbClr val="F97316"/>
          </a:solidFill>
          <a:ln/>
        </p:spPr>
        <p:txBody>
          <a:bodyPr wrap="square" lIns="508" tIns="508" rIns="508" bIns="508" rtlCol="0" anchor="ctr"/>
          <a:lstStyle/>
          <a:p>
            <a:pPr algn="ctr" indent="0" marL="0">
              <a:buNone/>
            </a:pPr>
            <a:r>
              <a:rPr lang="en-US" sz="1500" b="1" dirty="0">
                <a:solidFill>
                  <a:srgbClr val="FFFFFF"/>
                </a:solidFill>
              </a:rPr>
              <a:t>4. Appliquer</a:t>
            </a:r>
            <a:endParaRPr lang="en-US" sz="1500" dirty="0"/>
          </a:p>
          <a:p>
            <a:pPr algn="ctr" indent="0" marL="0">
              <a:buNone/>
            </a:pPr>
            <a:r>
              <a:rPr lang="en-US" sz="1300" dirty="0">
                <a:solidFill>
                  <a:srgbClr val="FFFFFF"/>
                </a:solidFill>
              </a:rPr>
              <a:t>corriger l'écart</a:t>
            </a:r>
            <a:endParaRPr lang="en-US" sz="1500" dirty="0"/>
          </a:p>
        </p:txBody>
      </p:sp>
      <p:sp>
        <p:nvSpPr>
          <p:cNvPr id="10" name="Flèche"/>
          <p:cNvSpPr/>
          <p:nvPr/>
        </p:nvSpPr>
        <p:spPr>
          <a:xfrm>
            <a:off x="3291840" y="1691640"/>
            <a:ext cx="2560320" cy="0"/>
          </a:xfrm>
          <a:prstGeom prst="line">
            <a:avLst/>
          </a:prstGeom>
          <a:noFill/>
          <a:ln w="22225">
            <a:solidFill>
              <a:srgbClr val="64748B"/>
            </a:solidFill>
            <a:prstDash val="solid"/>
            <a:tailEnd type="triangle"/>
          </a:ln>
        </p:spPr>
      </p:sp>
      <p:sp>
        <p:nvSpPr>
          <p:cNvPr id="11" name="Flèche"/>
          <p:cNvSpPr/>
          <p:nvPr/>
        </p:nvSpPr>
        <p:spPr>
          <a:xfrm>
            <a:off x="7132320" y="2103120"/>
            <a:ext cx="0" cy="1005840"/>
          </a:xfrm>
          <a:prstGeom prst="line">
            <a:avLst/>
          </a:prstGeom>
          <a:noFill/>
          <a:ln w="22225">
            <a:solidFill>
              <a:srgbClr val="64748B"/>
            </a:solidFill>
            <a:prstDash val="solid"/>
            <a:tailEnd type="triangle"/>
          </a:ln>
        </p:spPr>
      </p:sp>
      <p:sp>
        <p:nvSpPr>
          <p:cNvPr id="12" name="Flèche"/>
          <p:cNvSpPr/>
          <p:nvPr/>
        </p:nvSpPr>
        <p:spPr>
          <a:xfrm flipH="1">
            <a:off x="3291840" y="3520440"/>
            <a:ext cx="2560320" cy="0"/>
          </a:xfrm>
          <a:prstGeom prst="line">
            <a:avLst/>
          </a:prstGeom>
          <a:noFill/>
          <a:ln w="22225">
            <a:solidFill>
              <a:srgbClr val="64748B"/>
            </a:solidFill>
            <a:prstDash val="solid"/>
            <a:tailEnd type="triangle"/>
          </a:ln>
        </p:spPr>
      </p:sp>
      <p:sp>
        <p:nvSpPr>
          <p:cNvPr id="13" name="Flèche"/>
          <p:cNvSpPr/>
          <p:nvPr/>
        </p:nvSpPr>
        <p:spPr>
          <a:xfrm flipV="1">
            <a:off x="2011680" y="2103120"/>
            <a:ext cx="0" cy="1005840"/>
          </a:xfrm>
          <a:prstGeom prst="line">
            <a:avLst/>
          </a:prstGeom>
          <a:noFill/>
          <a:ln w="22225">
            <a:solidFill>
              <a:srgbClr val="64748B"/>
            </a:solidFill>
            <a:prstDash val="solid"/>
            <a:tailEnd type="triangle"/>
          </a:ln>
        </p:spPr>
      </p:sp>
      <p:sp>
        <p:nvSpPr>
          <p:cNvPr id="14" name="Centre"/>
          <p:cNvSpPr/>
          <p:nvPr/>
        </p:nvSpPr>
        <p:spPr>
          <a:xfrm>
            <a:off x="3383280" y="2194560"/>
            <a:ext cx="2377440" cy="822960"/>
          </a:xfrm>
          <a:prstGeom prst="ellipse">
            <a:avLst/>
          </a:prstGeom>
          <a:solidFill>
            <a:srgbClr val="F1F5F9"/>
          </a:solidFill>
          <a:ln w="12700">
            <a:solidFill>
              <a:srgbClr val="CBD5E1"/>
            </a:solidFill>
            <a:prstDash val="solid"/>
          </a:ln>
        </p:spPr>
      </p:sp>
      <p:sp>
        <p:nvSpPr>
          <p:cNvPr id="15" name="Text 12"/>
          <p:cNvSpPr txBox="1"/>
          <p:nvPr/>
        </p:nvSpPr>
        <p:spPr>
          <a:xfrm>
            <a:off x="3383280" y="2194560"/>
            <a:ext cx="2377440" cy="822960"/>
          </a:xfrm>
          <a:prstGeom prst="rect">
            <a:avLst/>
          </a:prstGeom>
          <a:noFill/>
          <a:ln/>
        </p:spPr>
        <p:txBody>
          <a:bodyPr wrap="square" lIns="0" tIns="0" rIns="0" bIns="0" rtlCol="0" anchor="ctr"/>
          <a:lstStyle/>
          <a:p>
            <a:pPr algn="ctr" indent="0" marL="0">
              <a:buNone/>
            </a:pPr>
            <a:r>
              <a:rPr lang="en-US" sz="1400" b="1" dirty="0">
                <a:solidFill>
                  <a:srgbClr val="0F172A"/>
                </a:solidFill>
              </a:rPr>
              <a:t>Réconciliation continue</a:t>
            </a:r>
            <a:endParaRPr lang="en-US" sz="1400" dirty="0"/>
          </a:p>
        </p:txBody>
      </p:sp>
      <p:sp>
        <p:nvSpPr>
          <p:cNvPr id="16" name="Text 13"/>
          <p:cNvSpPr txBox="1"/>
          <p:nvPr/>
        </p:nvSpPr>
        <p:spPr>
          <a:xfrm>
            <a:off x="457200" y="4206240"/>
            <a:ext cx="8229600" cy="411480"/>
          </a:xfrm>
          <a:prstGeom prst="rect">
            <a:avLst/>
          </a:prstGeom>
          <a:noFill/>
          <a:ln/>
        </p:spPr>
        <p:txBody>
          <a:bodyPr wrap="square" lIns="0" tIns="0" rIns="0" bIns="0" rtlCol="0" anchor="ctr"/>
          <a:lstStyle/>
          <a:p>
            <a:pPr algn="ctr" indent="0" marL="0">
              <a:buNone/>
            </a:pPr>
            <a:r>
              <a:rPr lang="en-US" sz="1400" dirty="0">
                <a:solidFill>
                  <a:srgbClr val="1E293B"/>
                </a:solidFill>
              </a:rPr>
              <a:t>Dérive = écart entre Git et le cluster. L'agent la corrige seul (selfHeal), en boucle.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Push (CI/CD classique) vs Pull (GitOps)</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Shape 3"/>
          <p:cNvSpPr/>
          <p:nvPr/>
        </p:nvSpPr>
        <p:spPr>
          <a:xfrm>
            <a:off x="457200" y="1280160"/>
            <a:ext cx="4023360" cy="502920"/>
          </a:xfrm>
          <a:prstGeom prst="roundRect">
            <a:avLst>
              <a:gd name="adj" fmla="val 14545"/>
            </a:avLst>
          </a:prstGeom>
          <a:solidFill>
            <a:srgbClr val="64748B"/>
          </a:solidFill>
          <a:ln/>
        </p:spPr>
      </p:sp>
      <p:sp>
        <p:nvSpPr>
          <p:cNvPr id="7" name="Text 4"/>
          <p:cNvSpPr txBox="1"/>
          <p:nvPr/>
        </p:nvSpPr>
        <p:spPr>
          <a:xfrm>
            <a:off x="457200" y="1280160"/>
            <a:ext cx="4023360" cy="502920"/>
          </a:xfrm>
          <a:prstGeom prst="rect">
            <a:avLst/>
          </a:prstGeom>
          <a:noFill/>
          <a:ln/>
        </p:spPr>
        <p:txBody>
          <a:bodyPr wrap="square" lIns="0" tIns="0" rIns="0" bIns="0" rtlCol="0" anchor="ctr"/>
          <a:lstStyle/>
          <a:p>
            <a:pPr algn="ctr" indent="0" marL="0">
              <a:buNone/>
            </a:pPr>
            <a:r>
              <a:rPr lang="en-US" sz="1600" b="1" dirty="0">
                <a:solidFill>
                  <a:srgbClr val="FFFFFF"/>
                </a:solidFill>
              </a:rPr>
              <a:t>PUSH</a:t>
            </a:r>
            <a:endParaRPr lang="en-US" sz="1600" dirty="0"/>
          </a:p>
        </p:txBody>
      </p:sp>
      <p:sp>
        <p:nvSpPr>
          <p:cNvPr id="8" name="Étape"/>
          <p:cNvSpPr/>
          <p:nvPr/>
        </p:nvSpPr>
        <p:spPr>
          <a:xfrm>
            <a:off x="457200" y="1920240"/>
            <a:ext cx="882396" cy="548640"/>
          </a:xfrm>
          <a:prstGeom prst="roundRect">
            <a:avLst>
              <a:gd name="adj" fmla="val 13333"/>
            </a:avLst>
          </a:prstGeom>
          <a:solidFill>
            <a:srgbClr val="64748B"/>
          </a:solidFill>
          <a:ln/>
        </p:spPr>
      </p:sp>
      <p:sp>
        <p:nvSpPr>
          <p:cNvPr id="9" name="Text 6"/>
          <p:cNvSpPr txBox="1"/>
          <p:nvPr/>
        </p:nvSpPr>
        <p:spPr>
          <a:xfrm>
            <a:off x="457200" y="1920240"/>
            <a:ext cx="882396" cy="548640"/>
          </a:xfrm>
          <a:prstGeom prst="rect">
            <a:avLst/>
          </a:prstGeom>
          <a:noFill/>
          <a:ln/>
        </p:spPr>
        <p:txBody>
          <a:bodyPr wrap="square" lIns="508" tIns="508" rIns="508" bIns="508" rtlCol="0" anchor="ctr"/>
          <a:lstStyle/>
          <a:p>
            <a:pPr algn="ctr" indent="0" marL="0">
              <a:buNone/>
            </a:pPr>
            <a:r>
              <a:rPr lang="en-US" sz="1200" b="1" dirty="0">
                <a:solidFill>
                  <a:srgbClr val="FFFFFF"/>
                </a:solidFill>
              </a:rPr>
              <a:t>Git</a:t>
            </a:r>
            <a:endParaRPr lang="en-US" sz="1200" dirty="0"/>
          </a:p>
        </p:txBody>
      </p:sp>
      <p:sp>
        <p:nvSpPr>
          <p:cNvPr id="10" name="Text 7"/>
          <p:cNvSpPr txBox="1"/>
          <p:nvPr/>
        </p:nvSpPr>
        <p:spPr>
          <a:xfrm>
            <a:off x="1321308" y="1920240"/>
            <a:ext cx="201168" cy="54864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1" name="Étape"/>
          <p:cNvSpPr/>
          <p:nvPr/>
        </p:nvSpPr>
        <p:spPr>
          <a:xfrm>
            <a:off x="1504188" y="1920240"/>
            <a:ext cx="882396" cy="548640"/>
          </a:xfrm>
          <a:prstGeom prst="roundRect">
            <a:avLst>
              <a:gd name="adj" fmla="val 13333"/>
            </a:avLst>
          </a:prstGeom>
          <a:solidFill>
            <a:srgbClr val="64748B"/>
          </a:solidFill>
          <a:ln/>
        </p:spPr>
      </p:sp>
      <p:sp>
        <p:nvSpPr>
          <p:cNvPr id="12" name="Text 9"/>
          <p:cNvSpPr txBox="1"/>
          <p:nvPr/>
        </p:nvSpPr>
        <p:spPr>
          <a:xfrm>
            <a:off x="1504188" y="1920240"/>
            <a:ext cx="882396" cy="548640"/>
          </a:xfrm>
          <a:prstGeom prst="rect">
            <a:avLst/>
          </a:prstGeom>
          <a:noFill/>
          <a:ln/>
        </p:spPr>
        <p:txBody>
          <a:bodyPr wrap="square" lIns="508" tIns="508" rIns="508" bIns="508" rtlCol="0" anchor="ctr"/>
          <a:lstStyle/>
          <a:p>
            <a:pPr algn="ctr" indent="0" marL="0">
              <a:buNone/>
            </a:pPr>
            <a:r>
              <a:rPr lang="en-US" sz="1200" b="1" dirty="0">
                <a:solidFill>
                  <a:srgbClr val="FFFFFF"/>
                </a:solidFill>
              </a:rPr>
              <a:t>CI</a:t>
            </a:r>
            <a:endParaRPr lang="en-US" sz="1200" dirty="0"/>
          </a:p>
        </p:txBody>
      </p:sp>
      <p:sp>
        <p:nvSpPr>
          <p:cNvPr id="13" name="Text 10"/>
          <p:cNvSpPr txBox="1"/>
          <p:nvPr/>
        </p:nvSpPr>
        <p:spPr>
          <a:xfrm>
            <a:off x="2368296" y="1920240"/>
            <a:ext cx="201168" cy="54864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4" name="Étape"/>
          <p:cNvSpPr/>
          <p:nvPr/>
        </p:nvSpPr>
        <p:spPr>
          <a:xfrm>
            <a:off x="2551176" y="1920240"/>
            <a:ext cx="882396" cy="548640"/>
          </a:xfrm>
          <a:prstGeom prst="roundRect">
            <a:avLst>
              <a:gd name="adj" fmla="val 13333"/>
            </a:avLst>
          </a:prstGeom>
          <a:solidFill>
            <a:srgbClr val="64748B"/>
          </a:solidFill>
          <a:ln/>
        </p:spPr>
      </p:sp>
      <p:sp>
        <p:nvSpPr>
          <p:cNvPr id="15" name="Text 12"/>
          <p:cNvSpPr txBox="1"/>
          <p:nvPr/>
        </p:nvSpPr>
        <p:spPr>
          <a:xfrm>
            <a:off x="2551176" y="1920240"/>
            <a:ext cx="882396" cy="548640"/>
          </a:xfrm>
          <a:prstGeom prst="rect">
            <a:avLst/>
          </a:prstGeom>
          <a:noFill/>
          <a:ln/>
        </p:spPr>
        <p:txBody>
          <a:bodyPr wrap="square" lIns="508" tIns="508" rIns="508" bIns="508" rtlCol="0" anchor="ctr"/>
          <a:lstStyle/>
          <a:p>
            <a:pPr algn="ctr" indent="0" marL="0">
              <a:buNone/>
            </a:pPr>
            <a:r>
              <a:rPr lang="en-US" sz="1200" b="1" dirty="0">
                <a:solidFill>
                  <a:srgbClr val="FFFFFF"/>
                </a:solidFill>
              </a:rPr>
              <a:t>kubectl</a:t>
            </a:r>
            <a:endParaRPr lang="en-US" sz="1200" dirty="0"/>
          </a:p>
        </p:txBody>
      </p:sp>
      <p:sp>
        <p:nvSpPr>
          <p:cNvPr id="16" name="Text 13"/>
          <p:cNvSpPr txBox="1"/>
          <p:nvPr/>
        </p:nvSpPr>
        <p:spPr>
          <a:xfrm>
            <a:off x="3415284" y="1920240"/>
            <a:ext cx="201168" cy="54864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7" name="Étape"/>
          <p:cNvSpPr/>
          <p:nvPr/>
        </p:nvSpPr>
        <p:spPr>
          <a:xfrm>
            <a:off x="3598164" y="1920240"/>
            <a:ext cx="882396" cy="548640"/>
          </a:xfrm>
          <a:prstGeom prst="roundRect">
            <a:avLst>
              <a:gd name="adj" fmla="val 13333"/>
            </a:avLst>
          </a:prstGeom>
          <a:solidFill>
            <a:srgbClr val="64748B"/>
          </a:solidFill>
          <a:ln/>
        </p:spPr>
      </p:sp>
      <p:sp>
        <p:nvSpPr>
          <p:cNvPr id="18" name="Text 15"/>
          <p:cNvSpPr txBox="1"/>
          <p:nvPr/>
        </p:nvSpPr>
        <p:spPr>
          <a:xfrm>
            <a:off x="3598164" y="1920240"/>
            <a:ext cx="882396" cy="548640"/>
          </a:xfrm>
          <a:prstGeom prst="rect">
            <a:avLst/>
          </a:prstGeom>
          <a:noFill/>
          <a:ln/>
        </p:spPr>
        <p:txBody>
          <a:bodyPr wrap="square" lIns="508" tIns="508" rIns="508" bIns="508" rtlCol="0" anchor="ctr"/>
          <a:lstStyle/>
          <a:p>
            <a:pPr algn="ctr" indent="0" marL="0">
              <a:buNone/>
            </a:pPr>
            <a:r>
              <a:rPr lang="en-US" sz="1200" b="1" dirty="0">
                <a:solidFill>
                  <a:srgbClr val="FFFFFF"/>
                </a:solidFill>
              </a:rPr>
              <a:t>Cluster</a:t>
            </a:r>
            <a:endParaRPr lang="en-US" sz="1200" dirty="0"/>
          </a:p>
        </p:txBody>
      </p:sp>
      <p:sp>
        <p:nvSpPr>
          <p:cNvPr id="19" name="Shape 16"/>
          <p:cNvSpPr/>
          <p:nvPr/>
        </p:nvSpPr>
        <p:spPr>
          <a:xfrm>
            <a:off x="457200" y="2651760"/>
            <a:ext cx="4023360" cy="1874520"/>
          </a:xfrm>
          <a:prstGeom prst="roundRect">
            <a:avLst>
              <a:gd name="adj" fmla="val 3902"/>
            </a:avLst>
          </a:prstGeom>
          <a:solidFill>
            <a:srgbClr val="F1F5F9"/>
          </a:solidFill>
          <a:ln/>
        </p:spPr>
      </p:sp>
      <p:sp>
        <p:nvSpPr>
          <p:cNvPr id="20" name="Text 17"/>
          <p:cNvSpPr txBox="1"/>
          <p:nvPr/>
        </p:nvSpPr>
        <p:spPr>
          <a:xfrm>
            <a:off x="594360" y="2743200"/>
            <a:ext cx="374904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93B"/>
                </a:solidFill>
              </a:rPr>
              <a:t>La CI pousse vers le cluster</a:t>
            </a:r>
            <a:endParaRPr lang="en-US" sz="1400" dirty="0"/>
          </a:p>
          <a:p>
            <a:pPr marL="342900" indent="-342900">
              <a:spcAft>
                <a:spcPts val="800"/>
              </a:spcAft>
              <a:buSzPct val="100000"/>
              <a:buChar char="•"/>
            </a:pPr>
            <a:r>
              <a:rPr lang="en-US" sz="1400" dirty="0">
                <a:solidFill>
                  <a:srgbClr val="1E293B"/>
                </a:solidFill>
              </a:rPr>
              <a:t>La CI détient les identifiants du cluster</a:t>
            </a:r>
            <a:endParaRPr lang="en-US" sz="1400" dirty="0"/>
          </a:p>
          <a:p>
            <a:pPr marL="342900" indent="-342900">
              <a:spcAft>
                <a:spcPts val="800"/>
              </a:spcAft>
              <a:buSzPct val="100000"/>
              <a:buChar char="•"/>
            </a:pPr>
            <a:r>
              <a:rPr lang="en-US" sz="1400" dirty="0">
                <a:solidFill>
                  <a:srgbClr val="1E293B"/>
                </a:solidFill>
              </a:rPr>
              <a:t>Dérive non détectée</a:t>
            </a:r>
            <a:endParaRPr lang="en-US" sz="1400" dirty="0"/>
          </a:p>
        </p:txBody>
      </p:sp>
      <p:sp>
        <p:nvSpPr>
          <p:cNvPr id="21" name="Shape 18"/>
          <p:cNvSpPr/>
          <p:nvPr/>
        </p:nvSpPr>
        <p:spPr>
          <a:xfrm>
            <a:off x="4663440" y="1280160"/>
            <a:ext cx="4023360" cy="502920"/>
          </a:xfrm>
          <a:prstGeom prst="roundRect">
            <a:avLst>
              <a:gd name="adj" fmla="val 14545"/>
            </a:avLst>
          </a:prstGeom>
          <a:solidFill>
            <a:srgbClr val="7C3AED"/>
          </a:solidFill>
          <a:ln/>
        </p:spPr>
      </p:sp>
      <p:sp>
        <p:nvSpPr>
          <p:cNvPr id="22" name="Text 19"/>
          <p:cNvSpPr txBox="1"/>
          <p:nvPr/>
        </p:nvSpPr>
        <p:spPr>
          <a:xfrm>
            <a:off x="4663440" y="1280160"/>
            <a:ext cx="4023360" cy="502920"/>
          </a:xfrm>
          <a:prstGeom prst="rect">
            <a:avLst/>
          </a:prstGeom>
          <a:noFill/>
          <a:ln/>
        </p:spPr>
        <p:txBody>
          <a:bodyPr wrap="square" lIns="0" tIns="0" rIns="0" bIns="0" rtlCol="0" anchor="ctr"/>
          <a:lstStyle/>
          <a:p>
            <a:pPr algn="ctr" indent="0" marL="0">
              <a:buNone/>
            </a:pPr>
            <a:r>
              <a:rPr lang="en-US" sz="1600" b="1" dirty="0">
                <a:solidFill>
                  <a:srgbClr val="FFFFFF"/>
                </a:solidFill>
              </a:rPr>
              <a:t>PULL (GitOps)</a:t>
            </a:r>
            <a:endParaRPr lang="en-US" sz="1600" dirty="0"/>
          </a:p>
        </p:txBody>
      </p:sp>
      <p:sp>
        <p:nvSpPr>
          <p:cNvPr id="23" name="Étape"/>
          <p:cNvSpPr/>
          <p:nvPr/>
        </p:nvSpPr>
        <p:spPr>
          <a:xfrm>
            <a:off x="4663440" y="1920240"/>
            <a:ext cx="1231392" cy="548640"/>
          </a:xfrm>
          <a:prstGeom prst="roundRect">
            <a:avLst>
              <a:gd name="adj" fmla="val 13333"/>
            </a:avLst>
          </a:prstGeom>
          <a:solidFill>
            <a:srgbClr val="7C3AED"/>
          </a:solidFill>
          <a:ln/>
        </p:spPr>
      </p:sp>
      <p:sp>
        <p:nvSpPr>
          <p:cNvPr id="24" name="Text 21"/>
          <p:cNvSpPr txBox="1"/>
          <p:nvPr/>
        </p:nvSpPr>
        <p:spPr>
          <a:xfrm>
            <a:off x="4663440" y="1920240"/>
            <a:ext cx="1231392" cy="548640"/>
          </a:xfrm>
          <a:prstGeom prst="rect">
            <a:avLst/>
          </a:prstGeom>
          <a:noFill/>
          <a:ln/>
        </p:spPr>
        <p:txBody>
          <a:bodyPr wrap="square" lIns="508" tIns="508" rIns="508" bIns="508" rtlCol="0" anchor="ctr"/>
          <a:lstStyle/>
          <a:p>
            <a:pPr algn="ctr" indent="0" marL="0">
              <a:buNone/>
            </a:pPr>
            <a:r>
              <a:rPr lang="en-US" sz="1200" b="1" dirty="0">
                <a:solidFill>
                  <a:srgbClr val="FFFFFF"/>
                </a:solidFill>
              </a:rPr>
              <a:t>Git</a:t>
            </a:r>
            <a:endParaRPr lang="en-US" sz="1200" dirty="0"/>
          </a:p>
        </p:txBody>
      </p:sp>
      <p:sp>
        <p:nvSpPr>
          <p:cNvPr id="25" name="Text 22"/>
          <p:cNvSpPr txBox="1"/>
          <p:nvPr/>
        </p:nvSpPr>
        <p:spPr>
          <a:xfrm>
            <a:off x="5876544" y="1920240"/>
            <a:ext cx="201168" cy="54864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26" name="Étape"/>
          <p:cNvSpPr/>
          <p:nvPr/>
        </p:nvSpPr>
        <p:spPr>
          <a:xfrm>
            <a:off x="6059424" y="1920240"/>
            <a:ext cx="1231392" cy="548640"/>
          </a:xfrm>
          <a:prstGeom prst="roundRect">
            <a:avLst>
              <a:gd name="adj" fmla="val 13333"/>
            </a:avLst>
          </a:prstGeom>
          <a:solidFill>
            <a:srgbClr val="7C3AED"/>
          </a:solidFill>
          <a:ln/>
        </p:spPr>
      </p:sp>
      <p:sp>
        <p:nvSpPr>
          <p:cNvPr id="27" name="Text 24"/>
          <p:cNvSpPr txBox="1"/>
          <p:nvPr/>
        </p:nvSpPr>
        <p:spPr>
          <a:xfrm>
            <a:off x="6059424" y="1920240"/>
            <a:ext cx="1231392" cy="548640"/>
          </a:xfrm>
          <a:prstGeom prst="rect">
            <a:avLst/>
          </a:prstGeom>
          <a:noFill/>
          <a:ln/>
        </p:spPr>
        <p:txBody>
          <a:bodyPr wrap="square" lIns="508" tIns="508" rIns="508" bIns="508" rtlCol="0" anchor="ctr"/>
          <a:lstStyle/>
          <a:p>
            <a:pPr algn="ctr" indent="0" marL="0">
              <a:buNone/>
            </a:pPr>
            <a:r>
              <a:rPr lang="en-US" sz="1200" b="1" dirty="0">
                <a:solidFill>
                  <a:srgbClr val="FFFFFF"/>
                </a:solidFill>
              </a:rPr>
              <a:t>Agent</a:t>
            </a:r>
            <a:endParaRPr lang="en-US" sz="1200" dirty="0"/>
          </a:p>
        </p:txBody>
      </p:sp>
      <p:sp>
        <p:nvSpPr>
          <p:cNvPr id="28" name="Text 25"/>
          <p:cNvSpPr txBox="1"/>
          <p:nvPr/>
        </p:nvSpPr>
        <p:spPr>
          <a:xfrm>
            <a:off x="7272528" y="1920240"/>
            <a:ext cx="201168" cy="54864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29" name="Étape"/>
          <p:cNvSpPr/>
          <p:nvPr/>
        </p:nvSpPr>
        <p:spPr>
          <a:xfrm>
            <a:off x="7455408" y="1920240"/>
            <a:ext cx="1231392" cy="548640"/>
          </a:xfrm>
          <a:prstGeom prst="roundRect">
            <a:avLst>
              <a:gd name="adj" fmla="val 13333"/>
            </a:avLst>
          </a:prstGeom>
          <a:solidFill>
            <a:srgbClr val="7C3AED"/>
          </a:solidFill>
          <a:ln/>
        </p:spPr>
      </p:sp>
      <p:sp>
        <p:nvSpPr>
          <p:cNvPr id="30" name="Text 27"/>
          <p:cNvSpPr txBox="1"/>
          <p:nvPr/>
        </p:nvSpPr>
        <p:spPr>
          <a:xfrm>
            <a:off x="7455408" y="1920240"/>
            <a:ext cx="1231392" cy="548640"/>
          </a:xfrm>
          <a:prstGeom prst="rect">
            <a:avLst/>
          </a:prstGeom>
          <a:noFill/>
          <a:ln/>
        </p:spPr>
        <p:txBody>
          <a:bodyPr wrap="square" lIns="508" tIns="508" rIns="508" bIns="508" rtlCol="0" anchor="ctr"/>
          <a:lstStyle/>
          <a:p>
            <a:pPr algn="ctr" indent="0" marL="0">
              <a:buNone/>
            </a:pPr>
            <a:r>
              <a:rPr lang="en-US" sz="1200" b="1" dirty="0">
                <a:solidFill>
                  <a:srgbClr val="FFFFFF"/>
                </a:solidFill>
              </a:rPr>
              <a:t>Cluster</a:t>
            </a:r>
            <a:endParaRPr lang="en-US" sz="1200" dirty="0"/>
          </a:p>
        </p:txBody>
      </p:sp>
      <p:sp>
        <p:nvSpPr>
          <p:cNvPr id="31" name="Shape 28"/>
          <p:cNvSpPr/>
          <p:nvPr/>
        </p:nvSpPr>
        <p:spPr>
          <a:xfrm>
            <a:off x="4663440" y="2651760"/>
            <a:ext cx="4023360" cy="1874520"/>
          </a:xfrm>
          <a:prstGeom prst="roundRect">
            <a:avLst>
              <a:gd name="adj" fmla="val 3902"/>
            </a:avLst>
          </a:prstGeom>
          <a:solidFill>
            <a:srgbClr val="F1F5F9"/>
          </a:solidFill>
          <a:ln/>
        </p:spPr>
      </p:sp>
      <p:sp>
        <p:nvSpPr>
          <p:cNvPr id="32" name="Text 29"/>
          <p:cNvSpPr txBox="1"/>
          <p:nvPr/>
        </p:nvSpPr>
        <p:spPr>
          <a:xfrm>
            <a:off x="4800600" y="2743200"/>
            <a:ext cx="3749040" cy="1737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93B"/>
                </a:solidFill>
              </a:rPr>
              <a:t>L'agent tire depuis Git</a:t>
            </a:r>
            <a:endParaRPr lang="en-US" sz="1400" dirty="0"/>
          </a:p>
          <a:p>
            <a:pPr marL="342900" indent="-342900">
              <a:spcAft>
                <a:spcPts val="800"/>
              </a:spcAft>
              <a:buSzPct val="100000"/>
              <a:buChar char="•"/>
            </a:pPr>
            <a:r>
              <a:rPr lang="en-US" sz="1400" dirty="0">
                <a:solidFill>
                  <a:srgbClr val="1E293B"/>
                </a:solidFill>
              </a:rPr>
              <a:t>Identifiants restent dans le cluster</a:t>
            </a:r>
            <a:endParaRPr lang="en-US" sz="1400" dirty="0"/>
          </a:p>
          <a:p>
            <a:pPr marL="342900" indent="-342900">
              <a:spcAft>
                <a:spcPts val="800"/>
              </a:spcAft>
              <a:buSzPct val="100000"/>
              <a:buChar char="•"/>
            </a:pPr>
            <a:r>
              <a:rPr lang="en-US" sz="1400" dirty="0">
                <a:solidFill>
                  <a:srgbClr val="1E293B"/>
                </a:solidFill>
              </a:rPr>
              <a:t>Dérive corrigée automatiquement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Architecture GitOps</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Shape 3"/>
          <p:cNvSpPr/>
          <p:nvPr/>
        </p:nvSpPr>
        <p:spPr>
          <a:xfrm>
            <a:off x="457200" y="1371600"/>
            <a:ext cx="1737360" cy="685800"/>
          </a:xfrm>
          <a:prstGeom prst="roundRect">
            <a:avLst>
              <a:gd name="adj" fmla="val 10667"/>
            </a:avLst>
          </a:prstGeom>
          <a:solidFill>
            <a:srgbClr val="0D9488"/>
          </a:solidFill>
          <a:ln/>
        </p:spPr>
      </p:sp>
      <p:sp>
        <p:nvSpPr>
          <p:cNvPr id="7" name="Text 4"/>
          <p:cNvSpPr txBox="1"/>
          <p:nvPr/>
        </p:nvSpPr>
        <p:spPr>
          <a:xfrm>
            <a:off x="457200" y="1371600"/>
            <a:ext cx="1737360" cy="685800"/>
          </a:xfrm>
          <a:prstGeom prst="rect">
            <a:avLst/>
          </a:prstGeom>
          <a:noFill/>
          <a:ln/>
        </p:spPr>
        <p:txBody>
          <a:bodyPr wrap="square" lIns="508" tIns="508" rIns="508" bIns="508" rtlCol="0" anchor="ctr"/>
          <a:lstStyle/>
          <a:p>
            <a:pPr algn="ctr" indent="0" marL="0">
              <a:buNone/>
            </a:pPr>
            <a:r>
              <a:rPr lang="en-US" sz="1400" b="1" dirty="0">
                <a:solidFill>
                  <a:srgbClr val="FFFFFF"/>
                </a:solidFill>
              </a:rPr>
              <a:t>Dépôt app</a:t>
            </a:r>
            <a:endParaRPr lang="en-US" sz="1400" dirty="0"/>
          </a:p>
          <a:p>
            <a:pPr algn="ctr" indent="0" marL="0">
              <a:buNone/>
            </a:pPr>
            <a:r>
              <a:rPr lang="en-US" sz="1400" b="1" dirty="0">
                <a:solidFill>
                  <a:srgbClr val="FFFFFF"/>
                </a:solidFill>
              </a:rPr>
              <a:t>(code)</a:t>
            </a:r>
            <a:endParaRPr lang="en-US" sz="1400" dirty="0"/>
          </a:p>
        </p:txBody>
      </p:sp>
      <p:sp>
        <p:nvSpPr>
          <p:cNvPr id="8" name="Text 5"/>
          <p:cNvSpPr txBox="1"/>
          <p:nvPr/>
        </p:nvSpPr>
        <p:spPr>
          <a:xfrm>
            <a:off x="2194560" y="1371600"/>
            <a:ext cx="457200" cy="685800"/>
          </a:xfrm>
          <a:prstGeom prst="rect">
            <a:avLst/>
          </a:prstGeom>
          <a:noFill/>
          <a:ln/>
        </p:spPr>
        <p:txBody>
          <a:bodyPr wrap="square" lIns="0" tIns="0" rIns="0" bIns="0" rtlCol="0" anchor="ctr"/>
          <a:lstStyle/>
          <a:p>
            <a:pPr algn="ctr" indent="0" marL="0">
              <a:buNone/>
            </a:pPr>
            <a:r>
              <a:rPr lang="en-US" sz="2000" b="1" dirty="0">
                <a:solidFill>
                  <a:srgbClr val="64748B"/>
                </a:solidFill>
              </a:rPr>
              <a:t>→</a:t>
            </a:r>
            <a:endParaRPr lang="en-US" sz="2000" dirty="0"/>
          </a:p>
        </p:txBody>
      </p:sp>
      <p:sp>
        <p:nvSpPr>
          <p:cNvPr id="9" name="Shape 6"/>
          <p:cNvSpPr/>
          <p:nvPr/>
        </p:nvSpPr>
        <p:spPr>
          <a:xfrm>
            <a:off x="2651760" y="1371600"/>
            <a:ext cx="1737360" cy="685800"/>
          </a:xfrm>
          <a:prstGeom prst="roundRect">
            <a:avLst>
              <a:gd name="adj" fmla="val 10667"/>
            </a:avLst>
          </a:prstGeom>
          <a:solidFill>
            <a:srgbClr val="0EA5E9"/>
          </a:solidFill>
          <a:ln/>
        </p:spPr>
      </p:sp>
      <p:sp>
        <p:nvSpPr>
          <p:cNvPr id="10" name="Text 7"/>
          <p:cNvSpPr txBox="1"/>
          <p:nvPr/>
        </p:nvSpPr>
        <p:spPr>
          <a:xfrm>
            <a:off x="2651760" y="1371600"/>
            <a:ext cx="1737360" cy="685800"/>
          </a:xfrm>
          <a:prstGeom prst="rect">
            <a:avLst/>
          </a:prstGeom>
          <a:noFill/>
          <a:ln/>
        </p:spPr>
        <p:txBody>
          <a:bodyPr wrap="square" lIns="508" tIns="508" rIns="508" bIns="508" rtlCol="0" anchor="ctr"/>
          <a:lstStyle/>
          <a:p>
            <a:pPr algn="ctr" indent="0" marL="0">
              <a:buNone/>
            </a:pPr>
            <a:r>
              <a:rPr lang="en-US" sz="1400" b="1" dirty="0">
                <a:solidFill>
                  <a:srgbClr val="FFFFFF"/>
                </a:solidFill>
              </a:rPr>
              <a:t>CI</a:t>
            </a:r>
            <a:endParaRPr lang="en-US" sz="1400" dirty="0"/>
          </a:p>
          <a:p>
            <a:pPr algn="ctr" indent="0" marL="0">
              <a:buNone/>
            </a:pPr>
            <a:r>
              <a:rPr lang="en-US" sz="1400" b="1" dirty="0">
                <a:solidFill>
                  <a:srgbClr val="FFFFFF"/>
                </a:solidFill>
              </a:rPr>
              <a:t>build + test</a:t>
            </a:r>
            <a:endParaRPr lang="en-US" sz="1400" dirty="0"/>
          </a:p>
        </p:txBody>
      </p:sp>
      <p:sp>
        <p:nvSpPr>
          <p:cNvPr id="11" name="Text 8"/>
          <p:cNvSpPr txBox="1"/>
          <p:nvPr/>
        </p:nvSpPr>
        <p:spPr>
          <a:xfrm>
            <a:off x="4389120" y="1371600"/>
            <a:ext cx="457200" cy="685800"/>
          </a:xfrm>
          <a:prstGeom prst="rect">
            <a:avLst/>
          </a:prstGeom>
          <a:noFill/>
          <a:ln/>
        </p:spPr>
        <p:txBody>
          <a:bodyPr wrap="square" lIns="0" tIns="0" rIns="0" bIns="0" rtlCol="0" anchor="ctr"/>
          <a:lstStyle/>
          <a:p>
            <a:pPr algn="ctr" indent="0" marL="0">
              <a:buNone/>
            </a:pPr>
            <a:r>
              <a:rPr lang="en-US" sz="2000" b="1" dirty="0">
                <a:solidFill>
                  <a:srgbClr val="64748B"/>
                </a:solidFill>
              </a:rPr>
              <a:t>→</a:t>
            </a:r>
            <a:endParaRPr lang="en-US" sz="2000" dirty="0"/>
          </a:p>
        </p:txBody>
      </p:sp>
      <p:sp>
        <p:nvSpPr>
          <p:cNvPr id="12" name="Shape 9"/>
          <p:cNvSpPr/>
          <p:nvPr/>
        </p:nvSpPr>
        <p:spPr>
          <a:xfrm>
            <a:off x="4846320" y="1371600"/>
            <a:ext cx="1737360" cy="685800"/>
          </a:xfrm>
          <a:prstGeom prst="roundRect">
            <a:avLst>
              <a:gd name="adj" fmla="val 10667"/>
            </a:avLst>
          </a:prstGeom>
          <a:solidFill>
            <a:srgbClr val="F97316"/>
          </a:solidFill>
          <a:ln/>
        </p:spPr>
      </p:sp>
      <p:sp>
        <p:nvSpPr>
          <p:cNvPr id="13" name="Text 10"/>
          <p:cNvSpPr txBox="1"/>
          <p:nvPr/>
        </p:nvSpPr>
        <p:spPr>
          <a:xfrm>
            <a:off x="4846320" y="1371600"/>
            <a:ext cx="1737360" cy="685800"/>
          </a:xfrm>
          <a:prstGeom prst="rect">
            <a:avLst/>
          </a:prstGeom>
          <a:noFill/>
          <a:ln/>
        </p:spPr>
        <p:txBody>
          <a:bodyPr wrap="square" lIns="508" tIns="508" rIns="508" bIns="508" rtlCol="0" anchor="ctr"/>
          <a:lstStyle/>
          <a:p>
            <a:pPr algn="ctr" indent="0" marL="0">
              <a:buNone/>
            </a:pPr>
            <a:r>
              <a:rPr lang="en-US" sz="1400" b="1" dirty="0">
                <a:solidFill>
                  <a:srgbClr val="FFFFFF"/>
                </a:solidFill>
              </a:rPr>
              <a:t>Registry</a:t>
            </a:r>
            <a:endParaRPr lang="en-US" sz="1400" dirty="0"/>
          </a:p>
          <a:p>
            <a:pPr algn="ctr" indent="0" marL="0">
              <a:buNone/>
            </a:pPr>
            <a:r>
              <a:rPr lang="en-US" sz="1400" b="1" dirty="0">
                <a:solidFill>
                  <a:srgbClr val="FFFFFF"/>
                </a:solidFill>
              </a:rPr>
              <a:t>(image)</a:t>
            </a:r>
            <a:endParaRPr lang="en-US" sz="1400" dirty="0"/>
          </a:p>
        </p:txBody>
      </p:sp>
      <p:sp>
        <p:nvSpPr>
          <p:cNvPr id="14" name="Text 11"/>
          <p:cNvSpPr txBox="1"/>
          <p:nvPr/>
        </p:nvSpPr>
        <p:spPr>
          <a:xfrm>
            <a:off x="6583680" y="1371600"/>
            <a:ext cx="457200" cy="685800"/>
          </a:xfrm>
          <a:prstGeom prst="rect">
            <a:avLst/>
          </a:prstGeom>
          <a:noFill/>
          <a:ln/>
        </p:spPr>
        <p:txBody>
          <a:bodyPr wrap="square" lIns="0" tIns="0" rIns="0" bIns="0" rtlCol="0" anchor="ctr"/>
          <a:lstStyle/>
          <a:p>
            <a:pPr algn="ctr" indent="0" marL="0">
              <a:buNone/>
            </a:pPr>
            <a:r>
              <a:rPr lang="en-US" sz="2000" b="1" dirty="0">
                <a:solidFill>
                  <a:srgbClr val="64748B"/>
                </a:solidFill>
              </a:rPr>
              <a:t>→</a:t>
            </a:r>
            <a:endParaRPr lang="en-US" sz="2000" dirty="0"/>
          </a:p>
        </p:txBody>
      </p:sp>
      <p:sp>
        <p:nvSpPr>
          <p:cNvPr id="15" name="Shape 12"/>
          <p:cNvSpPr/>
          <p:nvPr/>
        </p:nvSpPr>
        <p:spPr>
          <a:xfrm>
            <a:off x="6949440" y="1371600"/>
            <a:ext cx="1737360" cy="685800"/>
          </a:xfrm>
          <a:prstGeom prst="roundRect">
            <a:avLst>
              <a:gd name="adj" fmla="val 10667"/>
            </a:avLst>
          </a:prstGeom>
          <a:solidFill>
            <a:srgbClr val="7C3AED"/>
          </a:solidFill>
          <a:ln/>
        </p:spPr>
      </p:sp>
      <p:sp>
        <p:nvSpPr>
          <p:cNvPr id="16" name="Text 13"/>
          <p:cNvSpPr txBox="1"/>
          <p:nvPr/>
        </p:nvSpPr>
        <p:spPr>
          <a:xfrm>
            <a:off x="6949440" y="1371600"/>
            <a:ext cx="1737360" cy="685800"/>
          </a:xfrm>
          <a:prstGeom prst="rect">
            <a:avLst/>
          </a:prstGeom>
          <a:noFill/>
          <a:ln/>
        </p:spPr>
        <p:txBody>
          <a:bodyPr wrap="square" lIns="508" tIns="508" rIns="508" bIns="508" rtlCol="0" anchor="ctr"/>
          <a:lstStyle/>
          <a:p>
            <a:pPr algn="ctr" indent="0" marL="0">
              <a:buNone/>
            </a:pPr>
            <a:r>
              <a:rPr lang="en-US" sz="1400" b="1" dirty="0">
                <a:solidFill>
                  <a:srgbClr val="FFFFFF"/>
                </a:solidFill>
              </a:rPr>
              <a:t>PR : maj</a:t>
            </a:r>
            <a:endParaRPr lang="en-US" sz="1400" dirty="0"/>
          </a:p>
          <a:p>
            <a:pPr algn="ctr" indent="0" marL="0">
              <a:buNone/>
            </a:pPr>
            <a:r>
              <a:rPr lang="en-US" sz="1400" b="1" dirty="0">
                <a:solidFill>
                  <a:srgbClr val="FFFFFF"/>
                </a:solidFill>
              </a:rPr>
              <a:t>tag image</a:t>
            </a:r>
            <a:endParaRPr lang="en-US" sz="1400" dirty="0"/>
          </a:p>
        </p:txBody>
      </p:sp>
      <p:sp>
        <p:nvSpPr>
          <p:cNvPr id="17" name="Shape 14"/>
          <p:cNvSpPr/>
          <p:nvPr/>
        </p:nvSpPr>
        <p:spPr>
          <a:xfrm>
            <a:off x="457200" y="2743200"/>
            <a:ext cx="2468880" cy="685800"/>
          </a:xfrm>
          <a:prstGeom prst="roundRect">
            <a:avLst>
              <a:gd name="adj" fmla="val 10667"/>
            </a:avLst>
          </a:prstGeom>
          <a:solidFill>
            <a:srgbClr val="7C3AED"/>
          </a:solidFill>
          <a:ln/>
        </p:spPr>
      </p:sp>
      <p:sp>
        <p:nvSpPr>
          <p:cNvPr id="18" name="Text 15"/>
          <p:cNvSpPr txBox="1"/>
          <p:nvPr/>
        </p:nvSpPr>
        <p:spPr>
          <a:xfrm>
            <a:off x="457200" y="2743200"/>
            <a:ext cx="2468880" cy="685800"/>
          </a:xfrm>
          <a:prstGeom prst="rect">
            <a:avLst/>
          </a:prstGeom>
          <a:noFill/>
          <a:ln/>
        </p:spPr>
        <p:txBody>
          <a:bodyPr wrap="square" lIns="508" tIns="508" rIns="508" bIns="508" rtlCol="0" anchor="ctr"/>
          <a:lstStyle/>
          <a:p>
            <a:pPr algn="ctr" indent="0" marL="0">
              <a:buNone/>
            </a:pPr>
            <a:r>
              <a:rPr lang="en-US" sz="1400" b="1" dirty="0">
                <a:solidFill>
                  <a:srgbClr val="FFFFFF"/>
                </a:solidFill>
              </a:rPr>
              <a:t>Dépôt config (Git)</a:t>
            </a:r>
            <a:endParaRPr lang="en-US" sz="1400" dirty="0"/>
          </a:p>
          <a:p>
            <a:pPr algn="ctr" indent="0" marL="0">
              <a:buNone/>
            </a:pPr>
            <a:r>
              <a:rPr lang="en-US" sz="1400" b="1" dirty="0">
                <a:solidFill>
                  <a:srgbClr val="FFFFFF"/>
                </a:solidFill>
              </a:rPr>
              <a:t>état désiré</a:t>
            </a:r>
            <a:endParaRPr lang="en-US" sz="1400" dirty="0"/>
          </a:p>
        </p:txBody>
      </p:sp>
      <p:sp>
        <p:nvSpPr>
          <p:cNvPr id="19" name="Text 16"/>
          <p:cNvSpPr txBox="1"/>
          <p:nvPr/>
        </p:nvSpPr>
        <p:spPr>
          <a:xfrm>
            <a:off x="2926080" y="2743200"/>
            <a:ext cx="640080" cy="685800"/>
          </a:xfrm>
          <a:prstGeom prst="rect">
            <a:avLst/>
          </a:prstGeom>
          <a:noFill/>
          <a:ln/>
        </p:spPr>
        <p:txBody>
          <a:bodyPr wrap="square" lIns="0" tIns="0" rIns="0" bIns="0" rtlCol="0" anchor="ctr"/>
          <a:lstStyle/>
          <a:p>
            <a:pPr algn="ctr" indent="0" marL="0">
              <a:buNone/>
            </a:pPr>
            <a:r>
              <a:rPr lang="en-US" sz="2000" b="1" dirty="0">
                <a:solidFill>
                  <a:srgbClr val="64748B"/>
                </a:solidFill>
              </a:rPr>
              <a:t>←</a:t>
            </a:r>
            <a:endParaRPr lang="en-US" sz="2000" dirty="0"/>
          </a:p>
        </p:txBody>
      </p:sp>
      <p:sp>
        <p:nvSpPr>
          <p:cNvPr id="20" name="Shape 17"/>
          <p:cNvSpPr/>
          <p:nvPr/>
        </p:nvSpPr>
        <p:spPr>
          <a:xfrm>
            <a:off x="3566160" y="2743200"/>
            <a:ext cx="2468880" cy="685800"/>
          </a:xfrm>
          <a:prstGeom prst="roundRect">
            <a:avLst>
              <a:gd name="adj" fmla="val 10667"/>
            </a:avLst>
          </a:prstGeom>
          <a:solidFill>
            <a:srgbClr val="0F172A"/>
          </a:solidFill>
          <a:ln/>
        </p:spPr>
      </p:sp>
      <p:sp>
        <p:nvSpPr>
          <p:cNvPr id="21" name="Text 18"/>
          <p:cNvSpPr txBox="1"/>
          <p:nvPr/>
        </p:nvSpPr>
        <p:spPr>
          <a:xfrm>
            <a:off x="3566160" y="2743200"/>
            <a:ext cx="2468880" cy="685800"/>
          </a:xfrm>
          <a:prstGeom prst="rect">
            <a:avLst/>
          </a:prstGeom>
          <a:noFill/>
          <a:ln/>
        </p:spPr>
        <p:txBody>
          <a:bodyPr wrap="square" lIns="508" tIns="508" rIns="508" bIns="508" rtlCol="0" anchor="ctr"/>
          <a:lstStyle/>
          <a:p>
            <a:pPr algn="ctr" indent="0" marL="0">
              <a:buNone/>
            </a:pPr>
            <a:r>
              <a:rPr lang="en-US" sz="1400" b="1" dirty="0">
                <a:solidFill>
                  <a:srgbClr val="FFFFFF"/>
                </a:solidFill>
              </a:rPr>
              <a:t>Agent GitOps</a:t>
            </a:r>
            <a:endParaRPr lang="en-US" sz="1400" dirty="0"/>
          </a:p>
          <a:p>
            <a:pPr algn="ctr" indent="0" marL="0">
              <a:buNone/>
            </a:pPr>
            <a:r>
              <a:rPr lang="en-US" sz="1400" b="1" dirty="0">
                <a:solidFill>
                  <a:srgbClr val="FFFFFF"/>
                </a:solidFill>
              </a:rPr>
              <a:t>Argo CD / Flux</a:t>
            </a:r>
            <a:endParaRPr lang="en-US" sz="1400" dirty="0"/>
          </a:p>
        </p:txBody>
      </p:sp>
      <p:sp>
        <p:nvSpPr>
          <p:cNvPr id="22" name="Text 19"/>
          <p:cNvSpPr txBox="1"/>
          <p:nvPr/>
        </p:nvSpPr>
        <p:spPr>
          <a:xfrm>
            <a:off x="6035040" y="2743200"/>
            <a:ext cx="640080" cy="685800"/>
          </a:xfrm>
          <a:prstGeom prst="rect">
            <a:avLst/>
          </a:prstGeom>
          <a:noFill/>
          <a:ln/>
        </p:spPr>
        <p:txBody>
          <a:bodyPr wrap="square" lIns="0" tIns="0" rIns="0" bIns="0" rtlCol="0" anchor="ctr"/>
          <a:lstStyle/>
          <a:p>
            <a:pPr algn="ctr" indent="0" marL="0">
              <a:buNone/>
            </a:pPr>
            <a:r>
              <a:rPr lang="en-US" sz="2000" b="1" dirty="0">
                <a:solidFill>
                  <a:srgbClr val="64748B"/>
                </a:solidFill>
              </a:rPr>
              <a:t>→</a:t>
            </a:r>
            <a:endParaRPr lang="en-US" sz="2000" dirty="0"/>
          </a:p>
        </p:txBody>
      </p:sp>
      <p:sp>
        <p:nvSpPr>
          <p:cNvPr id="23" name="Shape 20"/>
          <p:cNvSpPr/>
          <p:nvPr/>
        </p:nvSpPr>
        <p:spPr>
          <a:xfrm>
            <a:off x="6675120" y="2743200"/>
            <a:ext cx="2011680" cy="685800"/>
          </a:xfrm>
          <a:prstGeom prst="roundRect">
            <a:avLst>
              <a:gd name="adj" fmla="val 10667"/>
            </a:avLst>
          </a:prstGeom>
          <a:solidFill>
            <a:srgbClr val="0D9488"/>
          </a:solidFill>
          <a:ln/>
        </p:spPr>
      </p:sp>
      <p:sp>
        <p:nvSpPr>
          <p:cNvPr id="24" name="Text 21"/>
          <p:cNvSpPr txBox="1"/>
          <p:nvPr/>
        </p:nvSpPr>
        <p:spPr>
          <a:xfrm>
            <a:off x="6675120" y="2743200"/>
            <a:ext cx="2011680" cy="685800"/>
          </a:xfrm>
          <a:prstGeom prst="rect">
            <a:avLst/>
          </a:prstGeom>
          <a:noFill/>
          <a:ln/>
        </p:spPr>
        <p:txBody>
          <a:bodyPr wrap="square" lIns="508" tIns="508" rIns="508" bIns="508" rtlCol="0" anchor="ctr"/>
          <a:lstStyle/>
          <a:p>
            <a:pPr algn="ctr" indent="0" marL="0">
              <a:buNone/>
            </a:pPr>
            <a:r>
              <a:rPr lang="en-US" sz="1400" b="1" dirty="0">
                <a:solidFill>
                  <a:srgbClr val="FFFFFF"/>
                </a:solidFill>
              </a:rPr>
              <a:t>Cluster</a:t>
            </a:r>
            <a:endParaRPr lang="en-US" sz="1400" dirty="0"/>
          </a:p>
          <a:p>
            <a:pPr algn="ctr" indent="0" marL="0">
              <a:buNone/>
            </a:pPr>
            <a:r>
              <a:rPr lang="en-US" sz="1400" b="1" dirty="0">
                <a:solidFill>
                  <a:srgbClr val="FFFFFF"/>
                </a:solidFill>
              </a:rPr>
              <a:t>état réel</a:t>
            </a:r>
            <a:endParaRPr lang="en-US" sz="1400" dirty="0"/>
          </a:p>
        </p:txBody>
      </p:sp>
      <p:sp>
        <p:nvSpPr>
          <p:cNvPr id="25" name="Text 22"/>
          <p:cNvSpPr txBox="1"/>
          <p:nvPr/>
        </p:nvSpPr>
        <p:spPr>
          <a:xfrm>
            <a:off x="457200" y="3749040"/>
            <a:ext cx="8229600" cy="731520"/>
          </a:xfrm>
          <a:prstGeom prst="rect">
            <a:avLst/>
          </a:prstGeom>
          <a:noFill/>
          <a:ln/>
        </p:spPr>
        <p:txBody>
          <a:bodyPr wrap="square" lIns="0" tIns="0" rIns="0" bIns="0" rtlCol="0" anchor="ctr"/>
          <a:lstStyle/>
          <a:p>
            <a:pPr indent="0" marL="0">
              <a:buNone/>
            </a:pPr>
            <a:r>
              <a:rPr lang="en-US" sz="1600" dirty="0">
                <a:solidFill>
                  <a:srgbClr val="1E293B"/>
                </a:solidFill>
              </a:rPr>
              <a:t>L'agent compare en continu l'état Git et l'état du cluster, puis réconcilie.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Schéma : architecture GitOps détaillée</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Noeud Développeur"/>
          <p:cNvSpPr txBox="1"/>
          <p:nvPr/>
        </p:nvSpPr>
        <p:spPr>
          <a:xfrm>
            <a:off x="457200" y="1143000"/>
            <a:ext cx="1280160" cy="502920"/>
          </a:xfrm>
          <a:prstGeom prst="roundRect">
            <a:avLst>
              <a:gd name="adj" fmla="val 14545"/>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Développeur</a:t>
            </a:r>
            <a:endParaRPr lang="en-US" sz="1200" dirty="0"/>
          </a:p>
        </p:txBody>
      </p:sp>
      <p:sp>
        <p:nvSpPr>
          <p:cNvPr id="7" name="Noeud Dépôt app"/>
          <p:cNvSpPr txBox="1"/>
          <p:nvPr/>
        </p:nvSpPr>
        <p:spPr>
          <a:xfrm>
            <a:off x="2011680" y="1143000"/>
            <a:ext cx="1280160" cy="502920"/>
          </a:xfrm>
          <a:prstGeom prst="roundRect">
            <a:avLst>
              <a:gd name="adj" fmla="val 14545"/>
            </a:avLst>
          </a:prstGeom>
          <a:solidFill>
            <a:srgbClr val="7C3AED"/>
          </a:solidFill>
          <a:ln/>
        </p:spPr>
        <p:txBody>
          <a:bodyPr wrap="square" lIns="508" tIns="508" rIns="508" bIns="508" rtlCol="0" anchor="ctr"/>
          <a:lstStyle/>
          <a:p>
            <a:pPr algn="ctr" indent="0" marL="0">
              <a:buNone/>
            </a:pPr>
            <a:r>
              <a:rPr lang="en-US" sz="1200" b="1" dirty="0">
                <a:solidFill>
                  <a:srgbClr val="FFFFFF"/>
                </a:solidFill>
              </a:rPr>
              <a:t>Dépôt app</a:t>
            </a:r>
            <a:endParaRPr lang="en-US" sz="1200" dirty="0"/>
          </a:p>
          <a:p>
            <a:pPr algn="ctr" indent="0" marL="0">
              <a:buNone/>
            </a:pPr>
            <a:r>
              <a:rPr lang="en-US" sz="1100" dirty="0">
                <a:solidFill>
                  <a:srgbClr val="FFFFFF"/>
                </a:solidFill>
              </a:rPr>
              <a:t>code</a:t>
            </a:r>
            <a:endParaRPr lang="en-US" sz="1200" dirty="0"/>
          </a:p>
        </p:txBody>
      </p:sp>
      <p:sp>
        <p:nvSpPr>
          <p:cNvPr id="8" name="Noeud CI"/>
          <p:cNvSpPr txBox="1"/>
          <p:nvPr/>
        </p:nvSpPr>
        <p:spPr>
          <a:xfrm>
            <a:off x="3566160" y="1143000"/>
            <a:ext cx="1280160" cy="502920"/>
          </a:xfrm>
          <a:prstGeom prst="roundRect">
            <a:avLst>
              <a:gd name="adj" fmla="val 14545"/>
            </a:avLst>
          </a:prstGeom>
          <a:solidFill>
            <a:srgbClr val="0EA5E9"/>
          </a:solidFill>
          <a:ln/>
        </p:spPr>
        <p:txBody>
          <a:bodyPr wrap="square" lIns="508" tIns="508" rIns="508" bIns="508" rtlCol="0" anchor="ctr"/>
          <a:lstStyle/>
          <a:p>
            <a:pPr algn="ctr" indent="0" marL="0">
              <a:buNone/>
            </a:pPr>
            <a:r>
              <a:rPr lang="en-US" sz="1200" b="1" dirty="0">
                <a:solidFill>
                  <a:srgbClr val="FFFFFF"/>
                </a:solidFill>
              </a:rPr>
              <a:t>CI</a:t>
            </a:r>
            <a:endParaRPr lang="en-US" sz="1200" dirty="0"/>
          </a:p>
          <a:p>
            <a:pPr algn="ctr" indent="0" marL="0">
              <a:buNone/>
            </a:pPr>
            <a:r>
              <a:rPr lang="en-US" sz="1100" dirty="0">
                <a:solidFill>
                  <a:srgbClr val="FFFFFF"/>
                </a:solidFill>
              </a:rPr>
              <a:t>build, tests</a:t>
            </a:r>
            <a:endParaRPr lang="en-US" sz="1200" dirty="0"/>
          </a:p>
        </p:txBody>
      </p:sp>
      <p:sp>
        <p:nvSpPr>
          <p:cNvPr id="9" name="Noeud Registry"/>
          <p:cNvSpPr txBox="1"/>
          <p:nvPr/>
        </p:nvSpPr>
        <p:spPr>
          <a:xfrm>
            <a:off x="5120640" y="1143000"/>
            <a:ext cx="1280160" cy="502920"/>
          </a:xfrm>
          <a:prstGeom prst="roundRect">
            <a:avLst>
              <a:gd name="adj" fmla="val 14545"/>
            </a:avLst>
          </a:prstGeom>
          <a:solidFill>
            <a:srgbClr val="F97316"/>
          </a:solidFill>
          <a:ln/>
        </p:spPr>
        <p:txBody>
          <a:bodyPr wrap="square" lIns="508" tIns="508" rIns="508" bIns="508" rtlCol="0" anchor="ctr"/>
          <a:lstStyle/>
          <a:p>
            <a:pPr algn="ctr" indent="0" marL="0">
              <a:buNone/>
            </a:pPr>
            <a:r>
              <a:rPr lang="en-US" sz="1200" b="1" dirty="0">
                <a:solidFill>
                  <a:srgbClr val="FFFFFF"/>
                </a:solidFill>
              </a:rPr>
              <a:t>Registry</a:t>
            </a:r>
            <a:endParaRPr lang="en-US" sz="1200" dirty="0"/>
          </a:p>
          <a:p>
            <a:pPr algn="ctr" indent="0" marL="0">
              <a:buNone/>
            </a:pPr>
            <a:r>
              <a:rPr lang="en-US" sz="1100" dirty="0">
                <a:solidFill>
                  <a:srgbClr val="FFFFFF"/>
                </a:solidFill>
              </a:rPr>
              <a:t>images</a:t>
            </a:r>
            <a:endParaRPr lang="en-US" sz="1200" dirty="0"/>
          </a:p>
        </p:txBody>
      </p:sp>
      <p:sp>
        <p:nvSpPr>
          <p:cNvPr id="10" name="Flèche"/>
          <p:cNvSpPr/>
          <p:nvPr/>
        </p:nvSpPr>
        <p:spPr>
          <a:xfrm>
            <a:off x="1737360" y="1389888"/>
            <a:ext cx="274320" cy="0"/>
          </a:xfrm>
          <a:prstGeom prst="line">
            <a:avLst/>
          </a:prstGeom>
          <a:noFill/>
          <a:ln w="22225">
            <a:solidFill>
              <a:srgbClr val="64748B"/>
            </a:solidFill>
            <a:prstDash val="solid"/>
            <a:tailEnd type="triangle"/>
          </a:ln>
        </p:spPr>
      </p:sp>
      <p:sp>
        <p:nvSpPr>
          <p:cNvPr id="11" name="Flèche"/>
          <p:cNvSpPr/>
          <p:nvPr/>
        </p:nvSpPr>
        <p:spPr>
          <a:xfrm>
            <a:off x="3291840" y="1389888"/>
            <a:ext cx="274320" cy="0"/>
          </a:xfrm>
          <a:prstGeom prst="line">
            <a:avLst/>
          </a:prstGeom>
          <a:noFill/>
          <a:ln w="22225">
            <a:solidFill>
              <a:srgbClr val="64748B"/>
            </a:solidFill>
            <a:prstDash val="solid"/>
            <a:tailEnd type="triangle"/>
          </a:ln>
        </p:spPr>
      </p:sp>
      <p:sp>
        <p:nvSpPr>
          <p:cNvPr id="12" name="Flèche"/>
          <p:cNvSpPr/>
          <p:nvPr/>
        </p:nvSpPr>
        <p:spPr>
          <a:xfrm>
            <a:off x="4846320" y="1389888"/>
            <a:ext cx="274320" cy="0"/>
          </a:xfrm>
          <a:prstGeom prst="line">
            <a:avLst/>
          </a:prstGeom>
          <a:noFill/>
          <a:ln w="22225">
            <a:solidFill>
              <a:srgbClr val="64748B"/>
            </a:solidFill>
            <a:prstDash val="solid"/>
            <a:tailEnd type="triangle"/>
          </a:ln>
        </p:spPr>
      </p:sp>
      <p:sp>
        <p:nvSpPr>
          <p:cNvPr id="13" name="Noeud Dépôt de configuration (Git)"/>
          <p:cNvSpPr txBox="1"/>
          <p:nvPr/>
        </p:nvSpPr>
        <p:spPr>
          <a:xfrm>
            <a:off x="457200" y="2148840"/>
            <a:ext cx="4572000" cy="548640"/>
          </a:xfrm>
          <a:prstGeom prst="roundRect">
            <a:avLst>
              <a:gd name="adj" fmla="val 13333"/>
            </a:avLst>
          </a:prstGeom>
          <a:solidFill>
            <a:srgbClr val="7C3AED"/>
          </a:solidFill>
          <a:ln/>
        </p:spPr>
        <p:txBody>
          <a:bodyPr wrap="square" lIns="508" tIns="508" rIns="508" bIns="508" rtlCol="0" anchor="ctr"/>
          <a:lstStyle/>
          <a:p>
            <a:pPr algn="ctr" indent="0" marL="0">
              <a:buNone/>
            </a:pPr>
            <a:r>
              <a:rPr lang="en-US" sz="1200" b="1" dirty="0">
                <a:solidFill>
                  <a:srgbClr val="FFFFFF"/>
                </a:solidFill>
              </a:rPr>
              <a:t>Dépôt de configuration (Git)</a:t>
            </a:r>
            <a:endParaRPr lang="en-US" sz="1200" dirty="0"/>
          </a:p>
          <a:p>
            <a:pPr algn="ctr" indent="0" marL="0">
              <a:buNone/>
            </a:pPr>
            <a:r>
              <a:rPr lang="en-US" sz="1100" dirty="0">
                <a:solidFill>
                  <a:srgbClr val="FFFFFF"/>
                </a:solidFill>
              </a:rPr>
              <a:t>manifestes, Helm, Kustomize</a:t>
            </a:r>
            <a:endParaRPr lang="en-US" sz="1200" dirty="0"/>
          </a:p>
        </p:txBody>
      </p:sp>
      <p:sp>
        <p:nvSpPr>
          <p:cNvPr id="14" name="Flèche"/>
          <p:cNvSpPr/>
          <p:nvPr/>
        </p:nvSpPr>
        <p:spPr>
          <a:xfrm>
            <a:off x="1097280" y="1645920"/>
            <a:ext cx="0" cy="502920"/>
          </a:xfrm>
          <a:prstGeom prst="line">
            <a:avLst/>
          </a:prstGeom>
          <a:noFill/>
          <a:ln w="22225">
            <a:solidFill>
              <a:srgbClr val="64748B"/>
            </a:solidFill>
            <a:prstDash val="solid"/>
            <a:tailEnd type="triangle"/>
          </a:ln>
        </p:spPr>
      </p:sp>
      <p:sp>
        <p:nvSpPr>
          <p:cNvPr id="15" name="Text 12"/>
          <p:cNvSpPr txBox="1"/>
          <p:nvPr/>
        </p:nvSpPr>
        <p:spPr>
          <a:xfrm>
            <a:off x="1188720" y="1783080"/>
            <a:ext cx="914400" cy="256032"/>
          </a:xfrm>
          <a:prstGeom prst="rect">
            <a:avLst/>
          </a:prstGeom>
          <a:noFill/>
          <a:ln/>
        </p:spPr>
        <p:txBody>
          <a:bodyPr wrap="square" lIns="0" tIns="0" rIns="0" bIns="0" rtlCol="0" anchor="ctr"/>
          <a:lstStyle/>
          <a:p>
            <a:pPr algn="l" indent="0" marL="0">
              <a:buNone/>
            </a:pPr>
            <a:r>
              <a:rPr lang="en-US" sz="1000" i="1" dirty="0">
                <a:solidFill>
                  <a:srgbClr val="64748B"/>
                </a:solidFill>
              </a:rPr>
              <a:t>PR config</a:t>
            </a:r>
            <a:endParaRPr lang="en-US" sz="1000" dirty="0"/>
          </a:p>
        </p:txBody>
      </p:sp>
      <p:sp>
        <p:nvSpPr>
          <p:cNvPr id="16" name="Flèche"/>
          <p:cNvSpPr/>
          <p:nvPr/>
        </p:nvSpPr>
        <p:spPr>
          <a:xfrm>
            <a:off x="4206240" y="1645920"/>
            <a:ext cx="0" cy="502920"/>
          </a:xfrm>
          <a:prstGeom prst="line">
            <a:avLst/>
          </a:prstGeom>
          <a:noFill/>
          <a:ln w="22225">
            <a:solidFill>
              <a:srgbClr val="64748B"/>
            </a:solidFill>
            <a:prstDash val="solid"/>
            <a:tailEnd type="triangle"/>
          </a:ln>
        </p:spPr>
      </p:sp>
      <p:sp>
        <p:nvSpPr>
          <p:cNvPr id="17" name="Text 14"/>
          <p:cNvSpPr txBox="1"/>
          <p:nvPr/>
        </p:nvSpPr>
        <p:spPr>
          <a:xfrm>
            <a:off x="4297680" y="1783080"/>
            <a:ext cx="1371600" cy="256032"/>
          </a:xfrm>
          <a:prstGeom prst="rect">
            <a:avLst/>
          </a:prstGeom>
          <a:noFill/>
          <a:ln/>
        </p:spPr>
        <p:txBody>
          <a:bodyPr wrap="square" lIns="0" tIns="0" rIns="0" bIns="0" rtlCol="0" anchor="ctr"/>
          <a:lstStyle/>
          <a:p>
            <a:pPr algn="l" indent="0" marL="0">
              <a:buNone/>
            </a:pPr>
            <a:r>
              <a:rPr lang="en-US" sz="1000" i="1" dirty="0">
                <a:solidFill>
                  <a:srgbClr val="64748B"/>
                </a:solidFill>
              </a:rPr>
              <a:t>PR : nouveau tag</a:t>
            </a:r>
            <a:endParaRPr lang="en-US" sz="1000" dirty="0"/>
          </a:p>
        </p:txBody>
      </p:sp>
      <p:sp>
        <p:nvSpPr>
          <p:cNvPr id="18" name="Zone Cluster Kubernetes"/>
          <p:cNvSpPr/>
          <p:nvPr/>
        </p:nvSpPr>
        <p:spPr>
          <a:xfrm>
            <a:off x="457200" y="2926080"/>
            <a:ext cx="8229600" cy="1737360"/>
          </a:xfrm>
          <a:prstGeom prst="roundRect">
            <a:avLst>
              <a:gd name="adj" fmla="val 4211"/>
            </a:avLst>
          </a:prstGeom>
          <a:solidFill>
            <a:srgbClr val="F8FAFC"/>
          </a:solidFill>
          <a:ln w="12700">
            <a:solidFill>
              <a:srgbClr val="CBD5E1"/>
            </a:solidFill>
            <a:prstDash val="dash"/>
          </a:ln>
        </p:spPr>
      </p:sp>
      <p:sp>
        <p:nvSpPr>
          <p:cNvPr id="19" name="Text 16"/>
          <p:cNvSpPr txBox="1"/>
          <p:nvPr/>
        </p:nvSpPr>
        <p:spPr>
          <a:xfrm>
            <a:off x="5943600" y="2971800"/>
            <a:ext cx="2651760" cy="256032"/>
          </a:xfrm>
          <a:prstGeom prst="rect">
            <a:avLst/>
          </a:prstGeom>
          <a:noFill/>
          <a:ln/>
        </p:spPr>
        <p:txBody>
          <a:bodyPr wrap="square" lIns="0" tIns="0" rIns="0" bIns="0" rtlCol="0" anchor="ctr"/>
          <a:lstStyle/>
          <a:p>
            <a:pPr algn="r" indent="0" marL="0">
              <a:buNone/>
            </a:pPr>
            <a:r>
              <a:rPr lang="en-US" sz="1100" b="1" dirty="0">
                <a:solidFill>
                  <a:srgbClr val="64748B"/>
                </a:solidFill>
              </a:rPr>
              <a:t>Cluster Kubernetes</a:t>
            </a:r>
            <a:endParaRPr lang="en-US" sz="1100" dirty="0"/>
          </a:p>
        </p:txBody>
      </p:sp>
      <p:sp>
        <p:nvSpPr>
          <p:cNvPr id="20" name="Zone Argo CD"/>
          <p:cNvSpPr/>
          <p:nvPr/>
        </p:nvSpPr>
        <p:spPr>
          <a:xfrm>
            <a:off x="594360" y="3200400"/>
            <a:ext cx="4480560" cy="1371600"/>
          </a:xfrm>
          <a:prstGeom prst="roundRect">
            <a:avLst>
              <a:gd name="adj" fmla="val 5333"/>
            </a:avLst>
          </a:prstGeom>
          <a:solidFill>
            <a:srgbClr val="EDE9FE"/>
          </a:solidFill>
          <a:ln w="12700">
            <a:solidFill>
              <a:srgbClr val="7C3AED"/>
            </a:solidFill>
            <a:prstDash val="dash"/>
          </a:ln>
        </p:spPr>
      </p:sp>
      <p:sp>
        <p:nvSpPr>
          <p:cNvPr id="21" name="Text 18"/>
          <p:cNvSpPr txBox="1"/>
          <p:nvPr/>
        </p:nvSpPr>
        <p:spPr>
          <a:xfrm>
            <a:off x="3566160" y="3246120"/>
            <a:ext cx="1417320" cy="256032"/>
          </a:xfrm>
          <a:prstGeom prst="rect">
            <a:avLst/>
          </a:prstGeom>
          <a:noFill/>
          <a:ln/>
        </p:spPr>
        <p:txBody>
          <a:bodyPr wrap="square" lIns="0" tIns="0" rIns="0" bIns="0" rtlCol="0" anchor="ctr"/>
          <a:lstStyle/>
          <a:p>
            <a:pPr algn="r" indent="0" marL="0">
              <a:buNone/>
            </a:pPr>
            <a:r>
              <a:rPr lang="en-US" sz="1100" b="1" dirty="0">
                <a:solidFill>
                  <a:srgbClr val="64748B"/>
                </a:solidFill>
              </a:rPr>
              <a:t>Argo CD</a:t>
            </a:r>
            <a:endParaRPr lang="en-US" sz="1100" dirty="0"/>
          </a:p>
        </p:txBody>
      </p:sp>
      <p:sp>
        <p:nvSpPr>
          <p:cNvPr id="22" name="Noeud repo-server"/>
          <p:cNvSpPr txBox="1"/>
          <p:nvPr/>
        </p:nvSpPr>
        <p:spPr>
          <a:xfrm>
            <a:off x="731520" y="3611880"/>
            <a:ext cx="1325880" cy="822960"/>
          </a:xfrm>
          <a:prstGeom prst="roundRect">
            <a:avLst>
              <a:gd name="adj" fmla="val 8889"/>
            </a:avLst>
          </a:prstGeom>
          <a:solidFill>
            <a:srgbClr val="0F172A"/>
          </a:solidFill>
          <a:ln/>
        </p:spPr>
        <p:txBody>
          <a:bodyPr wrap="square" lIns="508" tIns="508" rIns="508" bIns="508" rtlCol="0" anchor="ctr"/>
          <a:lstStyle/>
          <a:p>
            <a:pPr algn="ctr" indent="0" marL="0">
              <a:buNone/>
            </a:pPr>
            <a:r>
              <a:rPr lang="en-US" sz="1200" b="1" dirty="0">
                <a:solidFill>
                  <a:srgbClr val="FFFFFF"/>
                </a:solidFill>
              </a:rPr>
              <a:t>repo-server</a:t>
            </a:r>
            <a:endParaRPr lang="en-US" sz="1200" dirty="0"/>
          </a:p>
          <a:p>
            <a:pPr algn="ctr" indent="0" marL="0">
              <a:buNone/>
            </a:pPr>
            <a:r>
              <a:rPr lang="en-US" sz="1100" dirty="0">
                <a:solidFill>
                  <a:srgbClr val="FFFFFF"/>
                </a:solidFill>
              </a:rPr>
              <a:t>clone et rendu</a:t>
            </a:r>
            <a:endParaRPr lang="en-US" sz="1200" dirty="0"/>
          </a:p>
        </p:txBody>
      </p:sp>
      <p:sp>
        <p:nvSpPr>
          <p:cNvPr id="23" name="Noeud Application controller"/>
          <p:cNvSpPr txBox="1"/>
          <p:nvPr/>
        </p:nvSpPr>
        <p:spPr>
          <a:xfrm>
            <a:off x="2194560" y="3611880"/>
            <a:ext cx="1325880" cy="822960"/>
          </a:xfrm>
          <a:prstGeom prst="roundRect">
            <a:avLst>
              <a:gd name="adj" fmla="val 8889"/>
            </a:avLst>
          </a:prstGeom>
          <a:solidFill>
            <a:srgbClr val="0F172A"/>
          </a:solidFill>
          <a:ln/>
        </p:spPr>
        <p:txBody>
          <a:bodyPr wrap="square" lIns="508" tIns="508" rIns="508" bIns="508" rtlCol="0" anchor="ctr"/>
          <a:lstStyle/>
          <a:p>
            <a:pPr algn="ctr" indent="0" marL="0">
              <a:buNone/>
            </a:pPr>
            <a:r>
              <a:rPr lang="en-US" sz="1100" b="1" dirty="0">
                <a:solidFill>
                  <a:srgbClr val="FFFFFF"/>
                </a:solidFill>
              </a:rPr>
              <a:t>Application controller</a:t>
            </a:r>
            <a:endParaRPr lang="en-US" sz="1100" dirty="0"/>
          </a:p>
          <a:p>
            <a:pPr algn="ctr" indent="0" marL="0">
              <a:buNone/>
            </a:pPr>
            <a:r>
              <a:rPr lang="en-US" sz="1100" dirty="0">
                <a:solidFill>
                  <a:srgbClr val="FFFFFF"/>
                </a:solidFill>
              </a:rPr>
              <a:t>compare et applique</a:t>
            </a:r>
            <a:endParaRPr lang="en-US" sz="1100" dirty="0"/>
          </a:p>
        </p:txBody>
      </p:sp>
      <p:sp>
        <p:nvSpPr>
          <p:cNvPr id="24" name="Noeud API et UI"/>
          <p:cNvSpPr txBox="1"/>
          <p:nvPr/>
        </p:nvSpPr>
        <p:spPr>
          <a:xfrm>
            <a:off x="3657600" y="3611880"/>
            <a:ext cx="1280160" cy="822960"/>
          </a:xfrm>
          <a:prstGeom prst="roundRect">
            <a:avLst>
              <a:gd name="adj" fmla="val 8889"/>
            </a:avLst>
          </a:prstGeom>
          <a:solidFill>
            <a:srgbClr val="64748B"/>
          </a:solidFill>
          <a:ln/>
        </p:spPr>
        <p:txBody>
          <a:bodyPr wrap="square" lIns="508" tIns="508" rIns="508" bIns="508" rtlCol="0" anchor="ctr"/>
          <a:lstStyle/>
          <a:p>
            <a:pPr algn="ctr" indent="0" marL="0">
              <a:buNone/>
            </a:pPr>
            <a:r>
              <a:rPr lang="en-US" sz="1200" b="1" dirty="0">
                <a:solidFill>
                  <a:srgbClr val="FFFFFF"/>
                </a:solidFill>
              </a:rPr>
              <a:t>API et UI</a:t>
            </a:r>
            <a:endParaRPr lang="en-US" sz="1200" dirty="0"/>
          </a:p>
          <a:p>
            <a:pPr algn="ctr" indent="0" marL="0">
              <a:buNone/>
            </a:pPr>
            <a:r>
              <a:rPr lang="en-US" sz="1100" dirty="0">
                <a:solidFill>
                  <a:srgbClr val="FFFFFF"/>
                </a:solidFill>
              </a:rPr>
              <a:t>pilotage</a:t>
            </a:r>
            <a:endParaRPr lang="en-US" sz="1200" dirty="0"/>
          </a:p>
        </p:txBody>
      </p:sp>
      <p:sp>
        <p:nvSpPr>
          <p:cNvPr id="25" name="Zone Workloads"/>
          <p:cNvSpPr/>
          <p:nvPr/>
        </p:nvSpPr>
        <p:spPr>
          <a:xfrm>
            <a:off x="5440680" y="3200400"/>
            <a:ext cx="3108960" cy="1371600"/>
          </a:xfrm>
          <a:prstGeom prst="roundRect">
            <a:avLst>
              <a:gd name="adj" fmla="val 5333"/>
            </a:avLst>
          </a:prstGeom>
          <a:solidFill>
            <a:srgbClr val="F8FAFC"/>
          </a:solidFill>
          <a:ln w="12700">
            <a:solidFill>
              <a:srgbClr val="CBD5E1"/>
            </a:solidFill>
            <a:prstDash val="dash"/>
          </a:ln>
        </p:spPr>
      </p:sp>
      <p:sp>
        <p:nvSpPr>
          <p:cNvPr id="26" name="Text 23"/>
          <p:cNvSpPr txBox="1"/>
          <p:nvPr/>
        </p:nvSpPr>
        <p:spPr>
          <a:xfrm>
            <a:off x="5532120" y="3246120"/>
            <a:ext cx="2926080" cy="256032"/>
          </a:xfrm>
          <a:prstGeom prst="rect">
            <a:avLst/>
          </a:prstGeom>
          <a:noFill/>
          <a:ln/>
        </p:spPr>
        <p:txBody>
          <a:bodyPr wrap="square" lIns="0" tIns="0" rIns="0" bIns="0" rtlCol="0" anchor="ctr"/>
          <a:lstStyle/>
          <a:p>
            <a:pPr algn="r" indent="0" marL="0">
              <a:buNone/>
            </a:pPr>
            <a:r>
              <a:rPr lang="en-US" sz="1100" b="1" dirty="0">
                <a:solidFill>
                  <a:srgbClr val="64748B"/>
                </a:solidFill>
              </a:rPr>
              <a:t>Workloads</a:t>
            </a:r>
            <a:endParaRPr lang="en-US" sz="1100" dirty="0"/>
          </a:p>
        </p:txBody>
      </p:sp>
      <p:sp>
        <p:nvSpPr>
          <p:cNvPr id="27" name="Noeud Deployments, Services"/>
          <p:cNvSpPr txBox="1"/>
          <p:nvPr/>
        </p:nvSpPr>
        <p:spPr>
          <a:xfrm>
            <a:off x="5577840" y="3611880"/>
            <a:ext cx="2834640" cy="822960"/>
          </a:xfrm>
          <a:prstGeom prst="roundRect">
            <a:avLst>
              <a:gd name="adj" fmla="val 8889"/>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Deployments, Services</a:t>
            </a:r>
            <a:endParaRPr lang="en-US" sz="1200" dirty="0"/>
          </a:p>
          <a:p>
            <a:pPr algn="ctr" indent="0" marL="0">
              <a:buNone/>
            </a:pPr>
            <a:r>
              <a:rPr lang="en-US" sz="1100" dirty="0">
                <a:solidFill>
                  <a:srgbClr val="FFFFFF"/>
                </a:solidFill>
              </a:rPr>
              <a:t>état réel du cluster</a:t>
            </a:r>
            <a:endParaRPr lang="en-US" sz="1200" dirty="0"/>
          </a:p>
        </p:txBody>
      </p:sp>
      <p:sp>
        <p:nvSpPr>
          <p:cNvPr id="28" name="Flèche"/>
          <p:cNvSpPr/>
          <p:nvPr/>
        </p:nvSpPr>
        <p:spPr>
          <a:xfrm flipV="1">
            <a:off x="1371600" y="2697480"/>
            <a:ext cx="0" cy="914400"/>
          </a:xfrm>
          <a:prstGeom prst="line">
            <a:avLst/>
          </a:prstGeom>
          <a:noFill/>
          <a:ln w="22225">
            <a:solidFill>
              <a:srgbClr val="64748B"/>
            </a:solidFill>
            <a:prstDash val="solid"/>
            <a:tailEnd type="triangle"/>
          </a:ln>
        </p:spPr>
      </p:sp>
      <p:sp>
        <p:nvSpPr>
          <p:cNvPr id="29" name="Text 26"/>
          <p:cNvSpPr txBox="1"/>
          <p:nvPr/>
        </p:nvSpPr>
        <p:spPr>
          <a:xfrm>
            <a:off x="1463040" y="2697480"/>
            <a:ext cx="548640" cy="256032"/>
          </a:xfrm>
          <a:prstGeom prst="rect">
            <a:avLst/>
          </a:prstGeom>
          <a:noFill/>
          <a:ln/>
        </p:spPr>
        <p:txBody>
          <a:bodyPr wrap="square" lIns="0" tIns="0" rIns="0" bIns="0" rtlCol="0" anchor="ctr"/>
          <a:lstStyle/>
          <a:p>
            <a:pPr algn="l" indent="0" marL="0">
              <a:buNone/>
            </a:pPr>
            <a:r>
              <a:rPr lang="en-US" sz="1000" i="1" dirty="0">
                <a:solidFill>
                  <a:srgbClr val="64748B"/>
                </a:solidFill>
              </a:rPr>
              <a:t>pull</a:t>
            </a:r>
            <a:endParaRPr lang="en-US" sz="1000" dirty="0"/>
          </a:p>
        </p:txBody>
      </p:sp>
      <p:sp>
        <p:nvSpPr>
          <p:cNvPr id="30" name="Flèche"/>
          <p:cNvSpPr/>
          <p:nvPr/>
        </p:nvSpPr>
        <p:spPr>
          <a:xfrm>
            <a:off x="5074920" y="4023360"/>
            <a:ext cx="365760" cy="0"/>
          </a:xfrm>
          <a:prstGeom prst="line">
            <a:avLst/>
          </a:prstGeom>
          <a:noFill/>
          <a:ln w="22225">
            <a:solidFill>
              <a:srgbClr val="64748B"/>
            </a:solidFill>
            <a:prstDash val="solid"/>
            <a:tailEnd type="triangle"/>
          </a:ln>
        </p:spPr>
      </p:sp>
      <p:sp>
        <p:nvSpPr>
          <p:cNvPr id="31" name="Flèche"/>
          <p:cNvSpPr/>
          <p:nvPr/>
        </p:nvSpPr>
        <p:spPr>
          <a:xfrm>
            <a:off x="5760720" y="1645920"/>
            <a:ext cx="0" cy="1965960"/>
          </a:xfrm>
          <a:prstGeom prst="line">
            <a:avLst/>
          </a:prstGeom>
          <a:noFill/>
          <a:ln w="22225">
            <a:solidFill>
              <a:srgbClr val="64748B"/>
            </a:solidFill>
            <a:prstDash val="solid"/>
            <a:tailEnd type="triangle"/>
          </a:ln>
        </p:spPr>
      </p:sp>
      <p:sp>
        <p:nvSpPr>
          <p:cNvPr id="32" name="Text 29"/>
          <p:cNvSpPr txBox="1"/>
          <p:nvPr/>
        </p:nvSpPr>
        <p:spPr>
          <a:xfrm>
            <a:off x="5852160" y="2377440"/>
            <a:ext cx="1097280" cy="256032"/>
          </a:xfrm>
          <a:prstGeom prst="rect">
            <a:avLst/>
          </a:prstGeom>
          <a:noFill/>
          <a:ln/>
        </p:spPr>
        <p:txBody>
          <a:bodyPr wrap="square" lIns="0" tIns="0" rIns="0" bIns="0" rtlCol="0" anchor="ctr"/>
          <a:lstStyle/>
          <a:p>
            <a:pPr algn="l" indent="0" marL="0">
              <a:buNone/>
            </a:pPr>
            <a:r>
              <a:rPr lang="en-US" sz="1000" i="1" dirty="0">
                <a:solidFill>
                  <a:srgbClr val="64748B"/>
                </a:solidFill>
              </a:rPr>
              <a:t>pull image</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Argo CD vs Flux</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3200400"/>
                <a:gridCol w="329184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Critère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Argo CD</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Flux</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Interface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UI web riche + CLI</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CLI ; UI via outils tiers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Architecture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Application unique, ApplicationSet</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Contrôleurs modulaires (GitOps Toolkit)</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Ressource clé</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Application / AppProject</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GitRepository / Kustomization / HelmRelease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Multi-cluster</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Natif, centralisé</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Un Flux par cluster</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Images auto</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Argo CD Image Updater</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Image Automation intégrée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Statut CNCF</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Gradué</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Gradué</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Exemple : une application Argo CD</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Bloc code"/>
          <p:cNvSpPr/>
          <p:nvPr/>
        </p:nvSpPr>
        <p:spPr>
          <a:xfrm>
            <a:off x="457200" y="1234440"/>
            <a:ext cx="5120640" cy="3383280"/>
          </a:xfrm>
          <a:prstGeom prst="roundRect">
            <a:avLst>
              <a:gd name="adj" fmla="val 1622"/>
            </a:avLst>
          </a:prstGeom>
          <a:solidFill>
            <a:srgbClr val="0F172A"/>
          </a:solidFill>
          <a:ln/>
        </p:spPr>
      </p:sp>
      <p:sp>
        <p:nvSpPr>
          <p:cNvPr id="7" name="Text 4"/>
          <p:cNvSpPr txBox="1"/>
          <p:nvPr/>
        </p:nvSpPr>
        <p:spPr>
          <a:xfrm>
            <a:off x="594360" y="1325880"/>
            <a:ext cx="4846320" cy="320040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apiVersion: argoproj.io/v1alpha1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kind: Application</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metadata:</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name: shop</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namespace: argocd</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project: default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source: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repoURL: https://git.exemple.com/shop-config.git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path: overlays/prod</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targetRevision: main</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destination:</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server: https://kubernetes.default.svc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namespace: shop</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syncPolicy:</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automated: { prune: true, selfHeal: true }</a:t>
            </a:r>
            <a:endParaRPr lang="en-US" sz="1100" dirty="0"/>
          </a:p>
        </p:txBody>
      </p:sp>
      <p:sp>
        <p:nvSpPr>
          <p:cNvPr id="8" name="Carte"/>
          <p:cNvSpPr/>
          <p:nvPr/>
        </p:nvSpPr>
        <p:spPr>
          <a:xfrm>
            <a:off x="5760720" y="1234440"/>
            <a:ext cx="2926080" cy="1051560"/>
          </a:xfrm>
          <a:prstGeom prst="roundRect">
            <a:avLst>
              <a:gd name="adj" fmla="val 6957"/>
            </a:avLst>
          </a:prstGeom>
          <a:solidFill>
            <a:srgbClr val="F1F5F9"/>
          </a:solidFill>
          <a:ln/>
        </p:spPr>
      </p:sp>
      <p:sp>
        <p:nvSpPr>
          <p:cNvPr id="9" name="Text 6"/>
          <p:cNvSpPr txBox="1"/>
          <p:nvPr/>
        </p:nvSpPr>
        <p:spPr>
          <a:xfrm>
            <a:off x="5897880" y="1344168"/>
            <a:ext cx="2651760" cy="365760"/>
          </a:xfrm>
          <a:prstGeom prst="rect">
            <a:avLst/>
          </a:prstGeom>
          <a:noFill/>
          <a:ln/>
        </p:spPr>
        <p:txBody>
          <a:bodyPr wrap="square" lIns="0" tIns="0" rIns="0" bIns="0" rtlCol="0" anchor="ctr"/>
          <a:lstStyle/>
          <a:p>
            <a:pPr indent="0" marL="0">
              <a:buNone/>
            </a:pPr>
            <a:r>
              <a:rPr lang="en-US" sz="1500" b="1" dirty="0">
                <a:solidFill>
                  <a:srgbClr val="0F172A"/>
                </a:solidFill>
              </a:rPr>
              <a:t>source</a:t>
            </a:r>
            <a:endParaRPr lang="en-US" sz="1500" dirty="0"/>
          </a:p>
        </p:txBody>
      </p:sp>
      <p:sp>
        <p:nvSpPr>
          <p:cNvPr id="10" name="Text 7"/>
          <p:cNvSpPr txBox="1"/>
          <p:nvPr/>
        </p:nvSpPr>
        <p:spPr>
          <a:xfrm>
            <a:off x="5897880" y="1728216"/>
            <a:ext cx="2651760" cy="484632"/>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Où lire l'état désiré</a:t>
            </a:r>
            <a:endParaRPr lang="en-US" sz="1300" dirty="0"/>
          </a:p>
        </p:txBody>
      </p:sp>
      <p:sp>
        <p:nvSpPr>
          <p:cNvPr id="11" name="Carte"/>
          <p:cNvSpPr/>
          <p:nvPr/>
        </p:nvSpPr>
        <p:spPr>
          <a:xfrm>
            <a:off x="5760720" y="2395728"/>
            <a:ext cx="2926080" cy="1051560"/>
          </a:xfrm>
          <a:prstGeom prst="roundRect">
            <a:avLst>
              <a:gd name="adj" fmla="val 6957"/>
            </a:avLst>
          </a:prstGeom>
          <a:solidFill>
            <a:srgbClr val="F1F5F9"/>
          </a:solidFill>
          <a:ln/>
        </p:spPr>
      </p:sp>
      <p:sp>
        <p:nvSpPr>
          <p:cNvPr id="12" name="Text 9"/>
          <p:cNvSpPr txBox="1"/>
          <p:nvPr/>
        </p:nvSpPr>
        <p:spPr>
          <a:xfrm>
            <a:off x="5897880" y="2505456"/>
            <a:ext cx="2651760" cy="365760"/>
          </a:xfrm>
          <a:prstGeom prst="rect">
            <a:avLst/>
          </a:prstGeom>
          <a:noFill/>
          <a:ln/>
        </p:spPr>
        <p:txBody>
          <a:bodyPr wrap="square" lIns="0" tIns="0" rIns="0" bIns="0" rtlCol="0" anchor="ctr"/>
          <a:lstStyle/>
          <a:p>
            <a:pPr indent="0" marL="0">
              <a:buNone/>
            </a:pPr>
            <a:r>
              <a:rPr lang="en-US" sz="1500" b="1" dirty="0">
                <a:solidFill>
                  <a:srgbClr val="0F172A"/>
                </a:solidFill>
              </a:rPr>
              <a:t>prune</a:t>
            </a:r>
            <a:endParaRPr lang="en-US" sz="1500" dirty="0"/>
          </a:p>
        </p:txBody>
      </p:sp>
      <p:sp>
        <p:nvSpPr>
          <p:cNvPr id="13" name="Text 10"/>
          <p:cNvSpPr txBox="1"/>
          <p:nvPr/>
        </p:nvSpPr>
        <p:spPr>
          <a:xfrm>
            <a:off x="5897880" y="2889504"/>
            <a:ext cx="2651760" cy="484632"/>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Supprime ce qui n'est plus dans Git</a:t>
            </a:r>
            <a:endParaRPr lang="en-US" sz="1300" dirty="0"/>
          </a:p>
        </p:txBody>
      </p:sp>
      <p:sp>
        <p:nvSpPr>
          <p:cNvPr id="14" name="Carte"/>
          <p:cNvSpPr/>
          <p:nvPr/>
        </p:nvSpPr>
        <p:spPr>
          <a:xfrm>
            <a:off x="5760720" y="3557016"/>
            <a:ext cx="2926080" cy="1051560"/>
          </a:xfrm>
          <a:prstGeom prst="roundRect">
            <a:avLst>
              <a:gd name="adj" fmla="val 6957"/>
            </a:avLst>
          </a:prstGeom>
          <a:solidFill>
            <a:srgbClr val="F1F5F9"/>
          </a:solidFill>
          <a:ln/>
        </p:spPr>
      </p:sp>
      <p:sp>
        <p:nvSpPr>
          <p:cNvPr id="15" name="Text 12"/>
          <p:cNvSpPr txBox="1"/>
          <p:nvPr/>
        </p:nvSpPr>
        <p:spPr>
          <a:xfrm>
            <a:off x="5897880" y="3666744"/>
            <a:ext cx="2651760" cy="365760"/>
          </a:xfrm>
          <a:prstGeom prst="rect">
            <a:avLst/>
          </a:prstGeom>
          <a:noFill/>
          <a:ln/>
        </p:spPr>
        <p:txBody>
          <a:bodyPr wrap="square" lIns="0" tIns="0" rIns="0" bIns="0" rtlCol="0" anchor="ctr"/>
          <a:lstStyle/>
          <a:p>
            <a:pPr indent="0" marL="0">
              <a:buNone/>
            </a:pPr>
            <a:r>
              <a:rPr lang="en-US" sz="1500" b="1" dirty="0">
                <a:solidFill>
                  <a:srgbClr val="0F172A"/>
                </a:solidFill>
              </a:rPr>
              <a:t>selfHeal</a:t>
            </a:r>
            <a:endParaRPr lang="en-US" sz="1500" dirty="0"/>
          </a:p>
        </p:txBody>
      </p:sp>
      <p:sp>
        <p:nvSpPr>
          <p:cNvPr id="16" name="Text 13"/>
          <p:cNvSpPr txBox="1"/>
          <p:nvPr/>
        </p:nvSpPr>
        <p:spPr>
          <a:xfrm>
            <a:off x="5897880" y="4050792"/>
            <a:ext cx="2651760" cy="484632"/>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Annule les changements manuels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Organiser ses dépôts et environnements</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Bloc code"/>
          <p:cNvSpPr/>
          <p:nvPr/>
        </p:nvSpPr>
        <p:spPr>
          <a:xfrm>
            <a:off x="457200" y="1280160"/>
            <a:ext cx="4023360" cy="3200400"/>
          </a:xfrm>
          <a:prstGeom prst="roundRect">
            <a:avLst>
              <a:gd name="adj" fmla="val 1714"/>
            </a:avLst>
          </a:prstGeom>
          <a:solidFill>
            <a:srgbClr val="0F172A"/>
          </a:solidFill>
          <a:ln/>
        </p:spPr>
      </p:sp>
      <p:sp>
        <p:nvSpPr>
          <p:cNvPr id="7" name="Text 4"/>
          <p:cNvSpPr txBox="1"/>
          <p:nvPr/>
        </p:nvSpPr>
        <p:spPr>
          <a:xfrm>
            <a:off x="594360" y="1371600"/>
            <a:ext cx="3749040" cy="3017520"/>
          </a:xfrm>
          <a:prstGeom prst="rect">
            <a:avLst/>
          </a:prstGeom>
          <a:noFill/>
          <a:ln/>
        </p:spPr>
        <p:txBody>
          <a:bodyPr wrap="square" lIns="0" tIns="0" rIns="0" bIns="0" rtlCol="0" anchor="t"/>
          <a:lstStyle/>
          <a:p>
            <a:pPr indent="0" marL="0">
              <a:buNone/>
            </a:pPr>
            <a:r>
              <a:rPr lang="en-US" sz="1300" dirty="0">
                <a:solidFill>
                  <a:srgbClr val="5EEAD4"/>
                </a:solidFill>
                <a:latin typeface="Courier New" pitchFamily="34" charset="0"/>
                <a:ea typeface="Courier New" pitchFamily="34" charset="-122"/>
                <a:cs typeface="Courier New" pitchFamily="34" charset="-120"/>
              </a:rPr>
              <a:t>shop-config/</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base/</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 deployment.yaml</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 kustomization.yaml</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overlays/</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 dev/</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 staging/</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 prod/</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 kustomization.yaml</a:t>
            </a:r>
            <a:endParaRPr lang="en-US" sz="1300" dirty="0"/>
          </a:p>
          <a:p>
            <a:pPr indent="0" marL="0">
              <a:buNone/>
            </a:pPr>
            <a:r>
              <a:rPr lang="en-US" sz="1300" dirty="0">
                <a:solidFill>
                  <a:srgbClr val="5EEAD4"/>
                </a:solidFill>
                <a:latin typeface="Courier New" pitchFamily="34" charset="0"/>
                <a:ea typeface="Courier New" pitchFamily="34" charset="-122"/>
                <a:cs typeface="Courier New" pitchFamily="34" charset="-120"/>
              </a:rPr>
              <a:t>        └── patch-replicas.yaml</a:t>
            </a:r>
            <a:endParaRPr lang="en-US" sz="1300" dirty="0"/>
          </a:p>
        </p:txBody>
      </p:sp>
      <p:sp>
        <p:nvSpPr>
          <p:cNvPr id="8" name="Text 5"/>
          <p:cNvSpPr txBox="1"/>
          <p:nvPr/>
        </p:nvSpPr>
        <p:spPr>
          <a:xfrm>
            <a:off x="4663440" y="1280160"/>
            <a:ext cx="402336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E293B"/>
                </a:solidFill>
              </a:rPr>
              <a:t>Dépôt de config séparé du code applicatif</a:t>
            </a:r>
            <a:endParaRPr lang="en-US" sz="1500" dirty="0"/>
          </a:p>
          <a:p>
            <a:pPr marL="342900" indent="-342900">
              <a:spcAft>
                <a:spcPts val="800"/>
              </a:spcAft>
              <a:buSzPct val="100000"/>
              <a:buChar char="•"/>
            </a:pPr>
            <a:r>
              <a:rPr lang="en-US" sz="1500" dirty="0">
                <a:solidFill>
                  <a:srgbClr val="1E293B"/>
                </a:solidFill>
              </a:rPr>
              <a:t>Un dossier par environnement, pas une branche</a:t>
            </a:r>
            <a:endParaRPr lang="en-US" sz="1500" dirty="0"/>
          </a:p>
          <a:p>
            <a:pPr marL="342900" indent="-342900">
              <a:spcAft>
                <a:spcPts val="800"/>
              </a:spcAft>
              <a:buSzPct val="100000"/>
              <a:buChar char="•"/>
            </a:pPr>
            <a:r>
              <a:rPr lang="en-US" sz="1500" dirty="0">
                <a:solidFill>
                  <a:srgbClr val="1E293B"/>
                </a:solidFill>
              </a:rPr>
              <a:t>Kustomize : base + overlays (patchs)</a:t>
            </a:r>
            <a:endParaRPr lang="en-US" sz="1500" dirty="0"/>
          </a:p>
          <a:p>
            <a:pPr marL="342900" indent="-342900">
              <a:spcAft>
                <a:spcPts val="800"/>
              </a:spcAft>
              <a:buSzPct val="100000"/>
              <a:buChar char="•"/>
            </a:pPr>
            <a:r>
              <a:rPr lang="en-US" sz="1500" dirty="0">
                <a:solidFill>
                  <a:srgbClr val="1E293B"/>
                </a:solidFill>
              </a:rPr>
              <a:t>Helm : templates + values par environnement</a:t>
            </a:r>
            <a:endParaRPr lang="en-US" sz="1500" dirty="0"/>
          </a:p>
          <a:p>
            <a:pPr marL="342900" indent="-342900">
              <a:spcAft>
                <a:spcPts val="800"/>
              </a:spcAft>
              <a:buSzPct val="100000"/>
              <a:buChar char="•"/>
            </a:pPr>
            <a:r>
              <a:rPr lang="en-US" sz="1500" dirty="0">
                <a:solidFill>
                  <a:srgbClr val="1E293B"/>
                </a:solidFill>
              </a:rPr>
              <a:t>Promotion = une PR qui modifie le dossier suivant</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Schéma : promotion entre environnements</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Zone Dépôt de configuration (Git)"/>
          <p:cNvSpPr/>
          <p:nvPr/>
        </p:nvSpPr>
        <p:spPr>
          <a:xfrm>
            <a:off x="320040" y="1097280"/>
            <a:ext cx="8503920" cy="1325880"/>
          </a:xfrm>
          <a:prstGeom prst="roundRect">
            <a:avLst>
              <a:gd name="adj" fmla="val 5517"/>
            </a:avLst>
          </a:prstGeom>
          <a:solidFill>
            <a:srgbClr val="F8FAFC"/>
          </a:solidFill>
          <a:ln w="12700">
            <a:solidFill>
              <a:srgbClr val="CBD5E1"/>
            </a:solidFill>
            <a:prstDash val="dash"/>
          </a:ln>
        </p:spPr>
      </p:sp>
      <p:sp>
        <p:nvSpPr>
          <p:cNvPr id="7" name="Text 4"/>
          <p:cNvSpPr txBox="1"/>
          <p:nvPr/>
        </p:nvSpPr>
        <p:spPr>
          <a:xfrm>
            <a:off x="429768" y="1143000"/>
            <a:ext cx="8284464" cy="256032"/>
          </a:xfrm>
          <a:prstGeom prst="rect">
            <a:avLst/>
          </a:prstGeom>
          <a:noFill/>
          <a:ln/>
        </p:spPr>
        <p:txBody>
          <a:bodyPr wrap="square" lIns="0" tIns="0" rIns="0" bIns="0" rtlCol="0" anchor="ctr"/>
          <a:lstStyle/>
          <a:p>
            <a:pPr algn="l" indent="0" marL="0">
              <a:buNone/>
            </a:pPr>
            <a:r>
              <a:rPr lang="en-US" sz="1100" b="1" dirty="0">
                <a:solidFill>
                  <a:srgbClr val="64748B"/>
                </a:solidFill>
              </a:rPr>
              <a:t>Dépôt de configuration (Git)</a:t>
            </a:r>
            <a:endParaRPr lang="en-US" sz="1100" dirty="0"/>
          </a:p>
        </p:txBody>
      </p:sp>
      <p:sp>
        <p:nvSpPr>
          <p:cNvPr id="8" name="Noeud overlays/dev"/>
          <p:cNvSpPr txBox="1"/>
          <p:nvPr/>
        </p:nvSpPr>
        <p:spPr>
          <a:xfrm>
            <a:off x="457200" y="1554480"/>
            <a:ext cx="2377440" cy="731520"/>
          </a:xfrm>
          <a:prstGeom prst="roundRect">
            <a:avLst>
              <a:gd name="adj" fmla="val 10000"/>
            </a:avLst>
          </a:prstGeom>
          <a:solidFill>
            <a:srgbClr val="0D9488"/>
          </a:solidFill>
          <a:ln/>
        </p:spPr>
        <p:txBody>
          <a:bodyPr wrap="square" lIns="508" tIns="508" rIns="508" bIns="508" rtlCol="0" anchor="ctr"/>
          <a:lstStyle/>
          <a:p>
            <a:pPr algn="ctr" indent="0" marL="0">
              <a:buNone/>
            </a:pPr>
            <a:r>
              <a:rPr lang="en-US" sz="1400" b="1" dirty="0">
                <a:solidFill>
                  <a:srgbClr val="FFFFFF"/>
                </a:solidFill>
              </a:rPr>
              <a:t>overlays/dev</a:t>
            </a:r>
            <a:endParaRPr lang="en-US" sz="1400" dirty="0"/>
          </a:p>
        </p:txBody>
      </p:sp>
      <p:sp>
        <p:nvSpPr>
          <p:cNvPr id="9" name="Flèche"/>
          <p:cNvSpPr/>
          <p:nvPr/>
        </p:nvSpPr>
        <p:spPr>
          <a:xfrm>
            <a:off x="2834640" y="1920240"/>
            <a:ext cx="548640" cy="0"/>
          </a:xfrm>
          <a:prstGeom prst="line">
            <a:avLst/>
          </a:prstGeom>
          <a:noFill/>
          <a:ln w="22225">
            <a:solidFill>
              <a:srgbClr val="64748B"/>
            </a:solidFill>
            <a:prstDash val="solid"/>
            <a:tailEnd type="triangle"/>
          </a:ln>
        </p:spPr>
      </p:sp>
      <p:sp>
        <p:nvSpPr>
          <p:cNvPr id="10" name="Text 7"/>
          <p:cNvSpPr txBox="1"/>
          <p:nvPr/>
        </p:nvSpPr>
        <p:spPr>
          <a:xfrm>
            <a:off x="2971800" y="1600200"/>
            <a:ext cx="320040" cy="256032"/>
          </a:xfrm>
          <a:prstGeom prst="rect">
            <a:avLst/>
          </a:prstGeom>
          <a:noFill/>
          <a:ln/>
        </p:spPr>
        <p:txBody>
          <a:bodyPr wrap="square" lIns="0" tIns="0" rIns="0" bIns="0" rtlCol="0" anchor="ctr"/>
          <a:lstStyle/>
          <a:p>
            <a:pPr algn="ctr" indent="0" marL="0">
              <a:buNone/>
            </a:pPr>
            <a:r>
              <a:rPr lang="en-US" sz="1000" i="1" dirty="0">
                <a:solidFill>
                  <a:srgbClr val="64748B"/>
                </a:solidFill>
              </a:rPr>
              <a:t>PR</a:t>
            </a:r>
            <a:endParaRPr lang="en-US" sz="1000" dirty="0"/>
          </a:p>
        </p:txBody>
      </p:sp>
      <p:sp>
        <p:nvSpPr>
          <p:cNvPr id="11" name="Noeud Cluster dev"/>
          <p:cNvSpPr txBox="1"/>
          <p:nvPr/>
        </p:nvSpPr>
        <p:spPr>
          <a:xfrm>
            <a:off x="457200" y="3200400"/>
            <a:ext cx="2377440" cy="731520"/>
          </a:xfrm>
          <a:prstGeom prst="roundRect">
            <a:avLst>
              <a:gd name="adj" fmla="val 10000"/>
            </a:avLst>
          </a:prstGeom>
          <a:solidFill>
            <a:srgbClr val="0F172A"/>
          </a:solidFill>
          <a:ln/>
        </p:spPr>
        <p:txBody>
          <a:bodyPr wrap="square" lIns="508" tIns="508" rIns="508" bIns="508" rtlCol="0" anchor="ctr"/>
          <a:lstStyle/>
          <a:p>
            <a:pPr algn="ctr" indent="0" marL="0">
              <a:buNone/>
            </a:pPr>
            <a:r>
              <a:rPr lang="en-US" sz="1400" b="1" dirty="0">
                <a:solidFill>
                  <a:srgbClr val="FFFFFF"/>
                </a:solidFill>
              </a:rPr>
              <a:t>Cluster dev</a:t>
            </a:r>
            <a:endParaRPr lang="en-US" sz="1400" dirty="0"/>
          </a:p>
        </p:txBody>
      </p:sp>
      <p:sp>
        <p:nvSpPr>
          <p:cNvPr id="12" name="Flèche"/>
          <p:cNvSpPr/>
          <p:nvPr/>
        </p:nvSpPr>
        <p:spPr>
          <a:xfrm>
            <a:off x="1645920" y="2286000"/>
            <a:ext cx="0" cy="914400"/>
          </a:xfrm>
          <a:prstGeom prst="line">
            <a:avLst/>
          </a:prstGeom>
          <a:noFill/>
          <a:ln w="22225">
            <a:solidFill>
              <a:srgbClr val="64748B"/>
            </a:solidFill>
            <a:prstDash val="solid"/>
            <a:tailEnd type="triangle"/>
          </a:ln>
        </p:spPr>
      </p:sp>
      <p:sp>
        <p:nvSpPr>
          <p:cNvPr id="13" name="Text 10"/>
          <p:cNvSpPr txBox="1"/>
          <p:nvPr/>
        </p:nvSpPr>
        <p:spPr>
          <a:xfrm>
            <a:off x="1737360" y="2606040"/>
            <a:ext cx="1554480" cy="256032"/>
          </a:xfrm>
          <a:prstGeom prst="rect">
            <a:avLst/>
          </a:prstGeom>
          <a:noFill/>
          <a:ln/>
        </p:spPr>
        <p:txBody>
          <a:bodyPr wrap="square" lIns="0" tIns="0" rIns="0" bIns="0" rtlCol="0" anchor="ctr"/>
          <a:lstStyle/>
          <a:p>
            <a:pPr algn="l" indent="0" marL="0">
              <a:buNone/>
            </a:pPr>
            <a:r>
              <a:rPr lang="en-US" sz="1000" i="1" dirty="0">
                <a:solidFill>
                  <a:srgbClr val="64748B"/>
                </a:solidFill>
              </a:rPr>
              <a:t>sync automatique</a:t>
            </a:r>
            <a:endParaRPr lang="en-US" sz="1000" dirty="0"/>
          </a:p>
        </p:txBody>
      </p:sp>
      <p:sp>
        <p:nvSpPr>
          <p:cNvPr id="14" name="Noeud overlays/staging"/>
          <p:cNvSpPr txBox="1"/>
          <p:nvPr/>
        </p:nvSpPr>
        <p:spPr>
          <a:xfrm>
            <a:off x="3383280" y="1554480"/>
            <a:ext cx="2377440" cy="731520"/>
          </a:xfrm>
          <a:prstGeom prst="roundRect">
            <a:avLst>
              <a:gd name="adj" fmla="val 10000"/>
            </a:avLst>
          </a:prstGeom>
          <a:solidFill>
            <a:srgbClr val="0EA5E9"/>
          </a:solidFill>
          <a:ln/>
        </p:spPr>
        <p:txBody>
          <a:bodyPr wrap="square" lIns="508" tIns="508" rIns="508" bIns="508" rtlCol="0" anchor="ctr"/>
          <a:lstStyle/>
          <a:p>
            <a:pPr algn="ctr" indent="0" marL="0">
              <a:buNone/>
            </a:pPr>
            <a:r>
              <a:rPr lang="en-US" sz="1400" b="1" dirty="0">
                <a:solidFill>
                  <a:srgbClr val="FFFFFF"/>
                </a:solidFill>
              </a:rPr>
              <a:t>overlays/staging</a:t>
            </a:r>
            <a:endParaRPr lang="en-US" sz="1400" dirty="0"/>
          </a:p>
        </p:txBody>
      </p:sp>
      <p:sp>
        <p:nvSpPr>
          <p:cNvPr id="15" name="Flèche"/>
          <p:cNvSpPr/>
          <p:nvPr/>
        </p:nvSpPr>
        <p:spPr>
          <a:xfrm>
            <a:off x="5760720" y="1920240"/>
            <a:ext cx="548640" cy="0"/>
          </a:xfrm>
          <a:prstGeom prst="line">
            <a:avLst/>
          </a:prstGeom>
          <a:noFill/>
          <a:ln w="22225">
            <a:solidFill>
              <a:srgbClr val="64748B"/>
            </a:solidFill>
            <a:prstDash val="solid"/>
            <a:tailEnd type="triangle"/>
          </a:ln>
        </p:spPr>
      </p:sp>
      <p:sp>
        <p:nvSpPr>
          <p:cNvPr id="16" name="Text 13"/>
          <p:cNvSpPr txBox="1"/>
          <p:nvPr/>
        </p:nvSpPr>
        <p:spPr>
          <a:xfrm>
            <a:off x="5897880" y="1600200"/>
            <a:ext cx="320040" cy="256032"/>
          </a:xfrm>
          <a:prstGeom prst="rect">
            <a:avLst/>
          </a:prstGeom>
          <a:noFill/>
          <a:ln/>
        </p:spPr>
        <p:txBody>
          <a:bodyPr wrap="square" lIns="0" tIns="0" rIns="0" bIns="0" rtlCol="0" anchor="ctr"/>
          <a:lstStyle/>
          <a:p>
            <a:pPr algn="ctr" indent="0" marL="0">
              <a:buNone/>
            </a:pPr>
            <a:r>
              <a:rPr lang="en-US" sz="1000" i="1" dirty="0">
                <a:solidFill>
                  <a:srgbClr val="64748B"/>
                </a:solidFill>
              </a:rPr>
              <a:t>PR</a:t>
            </a:r>
            <a:endParaRPr lang="en-US" sz="1000" dirty="0"/>
          </a:p>
        </p:txBody>
      </p:sp>
      <p:sp>
        <p:nvSpPr>
          <p:cNvPr id="17" name="Noeud Cluster staging"/>
          <p:cNvSpPr txBox="1"/>
          <p:nvPr/>
        </p:nvSpPr>
        <p:spPr>
          <a:xfrm>
            <a:off x="3383280" y="3200400"/>
            <a:ext cx="2377440" cy="731520"/>
          </a:xfrm>
          <a:prstGeom prst="roundRect">
            <a:avLst>
              <a:gd name="adj" fmla="val 10000"/>
            </a:avLst>
          </a:prstGeom>
          <a:solidFill>
            <a:srgbClr val="0F172A"/>
          </a:solidFill>
          <a:ln/>
        </p:spPr>
        <p:txBody>
          <a:bodyPr wrap="square" lIns="508" tIns="508" rIns="508" bIns="508" rtlCol="0" anchor="ctr"/>
          <a:lstStyle/>
          <a:p>
            <a:pPr algn="ctr" indent="0" marL="0">
              <a:buNone/>
            </a:pPr>
            <a:r>
              <a:rPr lang="en-US" sz="1400" b="1" dirty="0">
                <a:solidFill>
                  <a:srgbClr val="FFFFFF"/>
                </a:solidFill>
              </a:rPr>
              <a:t>Cluster staging</a:t>
            </a:r>
            <a:endParaRPr lang="en-US" sz="1400" dirty="0"/>
          </a:p>
        </p:txBody>
      </p:sp>
      <p:sp>
        <p:nvSpPr>
          <p:cNvPr id="18" name="Flèche"/>
          <p:cNvSpPr/>
          <p:nvPr/>
        </p:nvSpPr>
        <p:spPr>
          <a:xfrm>
            <a:off x="4572000" y="2286000"/>
            <a:ext cx="0" cy="914400"/>
          </a:xfrm>
          <a:prstGeom prst="line">
            <a:avLst/>
          </a:prstGeom>
          <a:noFill/>
          <a:ln w="22225">
            <a:solidFill>
              <a:srgbClr val="64748B"/>
            </a:solidFill>
            <a:prstDash val="solid"/>
            <a:tailEnd type="triangle"/>
          </a:ln>
        </p:spPr>
      </p:sp>
      <p:sp>
        <p:nvSpPr>
          <p:cNvPr id="19" name="Text 16"/>
          <p:cNvSpPr txBox="1"/>
          <p:nvPr/>
        </p:nvSpPr>
        <p:spPr>
          <a:xfrm>
            <a:off x="4663440" y="2606040"/>
            <a:ext cx="1554480" cy="256032"/>
          </a:xfrm>
          <a:prstGeom prst="rect">
            <a:avLst/>
          </a:prstGeom>
          <a:noFill/>
          <a:ln/>
        </p:spPr>
        <p:txBody>
          <a:bodyPr wrap="square" lIns="0" tIns="0" rIns="0" bIns="0" rtlCol="0" anchor="ctr"/>
          <a:lstStyle/>
          <a:p>
            <a:pPr algn="l" indent="0" marL="0">
              <a:buNone/>
            </a:pPr>
            <a:r>
              <a:rPr lang="en-US" sz="1000" i="1" dirty="0">
                <a:solidFill>
                  <a:srgbClr val="64748B"/>
                </a:solidFill>
              </a:rPr>
              <a:t>sync automatique</a:t>
            </a:r>
            <a:endParaRPr lang="en-US" sz="1000" dirty="0"/>
          </a:p>
        </p:txBody>
      </p:sp>
      <p:sp>
        <p:nvSpPr>
          <p:cNvPr id="20" name="Noeud overlays/prod"/>
          <p:cNvSpPr txBox="1"/>
          <p:nvPr/>
        </p:nvSpPr>
        <p:spPr>
          <a:xfrm>
            <a:off x="6309360" y="1554480"/>
            <a:ext cx="2377440" cy="731520"/>
          </a:xfrm>
          <a:prstGeom prst="roundRect">
            <a:avLst>
              <a:gd name="adj" fmla="val 10000"/>
            </a:avLst>
          </a:prstGeom>
          <a:solidFill>
            <a:srgbClr val="F97316"/>
          </a:solidFill>
          <a:ln/>
        </p:spPr>
        <p:txBody>
          <a:bodyPr wrap="square" lIns="508" tIns="508" rIns="508" bIns="508" rtlCol="0" anchor="ctr"/>
          <a:lstStyle/>
          <a:p>
            <a:pPr algn="ctr" indent="0" marL="0">
              <a:buNone/>
            </a:pPr>
            <a:r>
              <a:rPr lang="en-US" sz="1400" b="1" dirty="0">
                <a:solidFill>
                  <a:srgbClr val="FFFFFF"/>
                </a:solidFill>
              </a:rPr>
              <a:t>overlays/prod</a:t>
            </a:r>
            <a:endParaRPr lang="en-US" sz="1400" dirty="0"/>
          </a:p>
        </p:txBody>
      </p:sp>
      <p:sp>
        <p:nvSpPr>
          <p:cNvPr id="21" name="Noeud Cluster prod"/>
          <p:cNvSpPr txBox="1"/>
          <p:nvPr/>
        </p:nvSpPr>
        <p:spPr>
          <a:xfrm>
            <a:off x="6309360" y="3200400"/>
            <a:ext cx="2377440" cy="731520"/>
          </a:xfrm>
          <a:prstGeom prst="roundRect">
            <a:avLst>
              <a:gd name="adj" fmla="val 10000"/>
            </a:avLst>
          </a:prstGeom>
          <a:solidFill>
            <a:srgbClr val="0F172A"/>
          </a:solidFill>
          <a:ln/>
        </p:spPr>
        <p:txBody>
          <a:bodyPr wrap="square" lIns="508" tIns="508" rIns="508" bIns="508" rtlCol="0" anchor="ctr"/>
          <a:lstStyle/>
          <a:p>
            <a:pPr algn="ctr" indent="0" marL="0">
              <a:buNone/>
            </a:pPr>
            <a:r>
              <a:rPr lang="en-US" sz="1400" b="1" dirty="0">
                <a:solidFill>
                  <a:srgbClr val="FFFFFF"/>
                </a:solidFill>
              </a:rPr>
              <a:t>Cluster prod</a:t>
            </a:r>
            <a:endParaRPr lang="en-US" sz="1400" dirty="0"/>
          </a:p>
        </p:txBody>
      </p:sp>
      <p:sp>
        <p:nvSpPr>
          <p:cNvPr id="22" name="Flèche"/>
          <p:cNvSpPr/>
          <p:nvPr/>
        </p:nvSpPr>
        <p:spPr>
          <a:xfrm>
            <a:off x="7498080" y="2286000"/>
            <a:ext cx="0" cy="914400"/>
          </a:xfrm>
          <a:prstGeom prst="line">
            <a:avLst/>
          </a:prstGeom>
          <a:noFill/>
          <a:ln w="22225">
            <a:solidFill>
              <a:srgbClr val="64748B"/>
            </a:solidFill>
            <a:prstDash val="solid"/>
            <a:tailEnd type="triangle"/>
          </a:ln>
        </p:spPr>
      </p:sp>
      <p:sp>
        <p:nvSpPr>
          <p:cNvPr id="23" name="Text 20"/>
          <p:cNvSpPr txBox="1"/>
          <p:nvPr/>
        </p:nvSpPr>
        <p:spPr>
          <a:xfrm>
            <a:off x="7589520" y="2606040"/>
            <a:ext cx="1554480" cy="256032"/>
          </a:xfrm>
          <a:prstGeom prst="rect">
            <a:avLst/>
          </a:prstGeom>
          <a:noFill/>
          <a:ln/>
        </p:spPr>
        <p:txBody>
          <a:bodyPr wrap="square" lIns="0" tIns="0" rIns="0" bIns="0" rtlCol="0" anchor="ctr"/>
          <a:lstStyle/>
          <a:p>
            <a:pPr algn="l" indent="0" marL="0">
              <a:buNone/>
            </a:pPr>
            <a:r>
              <a:rPr lang="en-US" sz="1000" i="1" dirty="0">
                <a:solidFill>
                  <a:srgbClr val="64748B"/>
                </a:solidFill>
              </a:rPr>
              <a:t>sync après approbation</a:t>
            </a:r>
            <a:endParaRPr lang="en-US" sz="1000" dirty="0"/>
          </a:p>
        </p:txBody>
      </p:sp>
      <p:sp>
        <p:nvSpPr>
          <p:cNvPr id="24" name="Text 21"/>
          <p:cNvSpPr txBox="1"/>
          <p:nvPr/>
        </p:nvSpPr>
        <p:spPr>
          <a:xfrm>
            <a:off x="457200" y="4114800"/>
            <a:ext cx="8229600" cy="457200"/>
          </a:xfrm>
          <a:prstGeom prst="rect">
            <a:avLst/>
          </a:prstGeom>
          <a:noFill/>
          <a:ln/>
        </p:spPr>
        <p:txBody>
          <a:bodyPr wrap="square" lIns="0" tIns="0" rIns="0" bIns="0" rtlCol="0" anchor="ctr"/>
          <a:lstStyle/>
          <a:p>
            <a:pPr algn="ctr" indent="0" marL="0">
              <a:buNone/>
            </a:pPr>
            <a:r>
              <a:rPr lang="en-US" sz="1400" dirty="0">
                <a:solidFill>
                  <a:srgbClr val="1E293B"/>
                </a:solidFill>
              </a:rPr>
              <a:t>Promouvoir = ouvrir une pull request qui change le tag d'image ou les valeurs du dossier suivant.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Le workflow GitOps complet</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Étape"/>
          <p:cNvSpPr/>
          <p:nvPr/>
        </p:nvSpPr>
        <p:spPr>
          <a:xfrm>
            <a:off x="457200" y="1371600"/>
            <a:ext cx="1234440" cy="731520"/>
          </a:xfrm>
          <a:prstGeom prst="roundRect">
            <a:avLst>
              <a:gd name="adj" fmla="val 10000"/>
            </a:avLst>
          </a:prstGeom>
          <a:solidFill>
            <a:srgbClr val="7C3AED"/>
          </a:solidFill>
          <a:ln/>
        </p:spPr>
      </p:sp>
      <p:sp>
        <p:nvSpPr>
          <p:cNvPr id="7" name="Text 4"/>
          <p:cNvSpPr txBox="1"/>
          <p:nvPr/>
        </p:nvSpPr>
        <p:spPr>
          <a:xfrm>
            <a:off x="457200" y="1371600"/>
            <a:ext cx="1234440" cy="731520"/>
          </a:xfrm>
          <a:prstGeom prst="rect">
            <a:avLst/>
          </a:prstGeom>
          <a:noFill/>
          <a:ln/>
        </p:spPr>
        <p:txBody>
          <a:bodyPr wrap="square" lIns="508" tIns="508" rIns="508" bIns="508" rtlCol="0" anchor="ctr"/>
          <a:lstStyle/>
          <a:p>
            <a:pPr algn="ctr" indent="0" marL="0">
              <a:buNone/>
            </a:pPr>
            <a:r>
              <a:rPr lang="en-US" sz="1300" b="1" dirty="0">
                <a:solidFill>
                  <a:srgbClr val="FFFFFF"/>
                </a:solidFill>
              </a:rPr>
              <a:t>1 · Branche</a:t>
            </a:r>
            <a:endParaRPr lang="en-US" sz="1300" dirty="0"/>
          </a:p>
        </p:txBody>
      </p:sp>
      <p:sp>
        <p:nvSpPr>
          <p:cNvPr id="8" name="Text 5"/>
          <p:cNvSpPr txBox="1"/>
          <p:nvPr/>
        </p:nvSpPr>
        <p:spPr>
          <a:xfrm>
            <a:off x="1673352" y="137160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9" name="Étape"/>
          <p:cNvSpPr/>
          <p:nvPr/>
        </p:nvSpPr>
        <p:spPr>
          <a:xfrm>
            <a:off x="1856232" y="1371600"/>
            <a:ext cx="1234440" cy="731520"/>
          </a:xfrm>
          <a:prstGeom prst="roundRect">
            <a:avLst>
              <a:gd name="adj" fmla="val 10000"/>
            </a:avLst>
          </a:prstGeom>
          <a:solidFill>
            <a:srgbClr val="7C3AED"/>
          </a:solidFill>
          <a:ln/>
        </p:spPr>
      </p:sp>
      <p:sp>
        <p:nvSpPr>
          <p:cNvPr id="10" name="Text 7"/>
          <p:cNvSpPr txBox="1"/>
          <p:nvPr/>
        </p:nvSpPr>
        <p:spPr>
          <a:xfrm>
            <a:off x="1856232" y="1371600"/>
            <a:ext cx="1234440" cy="731520"/>
          </a:xfrm>
          <a:prstGeom prst="rect">
            <a:avLst/>
          </a:prstGeom>
          <a:noFill/>
          <a:ln/>
        </p:spPr>
        <p:txBody>
          <a:bodyPr wrap="square" lIns="508" tIns="508" rIns="508" bIns="508" rtlCol="0" anchor="ctr"/>
          <a:lstStyle/>
          <a:p>
            <a:pPr algn="ctr" indent="0" marL="0">
              <a:buNone/>
            </a:pPr>
            <a:r>
              <a:rPr lang="en-US" sz="1300" b="1" dirty="0">
                <a:solidFill>
                  <a:srgbClr val="FFFFFF"/>
                </a:solidFill>
              </a:rPr>
              <a:t>2 · Pull Request</a:t>
            </a:r>
            <a:endParaRPr lang="en-US" sz="1300" dirty="0"/>
          </a:p>
        </p:txBody>
      </p:sp>
      <p:sp>
        <p:nvSpPr>
          <p:cNvPr id="11" name="Text 8"/>
          <p:cNvSpPr txBox="1"/>
          <p:nvPr/>
        </p:nvSpPr>
        <p:spPr>
          <a:xfrm>
            <a:off x="3072384" y="137160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2" name="Étape"/>
          <p:cNvSpPr/>
          <p:nvPr/>
        </p:nvSpPr>
        <p:spPr>
          <a:xfrm>
            <a:off x="3255264" y="1371600"/>
            <a:ext cx="1234440" cy="731520"/>
          </a:xfrm>
          <a:prstGeom prst="roundRect">
            <a:avLst>
              <a:gd name="adj" fmla="val 10000"/>
            </a:avLst>
          </a:prstGeom>
          <a:solidFill>
            <a:srgbClr val="7C3AED"/>
          </a:solidFill>
          <a:ln/>
        </p:spPr>
      </p:sp>
      <p:sp>
        <p:nvSpPr>
          <p:cNvPr id="13" name="Text 10"/>
          <p:cNvSpPr txBox="1"/>
          <p:nvPr/>
        </p:nvSpPr>
        <p:spPr>
          <a:xfrm>
            <a:off x="3255264" y="1371600"/>
            <a:ext cx="1234440" cy="731520"/>
          </a:xfrm>
          <a:prstGeom prst="rect">
            <a:avLst/>
          </a:prstGeom>
          <a:noFill/>
          <a:ln/>
        </p:spPr>
        <p:txBody>
          <a:bodyPr wrap="square" lIns="508" tIns="508" rIns="508" bIns="508" rtlCol="0" anchor="ctr"/>
          <a:lstStyle/>
          <a:p>
            <a:pPr algn="ctr" indent="0" marL="0">
              <a:buNone/>
            </a:pPr>
            <a:r>
              <a:rPr lang="en-US" sz="1300" b="1" dirty="0">
                <a:solidFill>
                  <a:srgbClr val="FFFFFF"/>
                </a:solidFill>
              </a:rPr>
              <a:t>3 · Revue + CI</a:t>
            </a:r>
            <a:endParaRPr lang="en-US" sz="1300" dirty="0"/>
          </a:p>
        </p:txBody>
      </p:sp>
      <p:sp>
        <p:nvSpPr>
          <p:cNvPr id="14" name="Text 11"/>
          <p:cNvSpPr txBox="1"/>
          <p:nvPr/>
        </p:nvSpPr>
        <p:spPr>
          <a:xfrm>
            <a:off x="4471416" y="137160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5" name="Étape"/>
          <p:cNvSpPr/>
          <p:nvPr/>
        </p:nvSpPr>
        <p:spPr>
          <a:xfrm>
            <a:off x="4654296" y="1371600"/>
            <a:ext cx="1234440" cy="731520"/>
          </a:xfrm>
          <a:prstGeom prst="roundRect">
            <a:avLst>
              <a:gd name="adj" fmla="val 10000"/>
            </a:avLst>
          </a:prstGeom>
          <a:solidFill>
            <a:srgbClr val="7C3AED"/>
          </a:solidFill>
          <a:ln/>
        </p:spPr>
      </p:sp>
      <p:sp>
        <p:nvSpPr>
          <p:cNvPr id="16" name="Text 13"/>
          <p:cNvSpPr txBox="1"/>
          <p:nvPr/>
        </p:nvSpPr>
        <p:spPr>
          <a:xfrm>
            <a:off x="4654296" y="1371600"/>
            <a:ext cx="1234440" cy="731520"/>
          </a:xfrm>
          <a:prstGeom prst="rect">
            <a:avLst/>
          </a:prstGeom>
          <a:noFill/>
          <a:ln/>
        </p:spPr>
        <p:txBody>
          <a:bodyPr wrap="square" lIns="508" tIns="508" rIns="508" bIns="508" rtlCol="0" anchor="ctr"/>
          <a:lstStyle/>
          <a:p>
            <a:pPr algn="ctr" indent="0" marL="0">
              <a:buNone/>
            </a:pPr>
            <a:r>
              <a:rPr lang="en-US" sz="1300" b="1" dirty="0">
                <a:solidFill>
                  <a:srgbClr val="FFFFFF"/>
                </a:solidFill>
              </a:rPr>
              <a:t>4 · Merge</a:t>
            </a:r>
            <a:endParaRPr lang="en-US" sz="1300" dirty="0"/>
          </a:p>
        </p:txBody>
      </p:sp>
      <p:sp>
        <p:nvSpPr>
          <p:cNvPr id="17" name="Text 14"/>
          <p:cNvSpPr txBox="1"/>
          <p:nvPr/>
        </p:nvSpPr>
        <p:spPr>
          <a:xfrm>
            <a:off x="5870448" y="137160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8" name="Étape"/>
          <p:cNvSpPr/>
          <p:nvPr/>
        </p:nvSpPr>
        <p:spPr>
          <a:xfrm>
            <a:off x="6053328" y="1371600"/>
            <a:ext cx="1234440" cy="731520"/>
          </a:xfrm>
          <a:prstGeom prst="roundRect">
            <a:avLst>
              <a:gd name="adj" fmla="val 10000"/>
            </a:avLst>
          </a:prstGeom>
          <a:solidFill>
            <a:srgbClr val="7C3AED"/>
          </a:solidFill>
          <a:ln/>
        </p:spPr>
      </p:sp>
      <p:sp>
        <p:nvSpPr>
          <p:cNvPr id="19" name="Text 16"/>
          <p:cNvSpPr txBox="1"/>
          <p:nvPr/>
        </p:nvSpPr>
        <p:spPr>
          <a:xfrm>
            <a:off x="6053328" y="1371600"/>
            <a:ext cx="1234440" cy="731520"/>
          </a:xfrm>
          <a:prstGeom prst="rect">
            <a:avLst/>
          </a:prstGeom>
          <a:noFill/>
          <a:ln/>
        </p:spPr>
        <p:txBody>
          <a:bodyPr wrap="square" lIns="508" tIns="508" rIns="508" bIns="508" rtlCol="0" anchor="ctr"/>
          <a:lstStyle/>
          <a:p>
            <a:pPr algn="ctr" indent="0" marL="0">
              <a:buNone/>
            </a:pPr>
            <a:r>
              <a:rPr lang="en-US" sz="1300" b="1" dirty="0">
                <a:solidFill>
                  <a:srgbClr val="FFFFFF"/>
                </a:solidFill>
              </a:rPr>
              <a:t>5 · Sync</a:t>
            </a:r>
            <a:endParaRPr lang="en-US" sz="1300" dirty="0"/>
          </a:p>
        </p:txBody>
      </p:sp>
      <p:sp>
        <p:nvSpPr>
          <p:cNvPr id="20" name="Text 17"/>
          <p:cNvSpPr txBox="1"/>
          <p:nvPr/>
        </p:nvSpPr>
        <p:spPr>
          <a:xfrm>
            <a:off x="7269480" y="137160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21" name="Étape"/>
          <p:cNvSpPr/>
          <p:nvPr/>
        </p:nvSpPr>
        <p:spPr>
          <a:xfrm>
            <a:off x="7452360" y="1371600"/>
            <a:ext cx="1234440" cy="731520"/>
          </a:xfrm>
          <a:prstGeom prst="roundRect">
            <a:avLst>
              <a:gd name="adj" fmla="val 10000"/>
            </a:avLst>
          </a:prstGeom>
          <a:solidFill>
            <a:srgbClr val="7C3AED"/>
          </a:solidFill>
          <a:ln/>
        </p:spPr>
      </p:sp>
      <p:sp>
        <p:nvSpPr>
          <p:cNvPr id="22" name="Text 19"/>
          <p:cNvSpPr txBox="1"/>
          <p:nvPr/>
        </p:nvSpPr>
        <p:spPr>
          <a:xfrm>
            <a:off x="7452360" y="1371600"/>
            <a:ext cx="1234440" cy="731520"/>
          </a:xfrm>
          <a:prstGeom prst="rect">
            <a:avLst/>
          </a:prstGeom>
          <a:noFill/>
          <a:ln/>
        </p:spPr>
        <p:txBody>
          <a:bodyPr wrap="square" lIns="508" tIns="508" rIns="508" bIns="508" rtlCol="0" anchor="ctr"/>
          <a:lstStyle/>
          <a:p>
            <a:pPr algn="ctr" indent="0" marL="0">
              <a:buNone/>
            </a:pPr>
            <a:r>
              <a:rPr lang="en-US" sz="1300" b="1" dirty="0">
                <a:solidFill>
                  <a:srgbClr val="FFFFFF"/>
                </a:solidFill>
              </a:rPr>
              <a:t>6 · Vérif.</a:t>
            </a:r>
            <a:endParaRPr lang="en-US" sz="1300" dirty="0"/>
          </a:p>
        </p:txBody>
      </p:sp>
      <p:sp>
        <p:nvSpPr>
          <p:cNvPr id="23" name="Text 20"/>
          <p:cNvSpPr txBox="1"/>
          <p:nvPr/>
        </p:nvSpPr>
        <p:spPr>
          <a:xfrm>
            <a:off x="457200" y="2240280"/>
            <a:ext cx="1280160" cy="731520"/>
          </a:xfrm>
          <a:prstGeom prst="rect">
            <a:avLst/>
          </a:prstGeom>
          <a:noFill/>
          <a:ln/>
        </p:spPr>
        <p:txBody>
          <a:bodyPr wrap="square" lIns="0" tIns="0" rIns="0" bIns="0" rtlCol="0" anchor="t"/>
          <a:lstStyle/>
          <a:p>
            <a:pPr algn="ctr" indent="0" marL="0">
              <a:buNone/>
            </a:pPr>
            <a:r>
              <a:rPr lang="en-US" sz="1300" dirty="0">
                <a:solidFill>
                  <a:srgbClr val="1E293B"/>
                </a:solidFill>
              </a:rPr>
              <a:t>Modifier le YAML</a:t>
            </a:r>
            <a:endParaRPr lang="en-US" sz="1300" dirty="0"/>
          </a:p>
        </p:txBody>
      </p:sp>
      <p:sp>
        <p:nvSpPr>
          <p:cNvPr id="24" name="Text 21"/>
          <p:cNvSpPr txBox="1"/>
          <p:nvPr/>
        </p:nvSpPr>
        <p:spPr>
          <a:xfrm>
            <a:off x="1828800" y="2240280"/>
            <a:ext cx="1280160" cy="731520"/>
          </a:xfrm>
          <a:prstGeom prst="rect">
            <a:avLst/>
          </a:prstGeom>
          <a:noFill/>
          <a:ln/>
        </p:spPr>
        <p:txBody>
          <a:bodyPr wrap="square" lIns="0" tIns="0" rIns="0" bIns="0" rtlCol="0" anchor="t"/>
          <a:lstStyle/>
          <a:p>
            <a:pPr algn="ctr" indent="0" marL="0">
              <a:buNone/>
            </a:pPr>
            <a:r>
              <a:rPr lang="en-US" sz="1300" dirty="0">
                <a:solidFill>
                  <a:srgbClr val="1E293B"/>
                </a:solidFill>
              </a:rPr>
              <a:t>Proposer le changement</a:t>
            </a:r>
            <a:endParaRPr lang="en-US" sz="1300" dirty="0"/>
          </a:p>
        </p:txBody>
      </p:sp>
      <p:sp>
        <p:nvSpPr>
          <p:cNvPr id="25" name="Text 22"/>
          <p:cNvSpPr txBox="1"/>
          <p:nvPr/>
        </p:nvSpPr>
        <p:spPr>
          <a:xfrm>
            <a:off x="3200400" y="2240280"/>
            <a:ext cx="1280160" cy="731520"/>
          </a:xfrm>
          <a:prstGeom prst="rect">
            <a:avLst/>
          </a:prstGeom>
          <a:noFill/>
          <a:ln/>
        </p:spPr>
        <p:txBody>
          <a:bodyPr wrap="square" lIns="0" tIns="0" rIns="0" bIns="0" rtlCol="0" anchor="t"/>
          <a:lstStyle/>
          <a:p>
            <a:pPr algn="ctr" indent="0" marL="0">
              <a:buNone/>
            </a:pPr>
            <a:r>
              <a:rPr lang="en-US" sz="1300" dirty="0">
                <a:solidFill>
                  <a:srgbClr val="1E293B"/>
                </a:solidFill>
              </a:rPr>
              <a:t>Tests, policies, approbation</a:t>
            </a:r>
            <a:endParaRPr lang="en-US" sz="1300" dirty="0"/>
          </a:p>
        </p:txBody>
      </p:sp>
      <p:sp>
        <p:nvSpPr>
          <p:cNvPr id="26" name="Text 23"/>
          <p:cNvSpPr txBox="1"/>
          <p:nvPr/>
        </p:nvSpPr>
        <p:spPr>
          <a:xfrm>
            <a:off x="4572000" y="2240280"/>
            <a:ext cx="1280160" cy="731520"/>
          </a:xfrm>
          <a:prstGeom prst="rect">
            <a:avLst/>
          </a:prstGeom>
          <a:noFill/>
          <a:ln/>
        </p:spPr>
        <p:txBody>
          <a:bodyPr wrap="square" lIns="0" tIns="0" rIns="0" bIns="0" rtlCol="0" anchor="t"/>
          <a:lstStyle/>
          <a:p>
            <a:pPr algn="ctr" indent="0" marL="0">
              <a:buNone/>
            </a:pPr>
            <a:r>
              <a:rPr lang="en-US" sz="1300" dirty="0">
                <a:solidFill>
                  <a:srgbClr val="1E293B"/>
                </a:solidFill>
              </a:rPr>
              <a:t>Fusion sur main</a:t>
            </a:r>
            <a:endParaRPr lang="en-US" sz="1300" dirty="0"/>
          </a:p>
        </p:txBody>
      </p:sp>
      <p:sp>
        <p:nvSpPr>
          <p:cNvPr id="27" name="Text 24"/>
          <p:cNvSpPr txBox="1"/>
          <p:nvPr/>
        </p:nvSpPr>
        <p:spPr>
          <a:xfrm>
            <a:off x="5943600" y="2240280"/>
            <a:ext cx="1280160" cy="731520"/>
          </a:xfrm>
          <a:prstGeom prst="rect">
            <a:avLst/>
          </a:prstGeom>
          <a:noFill/>
          <a:ln/>
        </p:spPr>
        <p:txBody>
          <a:bodyPr wrap="square" lIns="0" tIns="0" rIns="0" bIns="0" rtlCol="0" anchor="t"/>
          <a:lstStyle/>
          <a:p>
            <a:pPr algn="ctr" indent="0" marL="0">
              <a:buNone/>
            </a:pPr>
            <a:r>
              <a:rPr lang="en-US" sz="1300" dirty="0">
                <a:solidFill>
                  <a:srgbClr val="1E293B"/>
                </a:solidFill>
              </a:rPr>
              <a:t>L'agent applique</a:t>
            </a:r>
            <a:endParaRPr lang="en-US" sz="1300" dirty="0"/>
          </a:p>
        </p:txBody>
      </p:sp>
      <p:sp>
        <p:nvSpPr>
          <p:cNvPr id="28" name="Text 25"/>
          <p:cNvSpPr txBox="1"/>
          <p:nvPr/>
        </p:nvSpPr>
        <p:spPr>
          <a:xfrm>
            <a:off x="7315200" y="2240280"/>
            <a:ext cx="1280160" cy="731520"/>
          </a:xfrm>
          <a:prstGeom prst="rect">
            <a:avLst/>
          </a:prstGeom>
          <a:noFill/>
          <a:ln/>
        </p:spPr>
        <p:txBody>
          <a:bodyPr wrap="square" lIns="0" tIns="0" rIns="0" bIns="0" rtlCol="0" anchor="t"/>
          <a:lstStyle/>
          <a:p>
            <a:pPr algn="ctr" indent="0" marL="0">
              <a:buNone/>
            </a:pPr>
            <a:r>
              <a:rPr lang="en-US" sz="1300" dirty="0">
                <a:solidFill>
                  <a:srgbClr val="1E293B"/>
                </a:solidFill>
              </a:rPr>
              <a:t>Santé + alertes</a:t>
            </a:r>
            <a:endParaRPr lang="en-US" sz="1300" dirty="0"/>
          </a:p>
        </p:txBody>
      </p:sp>
      <p:sp>
        <p:nvSpPr>
          <p:cNvPr id="29" name="Carte"/>
          <p:cNvSpPr/>
          <p:nvPr/>
        </p:nvSpPr>
        <p:spPr>
          <a:xfrm>
            <a:off x="457200" y="3200400"/>
            <a:ext cx="4023360" cy="1325880"/>
          </a:xfrm>
          <a:prstGeom prst="roundRect">
            <a:avLst>
              <a:gd name="adj" fmla="val 5517"/>
            </a:avLst>
          </a:prstGeom>
          <a:solidFill>
            <a:srgbClr val="EDE9FE"/>
          </a:solidFill>
          <a:ln/>
        </p:spPr>
      </p:sp>
      <p:sp>
        <p:nvSpPr>
          <p:cNvPr id="30" name="Text 27"/>
          <p:cNvSpPr txBox="1"/>
          <p:nvPr/>
        </p:nvSpPr>
        <p:spPr>
          <a:xfrm>
            <a:off x="594360" y="3310128"/>
            <a:ext cx="3749040" cy="365760"/>
          </a:xfrm>
          <a:prstGeom prst="rect">
            <a:avLst/>
          </a:prstGeom>
          <a:noFill/>
          <a:ln/>
        </p:spPr>
        <p:txBody>
          <a:bodyPr wrap="square" lIns="0" tIns="0" rIns="0" bIns="0" rtlCol="0" anchor="ctr"/>
          <a:lstStyle/>
          <a:p>
            <a:pPr indent="0" marL="0">
              <a:buNone/>
            </a:pPr>
            <a:r>
              <a:rPr lang="en-US" sz="1500" b="1" dirty="0">
                <a:solidFill>
                  <a:srgbClr val="0F172A"/>
                </a:solidFill>
              </a:rPr>
              <a:t>Rollback</a:t>
            </a:r>
            <a:endParaRPr lang="en-US" sz="1500" dirty="0"/>
          </a:p>
        </p:txBody>
      </p:sp>
      <p:sp>
        <p:nvSpPr>
          <p:cNvPr id="31" name="Text 28"/>
          <p:cNvSpPr txBox="1"/>
          <p:nvPr/>
        </p:nvSpPr>
        <p:spPr>
          <a:xfrm>
            <a:off x="594360" y="3694176"/>
            <a:ext cx="3749040" cy="758952"/>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git revert → l'agent restaure l'état précédent en quelques secondes.</a:t>
            </a:r>
            <a:endParaRPr lang="en-US" sz="1400" dirty="0"/>
          </a:p>
        </p:txBody>
      </p:sp>
      <p:sp>
        <p:nvSpPr>
          <p:cNvPr id="32" name="Carte"/>
          <p:cNvSpPr/>
          <p:nvPr/>
        </p:nvSpPr>
        <p:spPr>
          <a:xfrm>
            <a:off x="4663440" y="3200400"/>
            <a:ext cx="4023360" cy="1325880"/>
          </a:xfrm>
          <a:prstGeom prst="roundRect">
            <a:avLst>
              <a:gd name="adj" fmla="val 5517"/>
            </a:avLst>
          </a:prstGeom>
          <a:solidFill>
            <a:srgbClr val="EDE9FE"/>
          </a:solidFill>
          <a:ln/>
        </p:spPr>
      </p:sp>
      <p:sp>
        <p:nvSpPr>
          <p:cNvPr id="33" name="Text 30"/>
          <p:cNvSpPr txBox="1"/>
          <p:nvPr/>
        </p:nvSpPr>
        <p:spPr>
          <a:xfrm>
            <a:off x="4800600" y="3310128"/>
            <a:ext cx="3749040" cy="365760"/>
          </a:xfrm>
          <a:prstGeom prst="rect">
            <a:avLst/>
          </a:prstGeom>
          <a:noFill/>
          <a:ln/>
        </p:spPr>
        <p:txBody>
          <a:bodyPr wrap="square" lIns="0" tIns="0" rIns="0" bIns="0" rtlCol="0" anchor="ctr"/>
          <a:lstStyle/>
          <a:p>
            <a:pPr indent="0" marL="0">
              <a:buNone/>
            </a:pPr>
            <a:r>
              <a:rPr lang="en-US" sz="1500" b="1" dirty="0">
                <a:solidFill>
                  <a:srgbClr val="0F172A"/>
                </a:solidFill>
              </a:rPr>
              <a:t>Audit</a:t>
            </a:r>
            <a:endParaRPr lang="en-US" sz="1500" dirty="0"/>
          </a:p>
        </p:txBody>
      </p:sp>
      <p:sp>
        <p:nvSpPr>
          <p:cNvPr id="34" name="Text 31"/>
          <p:cNvSpPr txBox="1"/>
          <p:nvPr/>
        </p:nvSpPr>
        <p:spPr>
          <a:xfrm>
            <a:off x="4800600" y="3694176"/>
            <a:ext cx="3749040" cy="758952"/>
          </a:xfrm>
          <a:prstGeom prst="rect">
            <a:avLst/>
          </a:prstGeom>
          <a:noFill/>
          <a:ln/>
        </p:spPr>
        <p:txBody>
          <a:bodyPr wrap="square" lIns="0" tIns="0" rIns="0" bIns="0" rtlCol="0" anchor="t"/>
          <a:lstStyle/>
          <a:p>
            <a:pPr indent="0" marL="0">
              <a:spcAft>
                <a:spcPts val="300"/>
              </a:spcAft>
              <a:buNone/>
            </a:pPr>
            <a:r>
              <a:rPr lang="en-US" sz="1400" dirty="0">
                <a:solidFill>
                  <a:srgbClr val="1E293B"/>
                </a:solidFill>
              </a:rPr>
              <a:t>git log = qui, quoi, quand, pourquoi. Traçabilité native pour la conformité.</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DevOps classique vs GitOps</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011680"/>
                <a:gridCol w="3108960"/>
                <a:gridCol w="3108960"/>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Aspect</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DevOps / CD classique</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GitOps</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47548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Source de vérité</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Pipeline + scripts</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Git (déclaratif)</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Déploiement</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Push par la CI</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Pull par un agent</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47548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Dérive</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Non détectée</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Détectée et corrigée</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Rollback</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Relancer un pipeline</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git revert</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47548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Accès au cluster</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CI avec identifiants</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Aucun accès externe</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Audit</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Logs du pipeline</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400" dirty="0">
                          <a:solidFill>
                            <a:srgbClr val="1E293B"/>
                          </a:solidFill>
                          <a:latin typeface="Calibri" pitchFamily="34" charset="0"/>
                          <a:ea typeface="Calibri" pitchFamily="34" charset="-122"/>
                          <a:cs typeface="Calibri" pitchFamily="34" charset="-120"/>
                        </a:rPr>
                        <a:t>Historique Git</a:t>
                      </a:r>
                      <a:endParaRPr lang="en-US" sz="14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TP : installer Argo CD et déployer par Git</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Fiche TP"/>
          <p:cNvSpPr/>
          <p:nvPr/>
        </p:nvSpPr>
        <p:spPr>
          <a:xfrm>
            <a:off x="457200" y="1188720"/>
            <a:ext cx="2651760" cy="2743200"/>
          </a:xfrm>
          <a:prstGeom prst="roundRect">
            <a:avLst>
              <a:gd name="adj" fmla="val 2759"/>
            </a:avLst>
          </a:prstGeom>
          <a:solidFill>
            <a:srgbClr val="F1F5F9"/>
          </a:solidFill>
          <a:ln/>
        </p:spPr>
      </p:sp>
      <p:sp>
        <p:nvSpPr>
          <p:cNvPr id="7" name="Text 4"/>
          <p:cNvSpPr txBox="1"/>
          <p:nvPr/>
        </p:nvSpPr>
        <p:spPr>
          <a:xfrm>
            <a:off x="594360" y="1280160"/>
            <a:ext cx="2377440" cy="2560320"/>
          </a:xfrm>
          <a:prstGeom prst="rect">
            <a:avLst/>
          </a:prstGeom>
          <a:noFill/>
          <a:ln/>
        </p:spPr>
        <p:txBody>
          <a:bodyPr wrap="square" lIns="0" tIns="0" rIns="0" bIns="0" rtlCol="0" anchor="t"/>
          <a:lstStyle/>
          <a:p>
            <a:pPr indent="0" marL="0">
              <a:buNone/>
            </a:pPr>
            <a:r>
              <a:rPr lang="en-US" sz="1300" b="1" dirty="0">
                <a:solidFill>
                  <a:srgbClr val="7C3AED"/>
                </a:solidFill>
              </a:rPr>
              <a:t>Durée</a:t>
            </a:r>
            <a:endParaRPr lang="en-US" sz="1300" dirty="0"/>
          </a:p>
          <a:p>
            <a:pPr indent="0" marL="0">
              <a:buNone/>
            </a:pPr>
            <a:r>
              <a:rPr lang="en-US" sz="1300" dirty="0">
                <a:solidFill>
                  <a:srgbClr val="1E293B"/>
                </a:solidFill>
              </a:rPr>
              <a:t>2 h</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7C3AED"/>
                </a:solidFill>
              </a:rPr>
              <a:t>Objectif</a:t>
            </a:r>
            <a:endParaRPr lang="en-US" sz="1300" dirty="0"/>
          </a:p>
          <a:p>
            <a:pPr indent="0" marL="0">
              <a:buNone/>
            </a:pPr>
            <a:r>
              <a:rPr lang="en-US" sz="1300" dirty="0">
                <a:solidFill>
                  <a:srgbClr val="1E293B"/>
                </a:solidFill>
              </a:rPr>
              <a:t>Déployer une application uniquement par commits Git, avec Argo CD.</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7C3AED"/>
                </a:solidFill>
              </a:rPr>
              <a:t>Prérequis</a:t>
            </a:r>
            <a:endParaRPr lang="en-US" sz="1300" dirty="0"/>
          </a:p>
          <a:p>
            <a:pPr indent="0" marL="0">
              <a:buNone/>
            </a:pPr>
            <a:r>
              <a:rPr lang="en-US" sz="1300" dirty="0">
                <a:solidFill>
                  <a:srgbClr val="1E293B"/>
                </a:solidFill>
              </a:rPr>
              <a:t>Cluster kind, kubectl, dépôt Git de configuration (base + overlays).</a:t>
            </a:r>
            <a:endParaRPr lang="en-US" sz="1300" dirty="0"/>
          </a:p>
        </p:txBody>
      </p:sp>
      <p:sp>
        <p:nvSpPr>
          <p:cNvPr id="8" name="Shape 5"/>
          <p:cNvSpPr/>
          <p:nvPr/>
        </p:nvSpPr>
        <p:spPr>
          <a:xfrm>
            <a:off x="3337560" y="1280160"/>
            <a:ext cx="365760" cy="365760"/>
          </a:xfrm>
          <a:prstGeom prst="ellipse">
            <a:avLst/>
          </a:prstGeom>
          <a:solidFill>
            <a:srgbClr val="7C3AED"/>
          </a:solidFill>
          <a:ln/>
        </p:spPr>
      </p:sp>
      <p:sp>
        <p:nvSpPr>
          <p:cNvPr id="9" name="Text 6"/>
          <p:cNvSpPr txBox="1"/>
          <p:nvPr/>
        </p:nvSpPr>
        <p:spPr>
          <a:xfrm>
            <a:off x="3337560" y="1280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7"/>
          <p:cNvSpPr txBox="1"/>
          <p:nvPr/>
        </p:nvSpPr>
        <p:spPr>
          <a:xfrm>
            <a:off x="3840480" y="118872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Installer Argo CD : kubectl create namespace argocd puis kubectl apply -n argocd -f install.yaml</a:t>
            </a:r>
            <a:endParaRPr lang="en-US" sz="1300" dirty="0"/>
          </a:p>
        </p:txBody>
      </p:sp>
      <p:sp>
        <p:nvSpPr>
          <p:cNvPr id="11" name="Shape 8"/>
          <p:cNvSpPr/>
          <p:nvPr/>
        </p:nvSpPr>
        <p:spPr>
          <a:xfrm>
            <a:off x="3337560" y="1828800"/>
            <a:ext cx="365760" cy="365760"/>
          </a:xfrm>
          <a:prstGeom prst="ellipse">
            <a:avLst/>
          </a:prstGeom>
          <a:solidFill>
            <a:srgbClr val="7C3AED"/>
          </a:solidFill>
          <a:ln/>
        </p:spPr>
      </p:sp>
      <p:sp>
        <p:nvSpPr>
          <p:cNvPr id="12" name="Text 9"/>
          <p:cNvSpPr txBox="1"/>
          <p:nvPr/>
        </p:nvSpPr>
        <p:spPr>
          <a:xfrm>
            <a:off x="3337560" y="1828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3840480" y="173736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Accéder à l'interface : kubectl port-forward svc/argocd-server -n argocd 8080:443</a:t>
            </a:r>
            <a:endParaRPr lang="en-US" sz="1300" dirty="0"/>
          </a:p>
        </p:txBody>
      </p:sp>
      <p:sp>
        <p:nvSpPr>
          <p:cNvPr id="14" name="Shape 11"/>
          <p:cNvSpPr/>
          <p:nvPr/>
        </p:nvSpPr>
        <p:spPr>
          <a:xfrm>
            <a:off x="3337560" y="2377440"/>
            <a:ext cx="365760" cy="365760"/>
          </a:xfrm>
          <a:prstGeom prst="ellipse">
            <a:avLst/>
          </a:prstGeom>
          <a:solidFill>
            <a:srgbClr val="7C3AED"/>
          </a:solidFill>
          <a:ln/>
        </p:spPr>
      </p:sp>
      <p:sp>
        <p:nvSpPr>
          <p:cNvPr id="15" name="Text 12"/>
          <p:cNvSpPr txBox="1"/>
          <p:nvPr/>
        </p:nvSpPr>
        <p:spPr>
          <a:xfrm>
            <a:off x="3337560" y="2377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3"/>
          <p:cNvSpPr txBox="1"/>
          <p:nvPr/>
        </p:nvSpPr>
        <p:spPr>
          <a:xfrm>
            <a:off x="3840480" y="228600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Créer une Application pointant sur overlays/dev avec syncPolicy automated</a:t>
            </a:r>
            <a:endParaRPr lang="en-US" sz="1300" dirty="0"/>
          </a:p>
        </p:txBody>
      </p:sp>
      <p:sp>
        <p:nvSpPr>
          <p:cNvPr id="17" name="Shape 14"/>
          <p:cNvSpPr/>
          <p:nvPr/>
        </p:nvSpPr>
        <p:spPr>
          <a:xfrm>
            <a:off x="3337560" y="2926080"/>
            <a:ext cx="365760" cy="365760"/>
          </a:xfrm>
          <a:prstGeom prst="ellipse">
            <a:avLst/>
          </a:prstGeom>
          <a:solidFill>
            <a:srgbClr val="7C3AED"/>
          </a:solidFill>
          <a:ln/>
        </p:spPr>
      </p:sp>
      <p:sp>
        <p:nvSpPr>
          <p:cNvPr id="18" name="Text 15"/>
          <p:cNvSpPr txBox="1"/>
          <p:nvPr/>
        </p:nvSpPr>
        <p:spPr>
          <a:xfrm>
            <a:off x="3337560" y="2926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3840480" y="283464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Modifier replicas dans Git, faire un commit et observer la synchronisation</a:t>
            </a:r>
            <a:endParaRPr lang="en-US" sz="1300" dirty="0"/>
          </a:p>
        </p:txBody>
      </p:sp>
      <p:sp>
        <p:nvSpPr>
          <p:cNvPr id="20" name="Shape 17"/>
          <p:cNvSpPr/>
          <p:nvPr/>
        </p:nvSpPr>
        <p:spPr>
          <a:xfrm>
            <a:off x="3337560" y="3474720"/>
            <a:ext cx="365760" cy="365760"/>
          </a:xfrm>
          <a:prstGeom prst="ellipse">
            <a:avLst/>
          </a:prstGeom>
          <a:solidFill>
            <a:srgbClr val="7C3AED"/>
          </a:solidFill>
          <a:ln/>
        </p:spPr>
      </p:sp>
      <p:sp>
        <p:nvSpPr>
          <p:cNvPr id="21" name="Text 18"/>
          <p:cNvSpPr txBox="1"/>
          <p:nvPr/>
        </p:nvSpPr>
        <p:spPr>
          <a:xfrm>
            <a:off x="3337560" y="3474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19"/>
          <p:cNvSpPr txBox="1"/>
          <p:nvPr/>
        </p:nvSpPr>
        <p:spPr>
          <a:xfrm>
            <a:off x="3840480" y="338328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Rollback : git revert du commit et constat du retour à l'état précédent</a:t>
            </a:r>
            <a:endParaRPr lang="en-US" sz="1300" dirty="0"/>
          </a:p>
        </p:txBody>
      </p:sp>
      <p:sp>
        <p:nvSpPr>
          <p:cNvPr id="23" name="Livrable"/>
          <p:cNvSpPr/>
          <p:nvPr/>
        </p:nvSpPr>
        <p:spPr>
          <a:xfrm>
            <a:off x="457200" y="4069080"/>
            <a:ext cx="8229600" cy="548640"/>
          </a:xfrm>
          <a:prstGeom prst="roundRect">
            <a:avLst>
              <a:gd name="adj" fmla="val 13333"/>
            </a:avLst>
          </a:prstGeom>
          <a:solidFill>
            <a:srgbClr val="0F172A"/>
          </a:solidFill>
          <a:ln/>
        </p:spPr>
      </p:sp>
      <p:sp>
        <p:nvSpPr>
          <p:cNvPr id="24" name="Text 21"/>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400" b="1" dirty="0">
                <a:solidFill>
                  <a:srgbClr val="5EEAD4"/>
                </a:solidFill>
              </a:rPr>
              <a:t>Livrable : </a:t>
            </a:r>
            <a:pPr indent="0" marL="0">
              <a:buNone/>
            </a:pPr>
            <a:r>
              <a:rPr lang="en-US" sz="1400" dirty="0">
                <a:solidFill>
                  <a:srgbClr val="FFFFFF"/>
                </a:solidFill>
              </a:rPr>
              <a:t>application synchronisée par Argo CD et un historique Git montrant déploiement et rollback.</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TP : dérive, selfHeal et promotion par pull request</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Fiche TP"/>
          <p:cNvSpPr/>
          <p:nvPr/>
        </p:nvSpPr>
        <p:spPr>
          <a:xfrm>
            <a:off x="457200" y="1188720"/>
            <a:ext cx="2651760" cy="2743200"/>
          </a:xfrm>
          <a:prstGeom prst="roundRect">
            <a:avLst>
              <a:gd name="adj" fmla="val 2759"/>
            </a:avLst>
          </a:prstGeom>
          <a:solidFill>
            <a:srgbClr val="F1F5F9"/>
          </a:solidFill>
          <a:ln/>
        </p:spPr>
      </p:sp>
      <p:sp>
        <p:nvSpPr>
          <p:cNvPr id="7" name="Text 4"/>
          <p:cNvSpPr txBox="1"/>
          <p:nvPr/>
        </p:nvSpPr>
        <p:spPr>
          <a:xfrm>
            <a:off x="594360" y="1280160"/>
            <a:ext cx="2377440" cy="2560320"/>
          </a:xfrm>
          <a:prstGeom prst="rect">
            <a:avLst/>
          </a:prstGeom>
          <a:noFill/>
          <a:ln/>
        </p:spPr>
        <p:txBody>
          <a:bodyPr wrap="square" lIns="0" tIns="0" rIns="0" bIns="0" rtlCol="0" anchor="t"/>
          <a:lstStyle/>
          <a:p>
            <a:pPr indent="0" marL="0">
              <a:buNone/>
            </a:pPr>
            <a:r>
              <a:rPr lang="en-US" sz="1300" b="1" dirty="0">
                <a:solidFill>
                  <a:srgbClr val="7C3AED"/>
                </a:solidFill>
              </a:rPr>
              <a:t>Durée</a:t>
            </a:r>
            <a:endParaRPr lang="en-US" sz="1300" dirty="0"/>
          </a:p>
          <a:p>
            <a:pPr indent="0" marL="0">
              <a:buNone/>
            </a:pPr>
            <a:r>
              <a:rPr lang="en-US" sz="1300" dirty="0">
                <a:solidFill>
                  <a:srgbClr val="1E293B"/>
                </a:solidFill>
              </a:rPr>
              <a:t>1 h 30</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7C3AED"/>
                </a:solidFill>
              </a:rPr>
              <a:t>Objectif</a:t>
            </a:r>
            <a:endParaRPr lang="en-US" sz="1300" dirty="0"/>
          </a:p>
          <a:p>
            <a:pPr indent="0" marL="0">
              <a:buNone/>
            </a:pPr>
            <a:r>
              <a:rPr lang="en-US" sz="1300" dirty="0">
                <a:solidFill>
                  <a:srgbClr val="1E293B"/>
                </a:solidFill>
              </a:rPr>
              <a:t>Constater la correction automatique de la dérive et promouvoir un changement entre environnements.</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7C3AED"/>
                </a:solidFill>
              </a:rPr>
              <a:t>Prérequis</a:t>
            </a:r>
            <a:endParaRPr lang="en-US" sz="1300" dirty="0"/>
          </a:p>
          <a:p>
            <a:pPr indent="0" marL="0">
              <a:buNone/>
            </a:pPr>
            <a:r>
              <a:rPr lang="en-US" sz="1300" dirty="0">
                <a:solidFill>
                  <a:srgbClr val="1E293B"/>
                </a:solidFill>
              </a:rPr>
              <a:t>TP précédent terminé, deux dossiers overlays/dev et overlays/staging.</a:t>
            </a:r>
            <a:endParaRPr lang="en-US" sz="1300" dirty="0"/>
          </a:p>
        </p:txBody>
      </p:sp>
      <p:sp>
        <p:nvSpPr>
          <p:cNvPr id="8" name="Shape 5"/>
          <p:cNvSpPr/>
          <p:nvPr/>
        </p:nvSpPr>
        <p:spPr>
          <a:xfrm>
            <a:off x="3337560" y="1280160"/>
            <a:ext cx="365760" cy="365760"/>
          </a:xfrm>
          <a:prstGeom prst="ellipse">
            <a:avLst/>
          </a:prstGeom>
          <a:solidFill>
            <a:srgbClr val="7C3AED"/>
          </a:solidFill>
          <a:ln/>
        </p:spPr>
      </p:sp>
      <p:sp>
        <p:nvSpPr>
          <p:cNvPr id="9" name="Text 6"/>
          <p:cNvSpPr txBox="1"/>
          <p:nvPr/>
        </p:nvSpPr>
        <p:spPr>
          <a:xfrm>
            <a:off x="3337560" y="1280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7"/>
          <p:cNvSpPr txBox="1"/>
          <p:nvPr/>
        </p:nvSpPr>
        <p:spPr>
          <a:xfrm>
            <a:off x="3840480" y="118872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Activer selfHeal et prune dans la syncPolicy</a:t>
            </a:r>
            <a:endParaRPr lang="en-US" sz="1300" dirty="0"/>
          </a:p>
        </p:txBody>
      </p:sp>
      <p:sp>
        <p:nvSpPr>
          <p:cNvPr id="11" name="Shape 8"/>
          <p:cNvSpPr/>
          <p:nvPr/>
        </p:nvSpPr>
        <p:spPr>
          <a:xfrm>
            <a:off x="3337560" y="1828800"/>
            <a:ext cx="365760" cy="365760"/>
          </a:xfrm>
          <a:prstGeom prst="ellipse">
            <a:avLst/>
          </a:prstGeom>
          <a:solidFill>
            <a:srgbClr val="7C3AED"/>
          </a:solidFill>
          <a:ln/>
        </p:spPr>
      </p:sp>
      <p:sp>
        <p:nvSpPr>
          <p:cNvPr id="12" name="Text 9"/>
          <p:cNvSpPr txBox="1"/>
          <p:nvPr/>
        </p:nvSpPr>
        <p:spPr>
          <a:xfrm>
            <a:off x="3337560" y="1828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3840480" y="173736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Provoquer une dérive : kubectl scale deployment shop --replicas=5</a:t>
            </a:r>
            <a:endParaRPr lang="en-US" sz="1300" dirty="0"/>
          </a:p>
        </p:txBody>
      </p:sp>
      <p:sp>
        <p:nvSpPr>
          <p:cNvPr id="14" name="Shape 11"/>
          <p:cNvSpPr/>
          <p:nvPr/>
        </p:nvSpPr>
        <p:spPr>
          <a:xfrm>
            <a:off x="3337560" y="2377440"/>
            <a:ext cx="365760" cy="365760"/>
          </a:xfrm>
          <a:prstGeom prst="ellipse">
            <a:avLst/>
          </a:prstGeom>
          <a:solidFill>
            <a:srgbClr val="7C3AED"/>
          </a:solidFill>
          <a:ln/>
        </p:spPr>
      </p:sp>
      <p:sp>
        <p:nvSpPr>
          <p:cNvPr id="15" name="Text 12"/>
          <p:cNvSpPr txBox="1"/>
          <p:nvPr/>
        </p:nvSpPr>
        <p:spPr>
          <a:xfrm>
            <a:off x="3337560" y="2377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3"/>
          <p:cNvSpPr txBox="1"/>
          <p:nvPr/>
        </p:nvSpPr>
        <p:spPr>
          <a:xfrm>
            <a:off x="3840480" y="228600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Observer Argo CD ramener le nombre de réplicas à la valeur de Git</a:t>
            </a:r>
            <a:endParaRPr lang="en-US" sz="1300" dirty="0"/>
          </a:p>
        </p:txBody>
      </p:sp>
      <p:sp>
        <p:nvSpPr>
          <p:cNvPr id="17" name="Shape 14"/>
          <p:cNvSpPr/>
          <p:nvPr/>
        </p:nvSpPr>
        <p:spPr>
          <a:xfrm>
            <a:off x="3337560" y="2926080"/>
            <a:ext cx="365760" cy="365760"/>
          </a:xfrm>
          <a:prstGeom prst="ellipse">
            <a:avLst/>
          </a:prstGeom>
          <a:solidFill>
            <a:srgbClr val="7C3AED"/>
          </a:solidFill>
          <a:ln/>
        </p:spPr>
      </p:sp>
      <p:sp>
        <p:nvSpPr>
          <p:cNvPr id="18" name="Text 15"/>
          <p:cNvSpPr txBox="1"/>
          <p:nvPr/>
        </p:nvSpPr>
        <p:spPr>
          <a:xfrm>
            <a:off x="3337560" y="2926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3840480" y="283464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Créer une branche, modifier l'image dans overlays/staging, ouvrir une pull request</a:t>
            </a:r>
            <a:endParaRPr lang="en-US" sz="1300" dirty="0"/>
          </a:p>
        </p:txBody>
      </p:sp>
      <p:sp>
        <p:nvSpPr>
          <p:cNvPr id="20" name="Shape 17"/>
          <p:cNvSpPr/>
          <p:nvPr/>
        </p:nvSpPr>
        <p:spPr>
          <a:xfrm>
            <a:off x="3337560" y="3474720"/>
            <a:ext cx="365760" cy="365760"/>
          </a:xfrm>
          <a:prstGeom prst="ellipse">
            <a:avLst/>
          </a:prstGeom>
          <a:solidFill>
            <a:srgbClr val="7C3AED"/>
          </a:solidFill>
          <a:ln/>
        </p:spPr>
      </p:sp>
      <p:sp>
        <p:nvSpPr>
          <p:cNvPr id="21" name="Text 18"/>
          <p:cNvSpPr txBox="1"/>
          <p:nvPr/>
        </p:nvSpPr>
        <p:spPr>
          <a:xfrm>
            <a:off x="3337560" y="3474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19"/>
          <p:cNvSpPr txBox="1"/>
          <p:nvPr/>
        </p:nvSpPr>
        <p:spPr>
          <a:xfrm>
            <a:off x="3840480" y="338328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Fusionner et vérifier la synchronisation de staging</a:t>
            </a:r>
            <a:endParaRPr lang="en-US" sz="1300" dirty="0"/>
          </a:p>
        </p:txBody>
      </p:sp>
      <p:sp>
        <p:nvSpPr>
          <p:cNvPr id="23" name="Livrable"/>
          <p:cNvSpPr/>
          <p:nvPr/>
        </p:nvSpPr>
        <p:spPr>
          <a:xfrm>
            <a:off x="457200" y="4069080"/>
            <a:ext cx="8229600" cy="548640"/>
          </a:xfrm>
          <a:prstGeom prst="roundRect">
            <a:avLst>
              <a:gd name="adj" fmla="val 13333"/>
            </a:avLst>
          </a:prstGeom>
          <a:solidFill>
            <a:srgbClr val="0F172A"/>
          </a:solidFill>
          <a:ln/>
        </p:spPr>
      </p:sp>
      <p:sp>
        <p:nvSpPr>
          <p:cNvPr id="24" name="Text 21"/>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400" b="1" dirty="0">
                <a:solidFill>
                  <a:srgbClr val="5EEAD4"/>
                </a:solidFill>
              </a:rPr>
              <a:t>Livrable : </a:t>
            </a:r>
            <a:pPr indent="0" marL="0">
              <a:buNone/>
            </a:pPr>
            <a:r>
              <a:rPr lang="en-US" sz="1400" dirty="0">
                <a:solidFill>
                  <a:srgbClr val="FFFFFF"/>
                </a:solidFill>
              </a:rPr>
              <a:t>capture de la dérive corrigée et lien vers la pull request de promotion.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Quiz niveau GitOps</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Question"/>
          <p:cNvSpPr/>
          <p:nvPr/>
        </p:nvSpPr>
        <p:spPr>
          <a:xfrm>
            <a:off x="457200" y="1143000"/>
            <a:ext cx="8229600" cy="612648"/>
          </a:xfrm>
          <a:prstGeom prst="roundRect">
            <a:avLst>
              <a:gd name="adj" fmla="val 11940"/>
            </a:avLst>
          </a:prstGeom>
          <a:solidFill>
            <a:srgbClr val="F1F5F9"/>
          </a:solidFill>
          <a:ln/>
        </p:spPr>
      </p:sp>
      <p:sp>
        <p:nvSpPr>
          <p:cNvPr id="7" name="Shape 4"/>
          <p:cNvSpPr/>
          <p:nvPr/>
        </p:nvSpPr>
        <p:spPr>
          <a:xfrm>
            <a:off x="566928" y="1280160"/>
            <a:ext cx="347472" cy="347472"/>
          </a:xfrm>
          <a:prstGeom prst="ellipse">
            <a:avLst/>
          </a:prstGeom>
          <a:solidFill>
            <a:srgbClr val="7C3AED"/>
          </a:solidFill>
          <a:ln/>
        </p:spPr>
      </p:sp>
      <p:sp>
        <p:nvSpPr>
          <p:cNvPr id="8" name="Text 5"/>
          <p:cNvSpPr txBox="1"/>
          <p:nvPr/>
        </p:nvSpPr>
        <p:spPr>
          <a:xfrm>
            <a:off x="566928"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6"/>
          <p:cNvSpPr txBox="1"/>
          <p:nvPr/>
        </p:nvSpPr>
        <p:spPr>
          <a:xfrm>
            <a:off x="1051560" y="11430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Quelle est la source de vérité en GitOps ?</a:t>
            </a:r>
            <a:endParaRPr lang="en-US" sz="1400" dirty="0"/>
          </a:p>
          <a:p>
            <a:pPr indent="0" marL="0">
              <a:buNone/>
            </a:pPr>
            <a:r>
              <a:rPr lang="en-US" sz="1200" dirty="0">
                <a:solidFill>
                  <a:srgbClr val="1E293B"/>
                </a:solidFill>
              </a:rPr>
              <a:t>A) Le cluster    B) Git    C) La CI</a:t>
            </a:r>
            <a:endParaRPr lang="en-US" sz="1400" dirty="0"/>
          </a:p>
        </p:txBody>
      </p:sp>
      <p:sp>
        <p:nvSpPr>
          <p:cNvPr id="10" name="Question"/>
          <p:cNvSpPr/>
          <p:nvPr/>
        </p:nvSpPr>
        <p:spPr>
          <a:xfrm>
            <a:off x="457200" y="1828800"/>
            <a:ext cx="8229600" cy="612648"/>
          </a:xfrm>
          <a:prstGeom prst="roundRect">
            <a:avLst>
              <a:gd name="adj" fmla="val 11940"/>
            </a:avLst>
          </a:prstGeom>
          <a:solidFill>
            <a:srgbClr val="F1F5F9"/>
          </a:solidFill>
          <a:ln/>
        </p:spPr>
      </p:sp>
      <p:sp>
        <p:nvSpPr>
          <p:cNvPr id="11" name="Shape 8"/>
          <p:cNvSpPr/>
          <p:nvPr/>
        </p:nvSpPr>
        <p:spPr>
          <a:xfrm>
            <a:off x="566928" y="1965960"/>
            <a:ext cx="347472" cy="347472"/>
          </a:xfrm>
          <a:prstGeom prst="ellipse">
            <a:avLst/>
          </a:prstGeom>
          <a:solidFill>
            <a:srgbClr val="7C3AED"/>
          </a:solidFill>
          <a:ln/>
        </p:spPr>
      </p:sp>
      <p:sp>
        <p:nvSpPr>
          <p:cNvPr id="12" name="Text 9"/>
          <p:cNvSpPr txBox="1"/>
          <p:nvPr/>
        </p:nvSpPr>
        <p:spPr>
          <a:xfrm>
            <a:off x="566928" y="19659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51560" y="18288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Dans le modèle pull, qui applique les changements ?</a:t>
            </a:r>
            <a:endParaRPr lang="en-US" sz="1400" dirty="0"/>
          </a:p>
          <a:p>
            <a:pPr indent="0" marL="0">
              <a:buNone/>
            </a:pPr>
            <a:r>
              <a:rPr lang="en-US" sz="1200" dirty="0">
                <a:solidFill>
                  <a:srgbClr val="1E293B"/>
                </a:solidFill>
              </a:rPr>
              <a:t>A) Un agent situé dans le cluster    B) Le développeur depuis son poste    C) La CI avec kubectl</a:t>
            </a:r>
            <a:endParaRPr lang="en-US" sz="1400" dirty="0"/>
          </a:p>
        </p:txBody>
      </p:sp>
      <p:sp>
        <p:nvSpPr>
          <p:cNvPr id="14" name="Question"/>
          <p:cNvSpPr/>
          <p:nvPr/>
        </p:nvSpPr>
        <p:spPr>
          <a:xfrm>
            <a:off x="457200" y="2514600"/>
            <a:ext cx="8229600" cy="612648"/>
          </a:xfrm>
          <a:prstGeom prst="roundRect">
            <a:avLst>
              <a:gd name="adj" fmla="val 11940"/>
            </a:avLst>
          </a:prstGeom>
          <a:solidFill>
            <a:srgbClr val="F1F5F9"/>
          </a:solidFill>
          <a:ln/>
        </p:spPr>
      </p:sp>
      <p:sp>
        <p:nvSpPr>
          <p:cNvPr id="15" name="Shape 12"/>
          <p:cNvSpPr/>
          <p:nvPr/>
        </p:nvSpPr>
        <p:spPr>
          <a:xfrm>
            <a:off x="566928" y="2651760"/>
            <a:ext cx="347472" cy="347472"/>
          </a:xfrm>
          <a:prstGeom prst="ellipse">
            <a:avLst/>
          </a:prstGeom>
          <a:solidFill>
            <a:srgbClr val="7C3AED"/>
          </a:solidFill>
          <a:ln/>
        </p:spPr>
      </p:sp>
      <p:sp>
        <p:nvSpPr>
          <p:cNvPr id="16" name="Text 13"/>
          <p:cNvSpPr txBox="1"/>
          <p:nvPr/>
        </p:nvSpPr>
        <p:spPr>
          <a:xfrm>
            <a:off x="566928"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4"/>
          <p:cNvSpPr txBox="1"/>
          <p:nvPr/>
        </p:nvSpPr>
        <p:spPr>
          <a:xfrm>
            <a:off x="1051560" y="25146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 fait l'option selfHeal d'Argo CD ?</a:t>
            </a:r>
            <a:endParaRPr lang="en-US" sz="1400" dirty="0"/>
          </a:p>
          <a:p>
            <a:pPr indent="0" marL="0">
              <a:buNone/>
            </a:pPr>
            <a:r>
              <a:rPr lang="en-US" sz="1200" dirty="0">
                <a:solidFill>
                  <a:srgbClr val="1E293B"/>
                </a:solidFill>
              </a:rPr>
              <a:t>A) Supprime les ressources retirées de Git    B) Met à jour les images automatiquement    C) Annule les modifications manuelles faites sur le cluster</a:t>
            </a:r>
            <a:endParaRPr lang="en-US" sz="1400" dirty="0"/>
          </a:p>
        </p:txBody>
      </p:sp>
      <p:sp>
        <p:nvSpPr>
          <p:cNvPr id="18" name="Question"/>
          <p:cNvSpPr/>
          <p:nvPr/>
        </p:nvSpPr>
        <p:spPr>
          <a:xfrm>
            <a:off x="457200" y="3200400"/>
            <a:ext cx="8229600" cy="612648"/>
          </a:xfrm>
          <a:prstGeom prst="roundRect">
            <a:avLst>
              <a:gd name="adj" fmla="val 11940"/>
            </a:avLst>
          </a:prstGeom>
          <a:solidFill>
            <a:srgbClr val="F1F5F9"/>
          </a:solidFill>
          <a:ln/>
        </p:spPr>
      </p:sp>
      <p:sp>
        <p:nvSpPr>
          <p:cNvPr id="19" name="Shape 16"/>
          <p:cNvSpPr/>
          <p:nvPr/>
        </p:nvSpPr>
        <p:spPr>
          <a:xfrm>
            <a:off x="566928" y="3337560"/>
            <a:ext cx="347472" cy="347472"/>
          </a:xfrm>
          <a:prstGeom prst="ellipse">
            <a:avLst/>
          </a:prstGeom>
          <a:solidFill>
            <a:srgbClr val="7C3AED"/>
          </a:solidFill>
          <a:ln/>
        </p:spPr>
      </p:sp>
      <p:sp>
        <p:nvSpPr>
          <p:cNvPr id="20" name="Text 17"/>
          <p:cNvSpPr txBox="1"/>
          <p:nvPr/>
        </p:nvSpPr>
        <p:spPr>
          <a:xfrm>
            <a:off x="566928" y="33375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8"/>
          <p:cNvSpPr txBox="1"/>
          <p:nvPr/>
        </p:nvSpPr>
        <p:spPr>
          <a:xfrm>
            <a:off x="1051560" y="32004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Comment annuler un déploiement en GitOps ?</a:t>
            </a:r>
            <a:endParaRPr lang="en-US" sz="1400" dirty="0"/>
          </a:p>
          <a:p>
            <a:pPr indent="0" marL="0">
              <a:buNone/>
            </a:pPr>
            <a:r>
              <a:rPr lang="en-US" sz="1200" dirty="0">
                <a:solidFill>
                  <a:srgbClr val="1E293B"/>
                </a:solidFill>
              </a:rPr>
              <a:t>A) Avec kubectl edit    B) Avec git revert puis push    C) En redémarrant le cluster</a:t>
            </a:r>
            <a:endParaRPr lang="en-US" sz="1400" dirty="0"/>
          </a:p>
        </p:txBody>
      </p:sp>
      <p:sp>
        <p:nvSpPr>
          <p:cNvPr id="22" name="Question"/>
          <p:cNvSpPr/>
          <p:nvPr/>
        </p:nvSpPr>
        <p:spPr>
          <a:xfrm>
            <a:off x="457200" y="3886200"/>
            <a:ext cx="8229600" cy="612648"/>
          </a:xfrm>
          <a:prstGeom prst="roundRect">
            <a:avLst>
              <a:gd name="adj" fmla="val 11940"/>
            </a:avLst>
          </a:prstGeom>
          <a:solidFill>
            <a:srgbClr val="F1F5F9"/>
          </a:solidFill>
          <a:ln/>
        </p:spPr>
      </p:sp>
      <p:sp>
        <p:nvSpPr>
          <p:cNvPr id="23" name="Shape 20"/>
          <p:cNvSpPr/>
          <p:nvPr/>
        </p:nvSpPr>
        <p:spPr>
          <a:xfrm>
            <a:off x="566928" y="4023360"/>
            <a:ext cx="347472" cy="347472"/>
          </a:xfrm>
          <a:prstGeom prst="ellipse">
            <a:avLst/>
          </a:prstGeom>
          <a:solidFill>
            <a:srgbClr val="7C3AED"/>
          </a:solidFill>
          <a:ln/>
        </p:spPr>
      </p:sp>
      <p:sp>
        <p:nvSpPr>
          <p:cNvPr id="24" name="Text 21"/>
          <p:cNvSpPr txBox="1"/>
          <p:nvPr/>
        </p:nvSpPr>
        <p:spPr>
          <a:xfrm>
            <a:off x="566928" y="40233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5" name="Text 22"/>
          <p:cNvSpPr txBox="1"/>
          <p:nvPr/>
        </p:nvSpPr>
        <p:spPr>
          <a:xfrm>
            <a:off x="1051560" y="38862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Pourquoi préférer des dossiers aux branches par environnement ?</a:t>
            </a:r>
            <a:endParaRPr lang="en-US" sz="1400" dirty="0"/>
          </a:p>
          <a:p>
            <a:pPr indent="0" marL="0">
              <a:buNone/>
            </a:pPr>
            <a:r>
              <a:rPr lang="en-US" sz="1200" dirty="0">
                <a:solidFill>
                  <a:srgbClr val="1E293B"/>
                </a:solidFill>
              </a:rPr>
              <a:t>A) Les fusions entre branches sont pénibles et provoquent des dérives    B) Git n'accepte qu'une seule branche    C) Argo CD ne lit que les dossiers</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640080" y="1097280"/>
            <a:ext cx="2743200" cy="1463040"/>
          </a:xfrm>
          <a:prstGeom prst="rect">
            <a:avLst/>
          </a:prstGeom>
          <a:noFill/>
          <a:ln/>
        </p:spPr>
        <p:txBody>
          <a:bodyPr wrap="square" lIns="0" tIns="0" rIns="0" bIns="0" rtlCol="0" anchor="ctr"/>
          <a:lstStyle/>
          <a:p>
            <a:pPr indent="0" marL="0">
              <a:buNone/>
            </a:pPr>
            <a:r>
              <a:rPr lang="en-US" sz="9600" b="1" dirty="0">
                <a:solidFill>
                  <a:srgbClr val="F97316"/>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640080" y="2651760"/>
            <a:ext cx="78638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Sujets experts</a:t>
            </a:r>
            <a:endParaRPr lang="en-US" sz="3800" dirty="0"/>
          </a:p>
        </p:txBody>
      </p:sp>
      <p:sp>
        <p:nvSpPr>
          <p:cNvPr id="4" name="Text 2"/>
          <p:cNvSpPr txBox="1"/>
          <p:nvPr/>
        </p:nvSpPr>
        <p:spPr>
          <a:xfrm>
            <a:off x="640080" y="3474720"/>
            <a:ext cx="7863840" cy="731520"/>
          </a:xfrm>
          <a:prstGeom prst="rect">
            <a:avLst/>
          </a:prstGeom>
          <a:noFill/>
          <a:ln/>
        </p:spPr>
        <p:txBody>
          <a:bodyPr wrap="square" lIns="0" tIns="0" rIns="0" bIns="0" rtlCol="0" anchor="ctr"/>
          <a:lstStyle/>
          <a:p>
            <a:pPr indent="0" marL="0">
              <a:buNone/>
            </a:pPr>
            <a:r>
              <a:rPr lang="en-US" sz="1800" dirty="0">
                <a:solidFill>
                  <a:srgbClr val="CBD5E1"/>
                </a:solidFill>
              </a:rPr>
              <a:t>Secrets, multi-cluster, progressive delivery, politiques, supply chain, platform engineering</a:t>
            </a:r>
            <a:endParaRPr lang="en-US" sz="1800" dirty="0"/>
          </a:p>
        </p:txBody>
      </p:sp>
      <p:sp>
        <p:nvSpPr>
          <p:cNvPr id="6"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Gérer les secrets en GitOps</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920240"/>
                <a:gridCol w="3474720"/>
                <a:gridCol w="283464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Approche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Principe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À retenir</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50292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Sealed Secrets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Chiffrement asymétrique, clé dans le cluster</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Simple, secret chiffré dans Git</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SOPS + age/KMS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Chiffre les valeurs du YAML</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Diff lisible, intégré à Flux</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50292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External Secrets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Référence un coffre externe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Rotation centralisée, rien dans Git</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Vault / cloud KMS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Coffre-fort source de vérité</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Politiques fines, audit</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bl>
          </a:graphicData>
        </a:graphic>
      </p:graphicFrame>
      <p:sp>
        <p:nvSpPr>
          <p:cNvPr id="7" name="Carte"/>
          <p:cNvSpPr/>
          <p:nvPr/>
        </p:nvSpPr>
        <p:spPr>
          <a:xfrm>
            <a:off x="457200" y="3931920"/>
            <a:ext cx="8229600" cy="640080"/>
          </a:xfrm>
          <a:prstGeom prst="roundRect">
            <a:avLst>
              <a:gd name="adj" fmla="val 11429"/>
            </a:avLst>
          </a:prstGeom>
          <a:solidFill>
            <a:srgbClr val="FEE2E2"/>
          </a:solidFill>
          <a:ln/>
        </p:spPr>
      </p:sp>
      <p:sp>
        <p:nvSpPr>
          <p:cNvPr id="8" name="Text 4"/>
          <p:cNvSpPr txBox="1"/>
          <p:nvPr/>
        </p:nvSpPr>
        <p:spPr>
          <a:xfrm>
            <a:off x="594360" y="4041648"/>
            <a:ext cx="7955280" cy="365760"/>
          </a:xfrm>
          <a:prstGeom prst="rect">
            <a:avLst/>
          </a:prstGeom>
          <a:noFill/>
          <a:ln/>
        </p:spPr>
        <p:txBody>
          <a:bodyPr wrap="square" lIns="0" tIns="0" rIns="0" bIns="0" rtlCol="0" anchor="ctr"/>
          <a:lstStyle/>
          <a:p>
            <a:pPr indent="0" marL="0">
              <a:buNone/>
            </a:pPr>
            <a:r>
              <a:rPr lang="en-US" sz="1400" b="1" dirty="0">
                <a:solidFill>
                  <a:srgbClr val="B91C1C"/>
                </a:solidFill>
              </a:rPr>
              <a:t>Règle : un secret en clair dans Git est compromis, même après suppression (historique).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Schéma : gestion des secrets</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Text 3"/>
          <p:cNvSpPr txBox="1"/>
          <p:nvPr/>
        </p:nvSpPr>
        <p:spPr>
          <a:xfrm>
            <a:off x="457200" y="1097280"/>
            <a:ext cx="3657600" cy="274320"/>
          </a:xfrm>
          <a:prstGeom prst="rect">
            <a:avLst/>
          </a:prstGeom>
          <a:noFill/>
          <a:ln/>
        </p:spPr>
        <p:txBody>
          <a:bodyPr wrap="square" lIns="0" tIns="0" rIns="0" bIns="0" rtlCol="0" anchor="ctr"/>
          <a:lstStyle/>
          <a:p>
            <a:pPr indent="0" marL="0">
              <a:buNone/>
            </a:pPr>
            <a:r>
              <a:rPr lang="en-US" sz="1400" b="1" dirty="0">
                <a:solidFill>
                  <a:srgbClr val="F97316"/>
                </a:solidFill>
              </a:rPr>
              <a:t>A. Chiffré dans Git</a:t>
            </a:r>
            <a:endParaRPr lang="en-US" sz="1400" dirty="0"/>
          </a:p>
        </p:txBody>
      </p:sp>
      <p:sp>
        <p:nvSpPr>
          <p:cNvPr id="7" name="Noeud Développeur"/>
          <p:cNvSpPr txBox="1"/>
          <p:nvPr/>
        </p:nvSpPr>
        <p:spPr>
          <a:xfrm>
            <a:off x="457200" y="1417320"/>
            <a:ext cx="1371600" cy="822960"/>
          </a:xfrm>
          <a:prstGeom prst="roundRect">
            <a:avLst>
              <a:gd name="adj" fmla="val 8889"/>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Développeur</a:t>
            </a:r>
            <a:endParaRPr lang="en-US" sz="1200" dirty="0"/>
          </a:p>
        </p:txBody>
      </p:sp>
      <p:sp>
        <p:nvSpPr>
          <p:cNvPr id="8" name="Flèche"/>
          <p:cNvSpPr/>
          <p:nvPr/>
        </p:nvSpPr>
        <p:spPr>
          <a:xfrm>
            <a:off x="1828800" y="1828800"/>
            <a:ext cx="320040" cy="0"/>
          </a:xfrm>
          <a:prstGeom prst="line">
            <a:avLst/>
          </a:prstGeom>
          <a:noFill/>
          <a:ln w="22225">
            <a:solidFill>
              <a:srgbClr val="64748B"/>
            </a:solidFill>
            <a:prstDash val="solid"/>
            <a:tailEnd type="triangle"/>
          </a:ln>
        </p:spPr>
      </p:sp>
      <p:sp>
        <p:nvSpPr>
          <p:cNvPr id="9" name="Noeud Chiffrement"/>
          <p:cNvSpPr txBox="1"/>
          <p:nvPr/>
        </p:nvSpPr>
        <p:spPr>
          <a:xfrm>
            <a:off x="2148840" y="1417320"/>
            <a:ext cx="1371600" cy="822960"/>
          </a:xfrm>
          <a:prstGeom prst="roundRect">
            <a:avLst>
              <a:gd name="adj" fmla="val 8889"/>
            </a:avLst>
          </a:prstGeom>
          <a:solidFill>
            <a:srgbClr val="F97316"/>
          </a:solidFill>
          <a:ln/>
        </p:spPr>
        <p:txBody>
          <a:bodyPr wrap="square" lIns="508" tIns="508" rIns="508" bIns="508" rtlCol="0" anchor="ctr"/>
          <a:lstStyle/>
          <a:p>
            <a:pPr algn="ctr" indent="0" marL="0">
              <a:buNone/>
            </a:pPr>
            <a:r>
              <a:rPr lang="en-US" sz="1200" b="1" dirty="0">
                <a:solidFill>
                  <a:srgbClr val="FFFFFF"/>
                </a:solidFill>
              </a:rPr>
              <a:t>Chiffrement</a:t>
            </a:r>
            <a:endParaRPr lang="en-US" sz="1200" dirty="0"/>
          </a:p>
          <a:p>
            <a:pPr algn="ctr" indent="0" marL="0">
              <a:buNone/>
            </a:pPr>
            <a:r>
              <a:rPr lang="en-US" sz="1100" dirty="0">
                <a:solidFill>
                  <a:srgbClr val="FFFFFF"/>
                </a:solidFill>
              </a:rPr>
              <a:t>SOPS, Sealed Secrets</a:t>
            </a:r>
            <a:endParaRPr lang="en-US" sz="1200" dirty="0"/>
          </a:p>
        </p:txBody>
      </p:sp>
      <p:sp>
        <p:nvSpPr>
          <p:cNvPr id="10" name="Flèche"/>
          <p:cNvSpPr/>
          <p:nvPr/>
        </p:nvSpPr>
        <p:spPr>
          <a:xfrm>
            <a:off x="3520440" y="1828800"/>
            <a:ext cx="320040" cy="0"/>
          </a:xfrm>
          <a:prstGeom prst="line">
            <a:avLst/>
          </a:prstGeom>
          <a:noFill/>
          <a:ln w="22225">
            <a:solidFill>
              <a:srgbClr val="64748B"/>
            </a:solidFill>
            <a:prstDash val="solid"/>
            <a:tailEnd type="triangle"/>
          </a:ln>
        </p:spPr>
      </p:sp>
      <p:sp>
        <p:nvSpPr>
          <p:cNvPr id="11" name="Noeud Dépôt Git"/>
          <p:cNvSpPr txBox="1"/>
          <p:nvPr/>
        </p:nvSpPr>
        <p:spPr>
          <a:xfrm>
            <a:off x="3840480" y="1417320"/>
            <a:ext cx="1371600" cy="822960"/>
          </a:xfrm>
          <a:prstGeom prst="roundRect">
            <a:avLst>
              <a:gd name="adj" fmla="val 8889"/>
            </a:avLst>
          </a:prstGeom>
          <a:solidFill>
            <a:srgbClr val="7C3AED"/>
          </a:solidFill>
          <a:ln/>
        </p:spPr>
        <p:txBody>
          <a:bodyPr wrap="square" lIns="508" tIns="508" rIns="508" bIns="508" rtlCol="0" anchor="ctr"/>
          <a:lstStyle/>
          <a:p>
            <a:pPr algn="ctr" indent="0" marL="0">
              <a:buNone/>
            </a:pPr>
            <a:r>
              <a:rPr lang="en-US" sz="1200" b="1" dirty="0">
                <a:solidFill>
                  <a:srgbClr val="FFFFFF"/>
                </a:solidFill>
              </a:rPr>
              <a:t>Dépôt Git</a:t>
            </a:r>
            <a:endParaRPr lang="en-US" sz="1200" dirty="0"/>
          </a:p>
          <a:p>
            <a:pPr algn="ctr" indent="0" marL="0">
              <a:buNone/>
            </a:pPr>
            <a:r>
              <a:rPr lang="en-US" sz="1100" dirty="0">
                <a:solidFill>
                  <a:srgbClr val="FFFFFF"/>
                </a:solidFill>
              </a:rPr>
              <a:t>secret chiffré</a:t>
            </a:r>
            <a:endParaRPr lang="en-US" sz="1200" dirty="0"/>
          </a:p>
        </p:txBody>
      </p:sp>
      <p:sp>
        <p:nvSpPr>
          <p:cNvPr id="12" name="Flèche"/>
          <p:cNvSpPr/>
          <p:nvPr/>
        </p:nvSpPr>
        <p:spPr>
          <a:xfrm>
            <a:off x="5212080" y="1828800"/>
            <a:ext cx="320040" cy="0"/>
          </a:xfrm>
          <a:prstGeom prst="line">
            <a:avLst/>
          </a:prstGeom>
          <a:noFill/>
          <a:ln w="22225">
            <a:solidFill>
              <a:srgbClr val="64748B"/>
            </a:solidFill>
            <a:prstDash val="solid"/>
            <a:tailEnd type="triangle"/>
          </a:ln>
        </p:spPr>
      </p:sp>
      <p:sp>
        <p:nvSpPr>
          <p:cNvPr id="13" name="Noeud Déchiffrement"/>
          <p:cNvSpPr txBox="1"/>
          <p:nvPr/>
        </p:nvSpPr>
        <p:spPr>
          <a:xfrm>
            <a:off x="5532120" y="1417320"/>
            <a:ext cx="1371600" cy="822960"/>
          </a:xfrm>
          <a:prstGeom prst="roundRect">
            <a:avLst>
              <a:gd name="adj" fmla="val 8889"/>
            </a:avLst>
          </a:prstGeom>
          <a:solidFill>
            <a:srgbClr val="0EA5E9"/>
          </a:solidFill>
          <a:ln/>
        </p:spPr>
        <p:txBody>
          <a:bodyPr wrap="square" lIns="508" tIns="508" rIns="508" bIns="508" rtlCol="0" anchor="ctr"/>
          <a:lstStyle/>
          <a:p>
            <a:pPr algn="ctr" indent="0" marL="0">
              <a:buNone/>
            </a:pPr>
            <a:r>
              <a:rPr lang="en-US" sz="1200" b="1" dirty="0">
                <a:solidFill>
                  <a:srgbClr val="FFFFFF"/>
                </a:solidFill>
              </a:rPr>
              <a:t>Déchiffrement</a:t>
            </a:r>
            <a:endParaRPr lang="en-US" sz="1200" dirty="0"/>
          </a:p>
          <a:p>
            <a:pPr algn="ctr" indent="0" marL="0">
              <a:buNone/>
            </a:pPr>
            <a:r>
              <a:rPr lang="en-US" sz="1100" dirty="0">
                <a:solidFill>
                  <a:srgbClr val="FFFFFF"/>
                </a:solidFill>
              </a:rPr>
              <a:t>Flux, KSOPS, contrôleur</a:t>
            </a:r>
            <a:endParaRPr lang="en-US" sz="1200" dirty="0"/>
          </a:p>
        </p:txBody>
      </p:sp>
      <p:sp>
        <p:nvSpPr>
          <p:cNvPr id="14" name="Flèche"/>
          <p:cNvSpPr/>
          <p:nvPr/>
        </p:nvSpPr>
        <p:spPr>
          <a:xfrm>
            <a:off x="6903720" y="1828800"/>
            <a:ext cx="320040" cy="0"/>
          </a:xfrm>
          <a:prstGeom prst="line">
            <a:avLst/>
          </a:prstGeom>
          <a:noFill/>
          <a:ln w="22225">
            <a:solidFill>
              <a:srgbClr val="64748B"/>
            </a:solidFill>
            <a:prstDash val="solid"/>
            <a:tailEnd type="triangle"/>
          </a:ln>
        </p:spPr>
      </p:sp>
      <p:sp>
        <p:nvSpPr>
          <p:cNvPr id="15" name="Noeud Secret K8s"/>
          <p:cNvSpPr txBox="1"/>
          <p:nvPr/>
        </p:nvSpPr>
        <p:spPr>
          <a:xfrm>
            <a:off x="7223760" y="1417320"/>
            <a:ext cx="1371600" cy="822960"/>
          </a:xfrm>
          <a:prstGeom prst="roundRect">
            <a:avLst>
              <a:gd name="adj" fmla="val 8889"/>
            </a:avLst>
          </a:prstGeom>
          <a:solidFill>
            <a:srgbClr val="0F172A"/>
          </a:solidFill>
          <a:ln/>
        </p:spPr>
        <p:txBody>
          <a:bodyPr wrap="square" lIns="508" tIns="508" rIns="508" bIns="508" rtlCol="0" anchor="ctr"/>
          <a:lstStyle/>
          <a:p>
            <a:pPr algn="ctr" indent="0" marL="0">
              <a:buNone/>
            </a:pPr>
            <a:r>
              <a:rPr lang="en-US" sz="1200" b="1" dirty="0">
                <a:solidFill>
                  <a:srgbClr val="FFFFFF"/>
                </a:solidFill>
              </a:rPr>
              <a:t>Secret K8s</a:t>
            </a:r>
            <a:endParaRPr lang="en-US" sz="1200" dirty="0"/>
          </a:p>
          <a:p>
            <a:pPr algn="ctr" indent="0" marL="0">
              <a:buNone/>
            </a:pPr>
            <a:r>
              <a:rPr lang="en-US" sz="1100" dirty="0">
                <a:solidFill>
                  <a:srgbClr val="FFFFFF"/>
                </a:solidFill>
              </a:rPr>
              <a:t>lu par les pods</a:t>
            </a:r>
            <a:endParaRPr lang="en-US" sz="1200" dirty="0"/>
          </a:p>
        </p:txBody>
      </p:sp>
      <p:sp>
        <p:nvSpPr>
          <p:cNvPr id="16" name="Text 13"/>
          <p:cNvSpPr txBox="1"/>
          <p:nvPr/>
        </p:nvSpPr>
        <p:spPr>
          <a:xfrm>
            <a:off x="457200" y="2606040"/>
            <a:ext cx="3657600" cy="274320"/>
          </a:xfrm>
          <a:prstGeom prst="rect">
            <a:avLst/>
          </a:prstGeom>
          <a:noFill/>
          <a:ln/>
        </p:spPr>
        <p:txBody>
          <a:bodyPr wrap="square" lIns="0" tIns="0" rIns="0" bIns="0" rtlCol="0" anchor="ctr"/>
          <a:lstStyle/>
          <a:p>
            <a:pPr indent="0" marL="0">
              <a:buNone/>
            </a:pPr>
            <a:r>
              <a:rPr lang="en-US" sz="1400" b="1" dirty="0">
                <a:solidFill>
                  <a:srgbClr val="0D9488"/>
                </a:solidFill>
              </a:rPr>
              <a:t>B. Coffre externe</a:t>
            </a:r>
            <a:endParaRPr lang="en-US" sz="1400" dirty="0"/>
          </a:p>
        </p:txBody>
      </p:sp>
      <p:sp>
        <p:nvSpPr>
          <p:cNvPr id="17" name="Noeud Développeur"/>
          <p:cNvSpPr txBox="1"/>
          <p:nvPr/>
        </p:nvSpPr>
        <p:spPr>
          <a:xfrm>
            <a:off x="457200" y="2926080"/>
            <a:ext cx="1371600" cy="777240"/>
          </a:xfrm>
          <a:prstGeom prst="roundRect">
            <a:avLst>
              <a:gd name="adj" fmla="val 9412"/>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Développeur</a:t>
            </a:r>
            <a:endParaRPr lang="en-US" sz="1200" dirty="0"/>
          </a:p>
        </p:txBody>
      </p:sp>
      <p:sp>
        <p:nvSpPr>
          <p:cNvPr id="18" name="Flèche"/>
          <p:cNvSpPr/>
          <p:nvPr/>
        </p:nvSpPr>
        <p:spPr>
          <a:xfrm>
            <a:off x="1828800" y="3310128"/>
            <a:ext cx="320040" cy="0"/>
          </a:xfrm>
          <a:prstGeom prst="line">
            <a:avLst/>
          </a:prstGeom>
          <a:noFill/>
          <a:ln w="22225">
            <a:solidFill>
              <a:srgbClr val="64748B"/>
            </a:solidFill>
            <a:prstDash val="solid"/>
            <a:tailEnd type="triangle"/>
          </a:ln>
        </p:spPr>
      </p:sp>
      <p:sp>
        <p:nvSpPr>
          <p:cNvPr id="19" name="Noeud Dépôt Git"/>
          <p:cNvSpPr txBox="1"/>
          <p:nvPr/>
        </p:nvSpPr>
        <p:spPr>
          <a:xfrm>
            <a:off x="2148840" y="2926080"/>
            <a:ext cx="1371600" cy="777240"/>
          </a:xfrm>
          <a:prstGeom prst="roundRect">
            <a:avLst>
              <a:gd name="adj" fmla="val 9412"/>
            </a:avLst>
          </a:prstGeom>
          <a:solidFill>
            <a:srgbClr val="7C3AED"/>
          </a:solidFill>
          <a:ln/>
        </p:spPr>
        <p:txBody>
          <a:bodyPr wrap="square" lIns="508" tIns="508" rIns="508" bIns="508" rtlCol="0" anchor="ctr"/>
          <a:lstStyle/>
          <a:p>
            <a:pPr algn="ctr" indent="0" marL="0">
              <a:buNone/>
            </a:pPr>
            <a:r>
              <a:rPr lang="en-US" sz="1200" b="1" dirty="0">
                <a:solidFill>
                  <a:srgbClr val="FFFFFF"/>
                </a:solidFill>
              </a:rPr>
              <a:t>Dépôt Git</a:t>
            </a:r>
            <a:endParaRPr lang="en-US" sz="1200" dirty="0"/>
          </a:p>
          <a:p>
            <a:pPr algn="ctr" indent="0" marL="0">
              <a:buNone/>
            </a:pPr>
            <a:r>
              <a:rPr lang="en-US" sz="1100" dirty="0">
                <a:solidFill>
                  <a:srgbClr val="FFFFFF"/>
                </a:solidFill>
              </a:rPr>
              <a:t>ExternalSecret (référence)</a:t>
            </a:r>
            <a:endParaRPr lang="en-US" sz="1200" dirty="0"/>
          </a:p>
        </p:txBody>
      </p:sp>
      <p:sp>
        <p:nvSpPr>
          <p:cNvPr id="20" name="Flèche"/>
          <p:cNvSpPr/>
          <p:nvPr/>
        </p:nvSpPr>
        <p:spPr>
          <a:xfrm>
            <a:off x="3520440" y="3310128"/>
            <a:ext cx="320040" cy="0"/>
          </a:xfrm>
          <a:prstGeom prst="line">
            <a:avLst/>
          </a:prstGeom>
          <a:noFill/>
          <a:ln w="22225">
            <a:solidFill>
              <a:srgbClr val="64748B"/>
            </a:solidFill>
            <a:prstDash val="solid"/>
            <a:tailEnd type="triangle"/>
          </a:ln>
        </p:spPr>
      </p:sp>
      <p:sp>
        <p:nvSpPr>
          <p:cNvPr id="21" name="Noeud External Secrets"/>
          <p:cNvSpPr txBox="1"/>
          <p:nvPr/>
        </p:nvSpPr>
        <p:spPr>
          <a:xfrm>
            <a:off x="3840480" y="2926080"/>
            <a:ext cx="1371600" cy="777240"/>
          </a:xfrm>
          <a:prstGeom prst="roundRect">
            <a:avLst>
              <a:gd name="adj" fmla="val 9412"/>
            </a:avLst>
          </a:prstGeom>
          <a:solidFill>
            <a:srgbClr val="0EA5E9"/>
          </a:solidFill>
          <a:ln/>
        </p:spPr>
        <p:txBody>
          <a:bodyPr wrap="square" lIns="508" tIns="508" rIns="508" bIns="508" rtlCol="0" anchor="ctr"/>
          <a:lstStyle/>
          <a:p>
            <a:pPr algn="ctr" indent="0" marL="0">
              <a:buNone/>
            </a:pPr>
            <a:r>
              <a:rPr lang="en-US" sz="1200" b="1" dirty="0">
                <a:solidFill>
                  <a:srgbClr val="FFFFFF"/>
                </a:solidFill>
              </a:rPr>
              <a:t>External Secrets</a:t>
            </a:r>
            <a:endParaRPr lang="en-US" sz="1200" dirty="0"/>
          </a:p>
          <a:p>
            <a:pPr algn="ctr" indent="0" marL="0">
              <a:buNone/>
            </a:pPr>
            <a:r>
              <a:rPr lang="en-US" sz="1100" dirty="0">
                <a:solidFill>
                  <a:srgbClr val="FFFFFF"/>
                </a:solidFill>
              </a:rPr>
              <a:t>Operator</a:t>
            </a:r>
            <a:endParaRPr lang="en-US" sz="1200" dirty="0"/>
          </a:p>
        </p:txBody>
      </p:sp>
      <p:sp>
        <p:nvSpPr>
          <p:cNvPr id="22" name="Flèche"/>
          <p:cNvSpPr/>
          <p:nvPr/>
        </p:nvSpPr>
        <p:spPr>
          <a:xfrm>
            <a:off x="5212080" y="3310128"/>
            <a:ext cx="320040" cy="0"/>
          </a:xfrm>
          <a:prstGeom prst="line">
            <a:avLst/>
          </a:prstGeom>
          <a:noFill/>
          <a:ln w="22225">
            <a:solidFill>
              <a:srgbClr val="64748B"/>
            </a:solidFill>
            <a:prstDash val="solid"/>
            <a:tailEnd type="triangle"/>
          </a:ln>
        </p:spPr>
      </p:sp>
      <p:sp>
        <p:nvSpPr>
          <p:cNvPr id="23" name="Noeud Secret K8s"/>
          <p:cNvSpPr txBox="1"/>
          <p:nvPr/>
        </p:nvSpPr>
        <p:spPr>
          <a:xfrm>
            <a:off x="5532120" y="2926080"/>
            <a:ext cx="1371600" cy="777240"/>
          </a:xfrm>
          <a:prstGeom prst="roundRect">
            <a:avLst>
              <a:gd name="adj" fmla="val 9412"/>
            </a:avLst>
          </a:prstGeom>
          <a:solidFill>
            <a:srgbClr val="0F172A"/>
          </a:solidFill>
          <a:ln/>
        </p:spPr>
        <p:txBody>
          <a:bodyPr wrap="square" lIns="508" tIns="508" rIns="508" bIns="508" rtlCol="0" anchor="ctr"/>
          <a:lstStyle/>
          <a:p>
            <a:pPr algn="ctr" indent="0" marL="0">
              <a:buNone/>
            </a:pPr>
            <a:r>
              <a:rPr lang="en-US" sz="1200" b="1" dirty="0">
                <a:solidFill>
                  <a:srgbClr val="FFFFFF"/>
                </a:solidFill>
              </a:rPr>
              <a:t>Secret K8s</a:t>
            </a:r>
            <a:endParaRPr lang="en-US" sz="1200" dirty="0"/>
          </a:p>
          <a:p>
            <a:pPr algn="ctr" indent="0" marL="0">
              <a:buNone/>
            </a:pPr>
            <a:r>
              <a:rPr lang="en-US" sz="1100" dirty="0">
                <a:solidFill>
                  <a:srgbClr val="FFFFFF"/>
                </a:solidFill>
              </a:rPr>
              <a:t>créé dans le cluster</a:t>
            </a:r>
            <a:endParaRPr lang="en-US" sz="1200" dirty="0"/>
          </a:p>
        </p:txBody>
      </p:sp>
      <p:sp>
        <p:nvSpPr>
          <p:cNvPr id="24" name="Flèche"/>
          <p:cNvSpPr/>
          <p:nvPr/>
        </p:nvSpPr>
        <p:spPr>
          <a:xfrm>
            <a:off x="6903720" y="3310128"/>
            <a:ext cx="320040" cy="0"/>
          </a:xfrm>
          <a:prstGeom prst="line">
            <a:avLst/>
          </a:prstGeom>
          <a:noFill/>
          <a:ln w="22225">
            <a:solidFill>
              <a:srgbClr val="64748B"/>
            </a:solidFill>
            <a:prstDash val="solid"/>
            <a:tailEnd type="triangle"/>
          </a:ln>
        </p:spPr>
      </p:sp>
      <p:sp>
        <p:nvSpPr>
          <p:cNvPr id="25" name="Noeud Pod"/>
          <p:cNvSpPr txBox="1"/>
          <p:nvPr/>
        </p:nvSpPr>
        <p:spPr>
          <a:xfrm>
            <a:off x="7223760" y="2926080"/>
            <a:ext cx="1371600" cy="777240"/>
          </a:xfrm>
          <a:prstGeom prst="roundRect">
            <a:avLst>
              <a:gd name="adj" fmla="val 9412"/>
            </a:avLst>
          </a:prstGeom>
          <a:solidFill>
            <a:srgbClr val="64748B"/>
          </a:solidFill>
          <a:ln/>
        </p:spPr>
        <p:txBody>
          <a:bodyPr wrap="square" lIns="508" tIns="508" rIns="508" bIns="508" rtlCol="0" anchor="ctr"/>
          <a:lstStyle/>
          <a:p>
            <a:pPr algn="ctr" indent="0" marL="0">
              <a:buNone/>
            </a:pPr>
            <a:r>
              <a:rPr lang="en-US" sz="1200" b="1" dirty="0">
                <a:solidFill>
                  <a:srgbClr val="FFFFFF"/>
                </a:solidFill>
              </a:rPr>
              <a:t>Pod</a:t>
            </a:r>
            <a:endParaRPr lang="en-US" sz="1200" dirty="0"/>
          </a:p>
          <a:p>
            <a:pPr algn="ctr" indent="0" marL="0">
              <a:buNone/>
            </a:pPr>
            <a:r>
              <a:rPr lang="en-US" sz="1100" dirty="0">
                <a:solidFill>
                  <a:srgbClr val="FFFFFF"/>
                </a:solidFill>
              </a:rPr>
              <a:t>consomme le secret</a:t>
            </a:r>
            <a:endParaRPr lang="en-US" sz="1200" dirty="0"/>
          </a:p>
        </p:txBody>
      </p:sp>
      <p:sp>
        <p:nvSpPr>
          <p:cNvPr id="26" name="Noeud Coffre"/>
          <p:cNvSpPr txBox="1"/>
          <p:nvPr/>
        </p:nvSpPr>
        <p:spPr>
          <a:xfrm>
            <a:off x="3840480" y="4069080"/>
            <a:ext cx="1371600" cy="548640"/>
          </a:xfrm>
          <a:prstGeom prst="roundRect">
            <a:avLst>
              <a:gd name="adj" fmla="val 13333"/>
            </a:avLst>
          </a:prstGeom>
          <a:solidFill>
            <a:srgbClr val="F97316"/>
          </a:solidFill>
          <a:ln/>
        </p:spPr>
        <p:txBody>
          <a:bodyPr wrap="square" lIns="508" tIns="508" rIns="508" bIns="508" rtlCol="0" anchor="ctr"/>
          <a:lstStyle/>
          <a:p>
            <a:pPr algn="ctr" indent="0" marL="0">
              <a:buNone/>
            </a:pPr>
            <a:r>
              <a:rPr lang="en-US" sz="1200" b="1" dirty="0">
                <a:solidFill>
                  <a:srgbClr val="FFFFFF"/>
                </a:solidFill>
              </a:rPr>
              <a:t>Coffre</a:t>
            </a:r>
            <a:endParaRPr lang="en-US" sz="1200" dirty="0"/>
          </a:p>
          <a:p>
            <a:pPr algn="ctr" indent="0" marL="0">
              <a:buNone/>
            </a:pPr>
            <a:r>
              <a:rPr lang="en-US" sz="1100" dirty="0">
                <a:solidFill>
                  <a:srgbClr val="FFFFFF"/>
                </a:solidFill>
              </a:rPr>
              <a:t>Vault, cloud</a:t>
            </a:r>
            <a:endParaRPr lang="en-US" sz="1200" dirty="0"/>
          </a:p>
        </p:txBody>
      </p:sp>
      <p:sp>
        <p:nvSpPr>
          <p:cNvPr id="27" name="Flèche"/>
          <p:cNvSpPr/>
          <p:nvPr/>
        </p:nvSpPr>
        <p:spPr>
          <a:xfrm>
            <a:off x="4526280" y="3703320"/>
            <a:ext cx="0" cy="365760"/>
          </a:xfrm>
          <a:prstGeom prst="line">
            <a:avLst/>
          </a:prstGeom>
          <a:noFill/>
          <a:ln w="22225">
            <a:solidFill>
              <a:srgbClr val="64748B"/>
            </a:solidFill>
            <a:prstDash val="solid"/>
            <a:tailEnd type="triangle"/>
          </a:ln>
        </p:spPr>
      </p:sp>
      <p:sp>
        <p:nvSpPr>
          <p:cNvPr id="28" name="Text 25"/>
          <p:cNvSpPr txBox="1"/>
          <p:nvPr/>
        </p:nvSpPr>
        <p:spPr>
          <a:xfrm>
            <a:off x="4617720" y="3794760"/>
            <a:ext cx="457200" cy="256032"/>
          </a:xfrm>
          <a:prstGeom prst="rect">
            <a:avLst/>
          </a:prstGeom>
          <a:noFill/>
          <a:ln/>
        </p:spPr>
        <p:txBody>
          <a:bodyPr wrap="square" lIns="0" tIns="0" rIns="0" bIns="0" rtlCol="0" anchor="ctr"/>
          <a:lstStyle/>
          <a:p>
            <a:pPr algn="l" indent="0" marL="0">
              <a:buNone/>
            </a:pPr>
            <a:r>
              <a:rPr lang="en-US" sz="1000" i="1" dirty="0">
                <a:solidFill>
                  <a:srgbClr val="64748B"/>
                </a:solidFill>
              </a:rPr>
              <a:t>lit</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Multi-cluster et ApplicationSets</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Bloc code"/>
          <p:cNvSpPr/>
          <p:nvPr/>
        </p:nvSpPr>
        <p:spPr>
          <a:xfrm>
            <a:off x="457200" y="1234440"/>
            <a:ext cx="5120640" cy="3383280"/>
          </a:xfrm>
          <a:prstGeom prst="roundRect">
            <a:avLst>
              <a:gd name="adj" fmla="val 1622"/>
            </a:avLst>
          </a:prstGeom>
          <a:solidFill>
            <a:srgbClr val="0F172A"/>
          </a:solidFill>
          <a:ln/>
        </p:spPr>
      </p:sp>
      <p:sp>
        <p:nvSpPr>
          <p:cNvPr id="7" name="Text 4"/>
          <p:cNvSpPr txBox="1"/>
          <p:nvPr/>
        </p:nvSpPr>
        <p:spPr>
          <a:xfrm>
            <a:off x="594360" y="1325880"/>
            <a:ext cx="4846320" cy="320040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apiVersion: argoproj.io/v1alpha1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kind: ApplicationSet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metadata:</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name: shop-clusters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generators: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clusters: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template: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metadata:</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name: 'shop-{{name}}'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source: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repoURL: https://git.exemple.com/shop-config.git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path: overlays/{{metadata.labels.env}}</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destination:</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server: '{{server}}'</a:t>
            </a:r>
            <a:endParaRPr lang="en-US" sz="1100" dirty="0"/>
          </a:p>
        </p:txBody>
      </p:sp>
      <p:sp>
        <p:nvSpPr>
          <p:cNvPr id="8" name="Text 5"/>
          <p:cNvSpPr txBox="1"/>
          <p:nvPr/>
        </p:nvSpPr>
        <p:spPr>
          <a:xfrm>
            <a:off x="5760720" y="1280160"/>
            <a:ext cx="292608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93B"/>
                </a:solidFill>
              </a:rPr>
              <a:t>Un modèle, N clusters</a:t>
            </a:r>
            <a:endParaRPr lang="en-US" sz="1400" dirty="0"/>
          </a:p>
          <a:p>
            <a:pPr marL="342900" indent="-342900">
              <a:spcAft>
                <a:spcPts val="800"/>
              </a:spcAft>
              <a:buSzPct val="100000"/>
              <a:buChar char="•"/>
            </a:pPr>
            <a:r>
              <a:rPr lang="en-US" sz="1400" dirty="0">
                <a:solidFill>
                  <a:srgbClr val="1E293B"/>
                </a:solidFill>
              </a:rPr>
              <a:t>Générateurs : clusters, Git, matrice</a:t>
            </a:r>
            <a:endParaRPr lang="en-US" sz="1400" dirty="0"/>
          </a:p>
          <a:p>
            <a:pPr marL="342900" indent="-342900">
              <a:spcAft>
                <a:spcPts val="800"/>
              </a:spcAft>
              <a:buSzPct val="100000"/>
              <a:buChar char="•"/>
            </a:pPr>
            <a:r>
              <a:rPr lang="en-US" sz="1400" dirty="0">
                <a:solidFill>
                  <a:srgbClr val="1E293B"/>
                </a:solidFill>
              </a:rPr>
              <a:t>Hub-and-spoke ou un Argo par cluster</a:t>
            </a:r>
            <a:endParaRPr lang="en-US" sz="1400" dirty="0"/>
          </a:p>
          <a:p>
            <a:pPr marL="342900" indent="-342900">
              <a:spcAft>
                <a:spcPts val="800"/>
              </a:spcAft>
              <a:buSzPct val="100000"/>
              <a:buChar char="•"/>
            </a:pPr>
            <a:r>
              <a:rPr lang="en-US" sz="1400" dirty="0">
                <a:solidFill>
                  <a:srgbClr val="1E293B"/>
                </a:solidFill>
              </a:rPr>
              <a:t>Promotion entre régions par PR</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Schéma : multi-cluster hub-and-spoke</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Noeud Dépôt Git"/>
          <p:cNvSpPr txBox="1"/>
          <p:nvPr/>
        </p:nvSpPr>
        <p:spPr>
          <a:xfrm>
            <a:off x="457200" y="1371600"/>
            <a:ext cx="2011680" cy="731520"/>
          </a:xfrm>
          <a:prstGeom prst="roundRect">
            <a:avLst>
              <a:gd name="adj" fmla="val 10000"/>
            </a:avLst>
          </a:prstGeom>
          <a:solidFill>
            <a:srgbClr val="7C3AED"/>
          </a:solidFill>
          <a:ln/>
        </p:spPr>
        <p:txBody>
          <a:bodyPr wrap="square" lIns="508" tIns="508" rIns="508" bIns="508" rtlCol="0" anchor="ctr"/>
          <a:lstStyle/>
          <a:p>
            <a:pPr algn="ctr" indent="0" marL="0">
              <a:buNone/>
            </a:pPr>
            <a:r>
              <a:rPr lang="en-US" sz="1300" b="1" dirty="0">
                <a:solidFill>
                  <a:srgbClr val="FFFFFF"/>
                </a:solidFill>
              </a:rPr>
              <a:t>Dépôt Git</a:t>
            </a:r>
            <a:endParaRPr lang="en-US" sz="1300" dirty="0"/>
          </a:p>
          <a:p>
            <a:pPr algn="ctr" indent="0" marL="0">
              <a:buNone/>
            </a:pPr>
            <a:r>
              <a:rPr lang="en-US" sz="1100" dirty="0">
                <a:solidFill>
                  <a:srgbClr val="FFFFFF"/>
                </a:solidFill>
              </a:rPr>
              <a:t>modèles + valeurs</a:t>
            </a:r>
            <a:endParaRPr lang="en-US" sz="1300" dirty="0"/>
          </a:p>
        </p:txBody>
      </p:sp>
      <p:sp>
        <p:nvSpPr>
          <p:cNvPr id="7" name="Zone Cluster de gestion"/>
          <p:cNvSpPr/>
          <p:nvPr/>
        </p:nvSpPr>
        <p:spPr>
          <a:xfrm>
            <a:off x="3108960" y="1143000"/>
            <a:ext cx="2926080" cy="1508760"/>
          </a:xfrm>
          <a:prstGeom prst="roundRect">
            <a:avLst>
              <a:gd name="adj" fmla="val 4848"/>
            </a:avLst>
          </a:prstGeom>
          <a:solidFill>
            <a:srgbClr val="F8FAFC"/>
          </a:solidFill>
          <a:ln w="12700">
            <a:solidFill>
              <a:srgbClr val="CBD5E1"/>
            </a:solidFill>
            <a:prstDash val="dash"/>
          </a:ln>
        </p:spPr>
      </p:sp>
      <p:sp>
        <p:nvSpPr>
          <p:cNvPr id="8" name="Text 5"/>
          <p:cNvSpPr txBox="1"/>
          <p:nvPr/>
        </p:nvSpPr>
        <p:spPr>
          <a:xfrm>
            <a:off x="3218688" y="1188720"/>
            <a:ext cx="2706624" cy="256032"/>
          </a:xfrm>
          <a:prstGeom prst="rect">
            <a:avLst/>
          </a:prstGeom>
          <a:noFill/>
          <a:ln/>
        </p:spPr>
        <p:txBody>
          <a:bodyPr wrap="square" lIns="0" tIns="0" rIns="0" bIns="0" rtlCol="0" anchor="ctr"/>
          <a:lstStyle/>
          <a:p>
            <a:pPr algn="l" indent="0" marL="0">
              <a:buNone/>
            </a:pPr>
            <a:r>
              <a:rPr lang="en-US" sz="1100" b="1" dirty="0">
                <a:solidFill>
                  <a:srgbClr val="64748B"/>
                </a:solidFill>
              </a:rPr>
              <a:t>Cluster de gestion</a:t>
            </a:r>
            <a:endParaRPr lang="en-US" sz="1100" dirty="0"/>
          </a:p>
        </p:txBody>
      </p:sp>
      <p:sp>
        <p:nvSpPr>
          <p:cNvPr id="9" name="Noeud Argo CD"/>
          <p:cNvSpPr txBox="1"/>
          <p:nvPr/>
        </p:nvSpPr>
        <p:spPr>
          <a:xfrm>
            <a:off x="3246120" y="1554480"/>
            <a:ext cx="1234440" cy="868680"/>
          </a:xfrm>
          <a:prstGeom prst="roundRect">
            <a:avLst>
              <a:gd name="adj" fmla="val 8421"/>
            </a:avLst>
          </a:prstGeom>
          <a:solidFill>
            <a:srgbClr val="0F172A"/>
          </a:solidFill>
          <a:ln/>
        </p:spPr>
        <p:txBody>
          <a:bodyPr wrap="square" lIns="508" tIns="508" rIns="508" bIns="508" rtlCol="0" anchor="ctr"/>
          <a:lstStyle/>
          <a:p>
            <a:pPr algn="ctr" indent="0" marL="0">
              <a:buNone/>
            </a:pPr>
            <a:r>
              <a:rPr lang="en-US" sz="1300" b="1" dirty="0">
                <a:solidFill>
                  <a:srgbClr val="FFFFFF"/>
                </a:solidFill>
              </a:rPr>
              <a:t>Argo CD</a:t>
            </a:r>
            <a:endParaRPr lang="en-US" sz="1300" dirty="0"/>
          </a:p>
        </p:txBody>
      </p:sp>
      <p:sp>
        <p:nvSpPr>
          <p:cNvPr id="10" name="Noeud ApplicationSet"/>
          <p:cNvSpPr txBox="1"/>
          <p:nvPr/>
        </p:nvSpPr>
        <p:spPr>
          <a:xfrm>
            <a:off x="4617720" y="1554480"/>
            <a:ext cx="1280160" cy="868680"/>
          </a:xfrm>
          <a:prstGeom prst="roundRect">
            <a:avLst>
              <a:gd name="adj" fmla="val 8421"/>
            </a:avLst>
          </a:prstGeom>
          <a:solidFill>
            <a:srgbClr val="F97316"/>
          </a:solidFill>
          <a:ln/>
        </p:spPr>
        <p:txBody>
          <a:bodyPr wrap="square" lIns="508" tIns="508" rIns="508" bIns="508" rtlCol="0" anchor="ctr"/>
          <a:lstStyle/>
          <a:p>
            <a:pPr algn="ctr" indent="0" marL="0">
              <a:buNone/>
            </a:pPr>
            <a:r>
              <a:rPr lang="en-US" sz="1200" b="1" dirty="0">
                <a:solidFill>
                  <a:srgbClr val="FFFFFF"/>
                </a:solidFill>
              </a:rPr>
              <a:t>ApplicationSet</a:t>
            </a:r>
            <a:endParaRPr lang="en-US" sz="1200" dirty="0"/>
          </a:p>
        </p:txBody>
      </p:sp>
      <p:sp>
        <p:nvSpPr>
          <p:cNvPr id="11" name="Flèche"/>
          <p:cNvSpPr/>
          <p:nvPr/>
        </p:nvSpPr>
        <p:spPr>
          <a:xfrm>
            <a:off x="2468880" y="1737360"/>
            <a:ext cx="640080" cy="0"/>
          </a:xfrm>
          <a:prstGeom prst="line">
            <a:avLst/>
          </a:prstGeom>
          <a:noFill/>
          <a:ln w="22225">
            <a:solidFill>
              <a:srgbClr val="64748B"/>
            </a:solidFill>
            <a:prstDash val="solid"/>
            <a:tailEnd type="triangle"/>
          </a:ln>
        </p:spPr>
      </p:sp>
      <p:sp>
        <p:nvSpPr>
          <p:cNvPr id="12" name="Text 9"/>
          <p:cNvSpPr txBox="1"/>
          <p:nvPr/>
        </p:nvSpPr>
        <p:spPr>
          <a:xfrm>
            <a:off x="2560320" y="1417320"/>
            <a:ext cx="548640" cy="256032"/>
          </a:xfrm>
          <a:prstGeom prst="rect">
            <a:avLst/>
          </a:prstGeom>
          <a:noFill/>
          <a:ln/>
        </p:spPr>
        <p:txBody>
          <a:bodyPr wrap="square" lIns="0" tIns="0" rIns="0" bIns="0" rtlCol="0" anchor="ctr"/>
          <a:lstStyle/>
          <a:p>
            <a:pPr algn="l" indent="0" marL="0">
              <a:buNone/>
            </a:pPr>
            <a:r>
              <a:rPr lang="en-US" sz="1000" i="1" dirty="0">
                <a:solidFill>
                  <a:srgbClr val="64748B"/>
                </a:solidFill>
              </a:rPr>
              <a:t>pull</a:t>
            </a:r>
            <a:endParaRPr lang="en-US" sz="1000" dirty="0"/>
          </a:p>
        </p:txBody>
      </p:sp>
      <p:sp>
        <p:nvSpPr>
          <p:cNvPr id="13" name="Noeud Cluster EU"/>
          <p:cNvSpPr txBox="1"/>
          <p:nvPr/>
        </p:nvSpPr>
        <p:spPr>
          <a:xfrm>
            <a:off x="731520" y="3383280"/>
            <a:ext cx="2286000" cy="822960"/>
          </a:xfrm>
          <a:prstGeom prst="roundRect">
            <a:avLst>
              <a:gd name="adj" fmla="val 8889"/>
            </a:avLst>
          </a:prstGeom>
          <a:solidFill>
            <a:srgbClr val="0D9488"/>
          </a:solidFill>
          <a:ln/>
        </p:spPr>
        <p:txBody>
          <a:bodyPr wrap="square" lIns="508" tIns="508" rIns="508" bIns="508" rtlCol="0" anchor="ctr"/>
          <a:lstStyle/>
          <a:p>
            <a:pPr algn="ctr" indent="0" marL="0">
              <a:buNone/>
            </a:pPr>
            <a:r>
              <a:rPr lang="en-US" sz="1300" b="1" dirty="0">
                <a:solidFill>
                  <a:srgbClr val="FFFFFF"/>
                </a:solidFill>
              </a:rPr>
              <a:t>Cluster EU</a:t>
            </a:r>
            <a:endParaRPr lang="en-US" sz="1300" dirty="0"/>
          </a:p>
          <a:p>
            <a:pPr algn="ctr" indent="0" marL="0">
              <a:buNone/>
            </a:pPr>
            <a:r>
              <a:rPr lang="en-US" sz="1100" dirty="0">
                <a:solidFill>
                  <a:srgbClr val="FFFFFF"/>
                </a:solidFill>
              </a:rPr>
              <a:t>env=prod</a:t>
            </a:r>
            <a:endParaRPr lang="en-US" sz="1300" dirty="0"/>
          </a:p>
        </p:txBody>
      </p:sp>
      <p:sp>
        <p:nvSpPr>
          <p:cNvPr id="14" name="Noeud Cluster US"/>
          <p:cNvSpPr txBox="1"/>
          <p:nvPr/>
        </p:nvSpPr>
        <p:spPr>
          <a:xfrm>
            <a:off x="3429000" y="3383280"/>
            <a:ext cx="2286000" cy="822960"/>
          </a:xfrm>
          <a:prstGeom prst="roundRect">
            <a:avLst>
              <a:gd name="adj" fmla="val 8889"/>
            </a:avLst>
          </a:prstGeom>
          <a:solidFill>
            <a:srgbClr val="0D9488"/>
          </a:solidFill>
          <a:ln/>
        </p:spPr>
        <p:txBody>
          <a:bodyPr wrap="square" lIns="508" tIns="508" rIns="508" bIns="508" rtlCol="0" anchor="ctr"/>
          <a:lstStyle/>
          <a:p>
            <a:pPr algn="ctr" indent="0" marL="0">
              <a:buNone/>
            </a:pPr>
            <a:r>
              <a:rPr lang="en-US" sz="1300" b="1" dirty="0">
                <a:solidFill>
                  <a:srgbClr val="FFFFFF"/>
                </a:solidFill>
              </a:rPr>
              <a:t>Cluster US</a:t>
            </a:r>
            <a:endParaRPr lang="en-US" sz="1300" dirty="0"/>
          </a:p>
          <a:p>
            <a:pPr algn="ctr" indent="0" marL="0">
              <a:buNone/>
            </a:pPr>
            <a:r>
              <a:rPr lang="en-US" sz="1100" dirty="0">
                <a:solidFill>
                  <a:srgbClr val="FFFFFF"/>
                </a:solidFill>
              </a:rPr>
              <a:t>env=prod</a:t>
            </a:r>
            <a:endParaRPr lang="en-US" sz="1300" dirty="0"/>
          </a:p>
        </p:txBody>
      </p:sp>
      <p:sp>
        <p:nvSpPr>
          <p:cNvPr id="15" name="Noeud Cluster Asie"/>
          <p:cNvSpPr txBox="1"/>
          <p:nvPr/>
        </p:nvSpPr>
        <p:spPr>
          <a:xfrm>
            <a:off x="6126480" y="3383280"/>
            <a:ext cx="2286000" cy="822960"/>
          </a:xfrm>
          <a:prstGeom prst="roundRect">
            <a:avLst>
              <a:gd name="adj" fmla="val 8889"/>
            </a:avLst>
          </a:prstGeom>
          <a:solidFill>
            <a:srgbClr val="0D9488"/>
          </a:solidFill>
          <a:ln/>
        </p:spPr>
        <p:txBody>
          <a:bodyPr wrap="square" lIns="508" tIns="508" rIns="508" bIns="508" rtlCol="0" anchor="ctr"/>
          <a:lstStyle/>
          <a:p>
            <a:pPr algn="ctr" indent="0" marL="0">
              <a:buNone/>
            </a:pPr>
            <a:r>
              <a:rPr lang="en-US" sz="1300" b="1" dirty="0">
                <a:solidFill>
                  <a:srgbClr val="FFFFFF"/>
                </a:solidFill>
              </a:rPr>
              <a:t>Cluster Asie</a:t>
            </a:r>
            <a:endParaRPr lang="en-US" sz="1300" dirty="0"/>
          </a:p>
          <a:p>
            <a:pPr algn="ctr" indent="0" marL="0">
              <a:buNone/>
            </a:pPr>
            <a:r>
              <a:rPr lang="en-US" sz="1100" dirty="0">
                <a:solidFill>
                  <a:srgbClr val="FFFFFF"/>
                </a:solidFill>
              </a:rPr>
              <a:t>env=staging</a:t>
            </a:r>
            <a:endParaRPr lang="en-US" sz="1300" dirty="0"/>
          </a:p>
        </p:txBody>
      </p:sp>
      <p:sp>
        <p:nvSpPr>
          <p:cNvPr id="16" name="Flèche"/>
          <p:cNvSpPr/>
          <p:nvPr/>
        </p:nvSpPr>
        <p:spPr>
          <a:xfrm flipH="1">
            <a:off x="1874520" y="2651760"/>
            <a:ext cx="1965960" cy="731520"/>
          </a:xfrm>
          <a:prstGeom prst="line">
            <a:avLst/>
          </a:prstGeom>
          <a:noFill/>
          <a:ln w="22225">
            <a:solidFill>
              <a:srgbClr val="64748B"/>
            </a:solidFill>
            <a:prstDash val="solid"/>
            <a:tailEnd type="triangle"/>
          </a:ln>
        </p:spPr>
      </p:sp>
      <p:sp>
        <p:nvSpPr>
          <p:cNvPr id="17" name="Flèche"/>
          <p:cNvSpPr/>
          <p:nvPr/>
        </p:nvSpPr>
        <p:spPr>
          <a:xfrm>
            <a:off x="4572000" y="2651760"/>
            <a:ext cx="0" cy="731520"/>
          </a:xfrm>
          <a:prstGeom prst="line">
            <a:avLst/>
          </a:prstGeom>
          <a:noFill/>
          <a:ln w="22225">
            <a:solidFill>
              <a:srgbClr val="64748B"/>
            </a:solidFill>
            <a:prstDash val="solid"/>
            <a:tailEnd type="triangle"/>
          </a:ln>
        </p:spPr>
      </p:sp>
      <p:sp>
        <p:nvSpPr>
          <p:cNvPr id="18" name="Flèche"/>
          <p:cNvSpPr/>
          <p:nvPr/>
        </p:nvSpPr>
        <p:spPr>
          <a:xfrm>
            <a:off x="5303520" y="2651760"/>
            <a:ext cx="1965960" cy="731520"/>
          </a:xfrm>
          <a:prstGeom prst="line">
            <a:avLst/>
          </a:prstGeom>
          <a:noFill/>
          <a:ln w="22225">
            <a:solidFill>
              <a:srgbClr val="64748B"/>
            </a:solidFill>
            <a:prstDash val="solid"/>
            <a:tailEnd type="triangle"/>
          </a:ln>
        </p:spPr>
      </p:sp>
      <p:sp>
        <p:nvSpPr>
          <p:cNvPr id="19" name="Encadré"/>
          <p:cNvSpPr/>
          <p:nvPr/>
        </p:nvSpPr>
        <p:spPr>
          <a:xfrm>
            <a:off x="6400800" y="1234440"/>
            <a:ext cx="2286000" cy="1280160"/>
          </a:xfrm>
          <a:prstGeom prst="roundRect">
            <a:avLst>
              <a:gd name="adj" fmla="val 5714"/>
            </a:avLst>
          </a:prstGeom>
          <a:solidFill>
            <a:srgbClr val="F1F5F9"/>
          </a:solidFill>
          <a:ln/>
        </p:spPr>
      </p:sp>
      <p:sp>
        <p:nvSpPr>
          <p:cNvPr id="20" name="Text 17"/>
          <p:cNvSpPr txBox="1"/>
          <p:nvPr/>
        </p:nvSpPr>
        <p:spPr>
          <a:xfrm>
            <a:off x="6537960" y="1325880"/>
            <a:ext cx="2011680" cy="1097280"/>
          </a:xfrm>
          <a:prstGeom prst="rect">
            <a:avLst/>
          </a:prstGeom>
          <a:noFill/>
          <a:ln/>
        </p:spPr>
        <p:txBody>
          <a:bodyPr wrap="square" lIns="0" tIns="0" rIns="0" bIns="0" rtlCol="0" anchor="ctr"/>
          <a:lstStyle/>
          <a:p>
            <a:pPr indent="0" marL="0">
              <a:buNone/>
            </a:pPr>
            <a:r>
              <a:rPr lang="en-US" sz="1200" dirty="0">
                <a:solidFill>
                  <a:srgbClr val="1E293B"/>
                </a:solidFill>
              </a:rPr>
              <a:t>Un modèle, N clusters : la ressource ApplicationSet crée une Application par cible.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Progressive delivery</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Étape"/>
          <p:cNvSpPr/>
          <p:nvPr/>
        </p:nvSpPr>
        <p:spPr>
          <a:xfrm>
            <a:off x="457200" y="1325880"/>
            <a:ext cx="1933956" cy="731520"/>
          </a:xfrm>
          <a:prstGeom prst="roundRect">
            <a:avLst>
              <a:gd name="adj" fmla="val 10000"/>
            </a:avLst>
          </a:prstGeom>
          <a:solidFill>
            <a:srgbClr val="F97316"/>
          </a:solidFill>
          <a:ln/>
        </p:spPr>
      </p:sp>
      <p:sp>
        <p:nvSpPr>
          <p:cNvPr id="7" name="Text 4"/>
          <p:cNvSpPr txBox="1"/>
          <p:nvPr/>
        </p:nvSpPr>
        <p:spPr>
          <a:xfrm>
            <a:off x="457200" y="1325880"/>
            <a:ext cx="1933956" cy="731520"/>
          </a:xfrm>
          <a:prstGeom prst="rect">
            <a:avLst/>
          </a:prstGeom>
          <a:noFill/>
          <a:ln/>
        </p:spPr>
        <p:txBody>
          <a:bodyPr wrap="square" lIns="508" tIns="508" rIns="508" bIns="508" rtlCol="0" anchor="ctr"/>
          <a:lstStyle/>
          <a:p>
            <a:pPr algn="ctr" indent="0" marL="0">
              <a:buNone/>
            </a:pPr>
            <a:r>
              <a:rPr lang="en-US" sz="2000" b="1" dirty="0">
                <a:solidFill>
                  <a:srgbClr val="FFFFFF"/>
                </a:solidFill>
              </a:rPr>
              <a:t>5 %</a:t>
            </a:r>
            <a:endParaRPr lang="en-US" sz="2000" dirty="0"/>
          </a:p>
        </p:txBody>
      </p:sp>
      <p:sp>
        <p:nvSpPr>
          <p:cNvPr id="8" name="Text 5"/>
          <p:cNvSpPr txBox="1"/>
          <p:nvPr/>
        </p:nvSpPr>
        <p:spPr>
          <a:xfrm>
            <a:off x="2372868" y="132588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9" name="Étape"/>
          <p:cNvSpPr/>
          <p:nvPr/>
        </p:nvSpPr>
        <p:spPr>
          <a:xfrm>
            <a:off x="2555748" y="1325880"/>
            <a:ext cx="1933956" cy="731520"/>
          </a:xfrm>
          <a:prstGeom prst="roundRect">
            <a:avLst>
              <a:gd name="adj" fmla="val 10000"/>
            </a:avLst>
          </a:prstGeom>
          <a:solidFill>
            <a:srgbClr val="F97316"/>
          </a:solidFill>
          <a:ln/>
        </p:spPr>
      </p:sp>
      <p:sp>
        <p:nvSpPr>
          <p:cNvPr id="10" name="Text 7"/>
          <p:cNvSpPr txBox="1"/>
          <p:nvPr/>
        </p:nvSpPr>
        <p:spPr>
          <a:xfrm>
            <a:off x="2555748" y="1325880"/>
            <a:ext cx="1933956" cy="731520"/>
          </a:xfrm>
          <a:prstGeom prst="rect">
            <a:avLst/>
          </a:prstGeom>
          <a:noFill/>
          <a:ln/>
        </p:spPr>
        <p:txBody>
          <a:bodyPr wrap="square" lIns="508" tIns="508" rIns="508" bIns="508" rtlCol="0" anchor="ctr"/>
          <a:lstStyle/>
          <a:p>
            <a:pPr algn="ctr" indent="0" marL="0">
              <a:buNone/>
            </a:pPr>
            <a:r>
              <a:rPr lang="en-US" sz="2000" b="1" dirty="0">
                <a:solidFill>
                  <a:srgbClr val="FFFFFF"/>
                </a:solidFill>
              </a:rPr>
              <a:t>25 %</a:t>
            </a:r>
            <a:endParaRPr lang="en-US" sz="2000" dirty="0"/>
          </a:p>
        </p:txBody>
      </p:sp>
      <p:sp>
        <p:nvSpPr>
          <p:cNvPr id="11" name="Text 8"/>
          <p:cNvSpPr txBox="1"/>
          <p:nvPr/>
        </p:nvSpPr>
        <p:spPr>
          <a:xfrm>
            <a:off x="4471416" y="132588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2" name="Étape"/>
          <p:cNvSpPr/>
          <p:nvPr/>
        </p:nvSpPr>
        <p:spPr>
          <a:xfrm>
            <a:off x="4654296" y="1325880"/>
            <a:ext cx="1933956" cy="731520"/>
          </a:xfrm>
          <a:prstGeom prst="roundRect">
            <a:avLst>
              <a:gd name="adj" fmla="val 10000"/>
            </a:avLst>
          </a:prstGeom>
          <a:solidFill>
            <a:srgbClr val="F97316"/>
          </a:solidFill>
          <a:ln/>
        </p:spPr>
      </p:sp>
      <p:sp>
        <p:nvSpPr>
          <p:cNvPr id="13" name="Text 10"/>
          <p:cNvSpPr txBox="1"/>
          <p:nvPr/>
        </p:nvSpPr>
        <p:spPr>
          <a:xfrm>
            <a:off x="4654296" y="1325880"/>
            <a:ext cx="1933956" cy="731520"/>
          </a:xfrm>
          <a:prstGeom prst="rect">
            <a:avLst/>
          </a:prstGeom>
          <a:noFill/>
          <a:ln/>
        </p:spPr>
        <p:txBody>
          <a:bodyPr wrap="square" lIns="508" tIns="508" rIns="508" bIns="508" rtlCol="0" anchor="ctr"/>
          <a:lstStyle/>
          <a:p>
            <a:pPr algn="ctr" indent="0" marL="0">
              <a:buNone/>
            </a:pPr>
            <a:r>
              <a:rPr lang="en-US" sz="2000" b="1" dirty="0">
                <a:solidFill>
                  <a:srgbClr val="FFFFFF"/>
                </a:solidFill>
              </a:rPr>
              <a:t>50 %</a:t>
            </a:r>
            <a:endParaRPr lang="en-US" sz="2000" dirty="0"/>
          </a:p>
        </p:txBody>
      </p:sp>
      <p:sp>
        <p:nvSpPr>
          <p:cNvPr id="14" name="Text 11"/>
          <p:cNvSpPr txBox="1"/>
          <p:nvPr/>
        </p:nvSpPr>
        <p:spPr>
          <a:xfrm>
            <a:off x="6569964" y="1325880"/>
            <a:ext cx="201168" cy="731520"/>
          </a:xfrm>
          <a:prstGeom prst="rect">
            <a:avLst/>
          </a:prstGeom>
          <a:noFill/>
          <a:ln/>
        </p:spPr>
        <p:txBody>
          <a:bodyPr wrap="square" lIns="0" tIns="0" rIns="0" bIns="0" rtlCol="0" anchor="ctr"/>
          <a:lstStyle/>
          <a:p>
            <a:pPr algn="ctr" indent="0" marL="0">
              <a:buNone/>
            </a:pPr>
            <a:r>
              <a:rPr lang="en-US" sz="1800" b="1" dirty="0">
                <a:solidFill>
                  <a:srgbClr val="64748B"/>
                </a:solidFill>
              </a:rPr>
              <a:t>›</a:t>
            </a:r>
            <a:endParaRPr lang="en-US" sz="1800" dirty="0"/>
          </a:p>
        </p:txBody>
      </p:sp>
      <p:sp>
        <p:nvSpPr>
          <p:cNvPr id="15" name="Étape"/>
          <p:cNvSpPr/>
          <p:nvPr/>
        </p:nvSpPr>
        <p:spPr>
          <a:xfrm>
            <a:off x="6752844" y="1325880"/>
            <a:ext cx="1933956" cy="731520"/>
          </a:xfrm>
          <a:prstGeom prst="roundRect">
            <a:avLst>
              <a:gd name="adj" fmla="val 10000"/>
            </a:avLst>
          </a:prstGeom>
          <a:solidFill>
            <a:srgbClr val="F97316"/>
          </a:solidFill>
          <a:ln/>
        </p:spPr>
      </p:sp>
      <p:sp>
        <p:nvSpPr>
          <p:cNvPr id="16" name="Text 13"/>
          <p:cNvSpPr txBox="1"/>
          <p:nvPr/>
        </p:nvSpPr>
        <p:spPr>
          <a:xfrm>
            <a:off x="6752844" y="1325880"/>
            <a:ext cx="1933956" cy="731520"/>
          </a:xfrm>
          <a:prstGeom prst="rect">
            <a:avLst/>
          </a:prstGeom>
          <a:noFill/>
          <a:ln/>
        </p:spPr>
        <p:txBody>
          <a:bodyPr wrap="square" lIns="508" tIns="508" rIns="508" bIns="508" rtlCol="0" anchor="ctr"/>
          <a:lstStyle/>
          <a:p>
            <a:pPr algn="ctr" indent="0" marL="0">
              <a:buNone/>
            </a:pPr>
            <a:r>
              <a:rPr lang="en-US" sz="2000" b="1" dirty="0">
                <a:solidFill>
                  <a:srgbClr val="FFFFFF"/>
                </a:solidFill>
              </a:rPr>
              <a:t>100 %</a:t>
            </a:r>
            <a:endParaRPr lang="en-US" sz="2000" dirty="0"/>
          </a:p>
        </p:txBody>
      </p:sp>
      <p:sp>
        <p:nvSpPr>
          <p:cNvPr id="17" name="Text 14"/>
          <p:cNvSpPr txBox="1"/>
          <p:nvPr/>
        </p:nvSpPr>
        <p:spPr>
          <a:xfrm>
            <a:off x="457200" y="2148840"/>
            <a:ext cx="8229600" cy="457200"/>
          </a:xfrm>
          <a:prstGeom prst="rect">
            <a:avLst/>
          </a:prstGeom>
          <a:noFill/>
          <a:ln/>
        </p:spPr>
        <p:txBody>
          <a:bodyPr wrap="square" lIns="0" tIns="0" rIns="0" bIns="0" rtlCol="0" anchor="ctr"/>
          <a:lstStyle/>
          <a:p>
            <a:pPr algn="ctr" indent="0" marL="0">
              <a:buNone/>
            </a:pPr>
            <a:r>
              <a:rPr lang="en-US" sz="1500" dirty="0">
                <a:solidFill>
                  <a:srgbClr val="64748B"/>
                </a:solidFill>
              </a:rPr>
              <a:t>Analyse automatique des métriques (Prometheus) entre chaque palier</a:t>
            </a:r>
            <a:endParaRPr lang="en-US" sz="1500" dirty="0"/>
          </a:p>
        </p:txBody>
      </p:sp>
      <p:sp>
        <p:nvSpPr>
          <p:cNvPr id="18" name="Carte"/>
          <p:cNvSpPr/>
          <p:nvPr/>
        </p:nvSpPr>
        <p:spPr>
          <a:xfrm>
            <a:off x="457200" y="2788920"/>
            <a:ext cx="4023360" cy="1737360"/>
          </a:xfrm>
          <a:prstGeom prst="roundRect">
            <a:avLst>
              <a:gd name="adj" fmla="val 4211"/>
            </a:avLst>
          </a:prstGeom>
          <a:solidFill>
            <a:srgbClr val="F1F5F9"/>
          </a:solidFill>
          <a:ln/>
        </p:spPr>
      </p:sp>
      <p:sp>
        <p:nvSpPr>
          <p:cNvPr id="19" name="Pastille"/>
          <p:cNvSpPr/>
          <p:nvPr/>
        </p:nvSpPr>
        <p:spPr>
          <a:xfrm>
            <a:off x="594360" y="2926080"/>
            <a:ext cx="457200" cy="457200"/>
          </a:xfrm>
          <a:prstGeom prst="ellipse">
            <a:avLst/>
          </a:prstGeom>
          <a:solidFill>
            <a:srgbClr val="F97316"/>
          </a:solidFill>
          <a:ln/>
        </p:spPr>
      </p:sp>
      <p:pic>
        <p:nvPicPr>
          <p:cNvPr id="20" name="Image 0" descr="Argo Rollouts">    </p:cNvPr>
          <p:cNvPicPr>
            <a:picLocks noChangeAspect="1"/>
          </p:cNvPicPr>
          <p:nvPr/>
        </p:nvPicPr>
        <p:blipFill>
          <a:blip r:embed="rId1"/>
          <a:stretch>
            <a:fillRect/>
          </a:stretch>
        </p:blipFill>
        <p:spPr>
          <a:xfrm>
            <a:off x="704088" y="3035808"/>
            <a:ext cx="237744" cy="237744"/>
          </a:xfrm>
          <a:prstGeom prst="rect">
            <a:avLst/>
          </a:prstGeom>
        </p:spPr>
      </p:pic>
      <p:sp>
        <p:nvSpPr>
          <p:cNvPr id="21" name="Text 17"/>
          <p:cNvSpPr txBox="1"/>
          <p:nvPr/>
        </p:nvSpPr>
        <p:spPr>
          <a:xfrm>
            <a:off x="594360" y="3474720"/>
            <a:ext cx="3749040" cy="365760"/>
          </a:xfrm>
          <a:prstGeom prst="rect">
            <a:avLst/>
          </a:prstGeom>
          <a:noFill/>
          <a:ln/>
        </p:spPr>
        <p:txBody>
          <a:bodyPr wrap="square" lIns="0" tIns="0" rIns="0" bIns="0" rtlCol="0" anchor="ctr"/>
          <a:lstStyle/>
          <a:p>
            <a:pPr indent="0" marL="0">
              <a:buNone/>
            </a:pPr>
            <a:r>
              <a:rPr lang="en-US" sz="1500" b="1" dirty="0">
                <a:solidFill>
                  <a:srgbClr val="0F172A"/>
                </a:solidFill>
              </a:rPr>
              <a:t>Argo Rollouts</a:t>
            </a:r>
            <a:endParaRPr lang="en-US" sz="1500" dirty="0"/>
          </a:p>
        </p:txBody>
      </p:sp>
      <p:sp>
        <p:nvSpPr>
          <p:cNvPr id="22" name="Text 18"/>
          <p:cNvSpPr txBox="1"/>
          <p:nvPr/>
        </p:nvSpPr>
        <p:spPr>
          <a:xfrm>
            <a:off x="594360" y="3858768"/>
            <a:ext cx="3749040" cy="59436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Remplace Deployment par Rollout : canary, blue-green, analyses, intégration ingress / service mesh.</a:t>
            </a:r>
            <a:endParaRPr lang="en-US" sz="1300" dirty="0"/>
          </a:p>
        </p:txBody>
      </p:sp>
      <p:sp>
        <p:nvSpPr>
          <p:cNvPr id="23" name="Carte"/>
          <p:cNvSpPr/>
          <p:nvPr/>
        </p:nvSpPr>
        <p:spPr>
          <a:xfrm>
            <a:off x="4663440" y="2788920"/>
            <a:ext cx="4023360" cy="1737360"/>
          </a:xfrm>
          <a:prstGeom prst="roundRect">
            <a:avLst>
              <a:gd name="adj" fmla="val 4211"/>
            </a:avLst>
          </a:prstGeom>
          <a:solidFill>
            <a:srgbClr val="F1F5F9"/>
          </a:solidFill>
          <a:ln/>
        </p:spPr>
      </p:sp>
      <p:sp>
        <p:nvSpPr>
          <p:cNvPr id="24" name="Pastille"/>
          <p:cNvSpPr/>
          <p:nvPr/>
        </p:nvSpPr>
        <p:spPr>
          <a:xfrm>
            <a:off x="4800600" y="2926080"/>
            <a:ext cx="457200" cy="457200"/>
          </a:xfrm>
          <a:prstGeom prst="ellipse">
            <a:avLst/>
          </a:prstGeom>
          <a:solidFill>
            <a:srgbClr val="0EA5E9"/>
          </a:solidFill>
          <a:ln/>
        </p:spPr>
      </p:sp>
      <p:pic>
        <p:nvPicPr>
          <p:cNvPr id="25" name="Image 1" descr="Flagger">    </p:cNvPr>
          <p:cNvPicPr>
            <a:picLocks noChangeAspect="1"/>
          </p:cNvPicPr>
          <p:nvPr/>
        </p:nvPicPr>
        <p:blipFill>
          <a:blip r:embed="rId2"/>
          <a:stretch>
            <a:fillRect/>
          </a:stretch>
        </p:blipFill>
        <p:spPr>
          <a:xfrm>
            <a:off x="4910328" y="3035808"/>
            <a:ext cx="237744" cy="237744"/>
          </a:xfrm>
          <a:prstGeom prst="rect">
            <a:avLst/>
          </a:prstGeom>
        </p:spPr>
      </p:pic>
      <p:sp>
        <p:nvSpPr>
          <p:cNvPr id="26" name="Text 21"/>
          <p:cNvSpPr txBox="1"/>
          <p:nvPr/>
        </p:nvSpPr>
        <p:spPr>
          <a:xfrm>
            <a:off x="4800600" y="3474720"/>
            <a:ext cx="3749040" cy="365760"/>
          </a:xfrm>
          <a:prstGeom prst="rect">
            <a:avLst/>
          </a:prstGeom>
          <a:noFill/>
          <a:ln/>
        </p:spPr>
        <p:txBody>
          <a:bodyPr wrap="square" lIns="0" tIns="0" rIns="0" bIns="0" rtlCol="0" anchor="ctr"/>
          <a:lstStyle/>
          <a:p>
            <a:pPr indent="0" marL="0">
              <a:buNone/>
            </a:pPr>
            <a:r>
              <a:rPr lang="en-US" sz="1500" b="1" dirty="0">
                <a:solidFill>
                  <a:srgbClr val="0F172A"/>
                </a:solidFill>
              </a:rPr>
              <a:t>Flagger</a:t>
            </a:r>
            <a:endParaRPr lang="en-US" sz="1500" dirty="0"/>
          </a:p>
        </p:txBody>
      </p:sp>
      <p:sp>
        <p:nvSpPr>
          <p:cNvPr id="27" name="Text 22"/>
          <p:cNvSpPr txBox="1"/>
          <p:nvPr/>
        </p:nvSpPr>
        <p:spPr>
          <a:xfrm>
            <a:off x="4800600" y="3858768"/>
            <a:ext cx="3749040" cy="59436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Contrôleur de progressive delivery pour Flux, Istio, Linkerd, NGINX.</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Schéma : canary piloté par métriques</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Noeud Utilisateurs"/>
          <p:cNvSpPr txBox="1"/>
          <p:nvPr/>
        </p:nvSpPr>
        <p:spPr>
          <a:xfrm>
            <a:off x="457200" y="2011680"/>
            <a:ext cx="1188720" cy="731520"/>
          </a:xfrm>
          <a:prstGeom prst="roundRect">
            <a:avLst>
              <a:gd name="adj" fmla="val 10000"/>
            </a:avLst>
          </a:prstGeom>
          <a:solidFill>
            <a:srgbClr val="0D9488"/>
          </a:solidFill>
          <a:ln/>
        </p:spPr>
        <p:txBody>
          <a:bodyPr wrap="square" lIns="508" tIns="508" rIns="508" bIns="508" rtlCol="0" anchor="ctr"/>
          <a:lstStyle/>
          <a:p>
            <a:pPr algn="ctr" indent="0" marL="0">
              <a:buNone/>
            </a:pPr>
            <a:r>
              <a:rPr lang="en-US" sz="1200" b="1" dirty="0">
                <a:solidFill>
                  <a:srgbClr val="FFFFFF"/>
                </a:solidFill>
              </a:rPr>
              <a:t>Utilisateurs</a:t>
            </a:r>
            <a:endParaRPr lang="en-US" sz="1200" dirty="0"/>
          </a:p>
        </p:txBody>
      </p:sp>
      <p:sp>
        <p:nvSpPr>
          <p:cNvPr id="7" name="Noeud Ingress"/>
          <p:cNvSpPr txBox="1"/>
          <p:nvPr/>
        </p:nvSpPr>
        <p:spPr>
          <a:xfrm>
            <a:off x="2103120" y="2011680"/>
            <a:ext cx="1463040" cy="731520"/>
          </a:xfrm>
          <a:prstGeom prst="roundRect">
            <a:avLst>
              <a:gd name="adj" fmla="val 10000"/>
            </a:avLst>
          </a:prstGeom>
          <a:solidFill>
            <a:srgbClr val="0F172A"/>
          </a:solidFill>
          <a:ln/>
        </p:spPr>
        <p:txBody>
          <a:bodyPr wrap="square" lIns="508" tIns="508" rIns="508" bIns="508" rtlCol="0" anchor="ctr"/>
          <a:lstStyle/>
          <a:p>
            <a:pPr algn="ctr" indent="0" marL="0">
              <a:buNone/>
            </a:pPr>
            <a:r>
              <a:rPr lang="en-US" sz="1300" b="1" dirty="0">
                <a:solidFill>
                  <a:srgbClr val="FFFFFF"/>
                </a:solidFill>
              </a:rPr>
              <a:t>Ingress</a:t>
            </a:r>
            <a:endParaRPr lang="en-US" sz="1300" dirty="0"/>
          </a:p>
          <a:p>
            <a:pPr algn="ctr" indent="0" marL="0">
              <a:buNone/>
            </a:pPr>
            <a:r>
              <a:rPr lang="en-US" sz="1100" dirty="0">
                <a:solidFill>
                  <a:srgbClr val="FFFFFF"/>
                </a:solidFill>
              </a:rPr>
              <a:t>ou service mesh</a:t>
            </a:r>
            <a:endParaRPr lang="en-US" sz="1300" dirty="0"/>
          </a:p>
        </p:txBody>
      </p:sp>
      <p:sp>
        <p:nvSpPr>
          <p:cNvPr id="8" name="Flèche"/>
          <p:cNvSpPr/>
          <p:nvPr/>
        </p:nvSpPr>
        <p:spPr>
          <a:xfrm>
            <a:off x="1645920" y="2377440"/>
            <a:ext cx="457200" cy="0"/>
          </a:xfrm>
          <a:prstGeom prst="line">
            <a:avLst/>
          </a:prstGeom>
          <a:noFill/>
          <a:ln w="22225">
            <a:solidFill>
              <a:srgbClr val="64748B"/>
            </a:solidFill>
            <a:prstDash val="solid"/>
            <a:tailEnd type="triangle"/>
          </a:ln>
        </p:spPr>
      </p:sp>
      <p:sp>
        <p:nvSpPr>
          <p:cNvPr id="9" name="Noeud Version stable"/>
          <p:cNvSpPr txBox="1"/>
          <p:nvPr/>
        </p:nvSpPr>
        <p:spPr>
          <a:xfrm>
            <a:off x="4572000" y="1234440"/>
            <a:ext cx="1828800" cy="731520"/>
          </a:xfrm>
          <a:prstGeom prst="roundRect">
            <a:avLst>
              <a:gd name="adj" fmla="val 10000"/>
            </a:avLst>
          </a:prstGeom>
          <a:solidFill>
            <a:srgbClr val="64748B"/>
          </a:solidFill>
          <a:ln/>
        </p:spPr>
        <p:txBody>
          <a:bodyPr wrap="square" lIns="508" tIns="508" rIns="508" bIns="508" rtlCol="0" anchor="ctr"/>
          <a:lstStyle/>
          <a:p>
            <a:pPr algn="ctr" indent="0" marL="0">
              <a:buNone/>
            </a:pPr>
            <a:r>
              <a:rPr lang="en-US" sz="1300" b="1" dirty="0">
                <a:solidFill>
                  <a:srgbClr val="FFFFFF"/>
                </a:solidFill>
              </a:rPr>
              <a:t>Version stable</a:t>
            </a:r>
            <a:endParaRPr lang="en-US" sz="1300" dirty="0"/>
          </a:p>
          <a:p>
            <a:pPr algn="ctr" indent="0" marL="0">
              <a:buNone/>
            </a:pPr>
            <a:r>
              <a:rPr lang="en-US" sz="1100" dirty="0">
                <a:solidFill>
                  <a:srgbClr val="FFFFFF"/>
                </a:solidFill>
              </a:rPr>
              <a:t>v1</a:t>
            </a:r>
            <a:endParaRPr lang="en-US" sz="1300" dirty="0"/>
          </a:p>
        </p:txBody>
      </p:sp>
      <p:sp>
        <p:nvSpPr>
          <p:cNvPr id="10" name="Noeud Version canary"/>
          <p:cNvSpPr txBox="1"/>
          <p:nvPr/>
        </p:nvSpPr>
        <p:spPr>
          <a:xfrm>
            <a:off x="4572000" y="2788920"/>
            <a:ext cx="1828800" cy="731520"/>
          </a:xfrm>
          <a:prstGeom prst="roundRect">
            <a:avLst>
              <a:gd name="adj" fmla="val 10000"/>
            </a:avLst>
          </a:prstGeom>
          <a:solidFill>
            <a:srgbClr val="F97316"/>
          </a:solidFill>
          <a:ln/>
        </p:spPr>
        <p:txBody>
          <a:bodyPr wrap="square" lIns="508" tIns="508" rIns="508" bIns="508" rtlCol="0" anchor="ctr"/>
          <a:lstStyle/>
          <a:p>
            <a:pPr algn="ctr" indent="0" marL="0">
              <a:buNone/>
            </a:pPr>
            <a:r>
              <a:rPr lang="en-US" sz="1300" b="1" dirty="0">
                <a:solidFill>
                  <a:srgbClr val="FFFFFF"/>
                </a:solidFill>
              </a:rPr>
              <a:t>Version canary</a:t>
            </a:r>
            <a:endParaRPr lang="en-US" sz="1300" dirty="0"/>
          </a:p>
          <a:p>
            <a:pPr algn="ctr" indent="0" marL="0">
              <a:buNone/>
            </a:pPr>
            <a:r>
              <a:rPr lang="en-US" sz="1100" dirty="0">
                <a:solidFill>
                  <a:srgbClr val="FFFFFF"/>
                </a:solidFill>
              </a:rPr>
              <a:t>v2</a:t>
            </a:r>
            <a:endParaRPr lang="en-US" sz="1300" dirty="0"/>
          </a:p>
        </p:txBody>
      </p:sp>
      <p:sp>
        <p:nvSpPr>
          <p:cNvPr id="11" name="Flèche"/>
          <p:cNvSpPr/>
          <p:nvPr/>
        </p:nvSpPr>
        <p:spPr>
          <a:xfrm flipV="1">
            <a:off x="3566160" y="1600200"/>
            <a:ext cx="1005840" cy="594360"/>
          </a:xfrm>
          <a:prstGeom prst="line">
            <a:avLst/>
          </a:prstGeom>
          <a:noFill/>
          <a:ln w="22225">
            <a:solidFill>
              <a:srgbClr val="64748B"/>
            </a:solidFill>
            <a:prstDash val="solid"/>
            <a:tailEnd type="triangle"/>
          </a:ln>
        </p:spPr>
      </p:sp>
      <p:sp>
        <p:nvSpPr>
          <p:cNvPr id="12" name="Text 9"/>
          <p:cNvSpPr txBox="1"/>
          <p:nvPr/>
        </p:nvSpPr>
        <p:spPr>
          <a:xfrm>
            <a:off x="3657600" y="1554480"/>
            <a:ext cx="548640" cy="256032"/>
          </a:xfrm>
          <a:prstGeom prst="rect">
            <a:avLst/>
          </a:prstGeom>
          <a:noFill/>
          <a:ln/>
        </p:spPr>
        <p:txBody>
          <a:bodyPr wrap="square" lIns="0" tIns="0" rIns="0" bIns="0" rtlCol="0" anchor="ctr"/>
          <a:lstStyle/>
          <a:p>
            <a:pPr algn="l" indent="0" marL="0">
              <a:buNone/>
            </a:pPr>
            <a:r>
              <a:rPr lang="en-US" sz="1000" i="1" dirty="0">
                <a:solidFill>
                  <a:srgbClr val="64748B"/>
                </a:solidFill>
              </a:rPr>
              <a:t>80 %</a:t>
            </a:r>
            <a:endParaRPr lang="en-US" sz="1000" dirty="0"/>
          </a:p>
        </p:txBody>
      </p:sp>
      <p:sp>
        <p:nvSpPr>
          <p:cNvPr id="13" name="Flèche"/>
          <p:cNvSpPr/>
          <p:nvPr/>
        </p:nvSpPr>
        <p:spPr>
          <a:xfrm>
            <a:off x="3566160" y="2606040"/>
            <a:ext cx="1005840" cy="548640"/>
          </a:xfrm>
          <a:prstGeom prst="line">
            <a:avLst/>
          </a:prstGeom>
          <a:noFill/>
          <a:ln w="22225">
            <a:solidFill>
              <a:srgbClr val="64748B"/>
            </a:solidFill>
            <a:prstDash val="solid"/>
            <a:tailEnd type="triangle"/>
          </a:ln>
        </p:spPr>
      </p:sp>
      <p:sp>
        <p:nvSpPr>
          <p:cNvPr id="14" name="Text 11"/>
          <p:cNvSpPr txBox="1"/>
          <p:nvPr/>
        </p:nvSpPr>
        <p:spPr>
          <a:xfrm>
            <a:off x="3657600" y="3063240"/>
            <a:ext cx="548640" cy="256032"/>
          </a:xfrm>
          <a:prstGeom prst="rect">
            <a:avLst/>
          </a:prstGeom>
          <a:noFill/>
          <a:ln/>
        </p:spPr>
        <p:txBody>
          <a:bodyPr wrap="square" lIns="0" tIns="0" rIns="0" bIns="0" rtlCol="0" anchor="ctr"/>
          <a:lstStyle/>
          <a:p>
            <a:pPr algn="l" indent="0" marL="0">
              <a:buNone/>
            </a:pPr>
            <a:r>
              <a:rPr lang="en-US" sz="1000" i="1" dirty="0">
                <a:solidFill>
                  <a:srgbClr val="64748B"/>
                </a:solidFill>
              </a:rPr>
              <a:t>20 %</a:t>
            </a:r>
            <a:endParaRPr lang="en-US" sz="1000" dirty="0"/>
          </a:p>
        </p:txBody>
      </p:sp>
      <p:sp>
        <p:nvSpPr>
          <p:cNvPr id="15" name="Noeud Prometheus"/>
          <p:cNvSpPr txBox="1"/>
          <p:nvPr/>
        </p:nvSpPr>
        <p:spPr>
          <a:xfrm>
            <a:off x="7040880" y="2011680"/>
            <a:ext cx="1645920" cy="731520"/>
          </a:xfrm>
          <a:prstGeom prst="roundRect">
            <a:avLst>
              <a:gd name="adj" fmla="val 10000"/>
            </a:avLst>
          </a:prstGeom>
          <a:solidFill>
            <a:srgbClr val="7C3AED"/>
          </a:solidFill>
          <a:ln/>
        </p:spPr>
        <p:txBody>
          <a:bodyPr wrap="square" lIns="508" tIns="508" rIns="508" bIns="508" rtlCol="0" anchor="ctr"/>
          <a:lstStyle/>
          <a:p>
            <a:pPr algn="ctr" indent="0" marL="0">
              <a:buNone/>
            </a:pPr>
            <a:r>
              <a:rPr lang="en-US" sz="1300" b="1" dirty="0">
                <a:solidFill>
                  <a:srgbClr val="FFFFFF"/>
                </a:solidFill>
              </a:rPr>
              <a:t>Prometheus</a:t>
            </a:r>
            <a:endParaRPr lang="en-US" sz="1300" dirty="0"/>
          </a:p>
        </p:txBody>
      </p:sp>
      <p:sp>
        <p:nvSpPr>
          <p:cNvPr id="16" name="Flèche"/>
          <p:cNvSpPr/>
          <p:nvPr/>
        </p:nvSpPr>
        <p:spPr>
          <a:xfrm>
            <a:off x="6400800" y="1600200"/>
            <a:ext cx="640080" cy="640080"/>
          </a:xfrm>
          <a:prstGeom prst="line">
            <a:avLst/>
          </a:prstGeom>
          <a:noFill/>
          <a:ln w="22225">
            <a:solidFill>
              <a:srgbClr val="64748B"/>
            </a:solidFill>
            <a:prstDash val="solid"/>
            <a:tailEnd type="triangle"/>
          </a:ln>
        </p:spPr>
      </p:sp>
      <p:sp>
        <p:nvSpPr>
          <p:cNvPr id="17" name="Flèche"/>
          <p:cNvSpPr/>
          <p:nvPr/>
        </p:nvSpPr>
        <p:spPr>
          <a:xfrm flipV="1">
            <a:off x="6400800" y="2697480"/>
            <a:ext cx="640080" cy="457200"/>
          </a:xfrm>
          <a:prstGeom prst="line">
            <a:avLst/>
          </a:prstGeom>
          <a:noFill/>
          <a:ln w="22225">
            <a:solidFill>
              <a:srgbClr val="64748B"/>
            </a:solidFill>
            <a:prstDash val="solid"/>
            <a:tailEnd type="triangle"/>
          </a:ln>
        </p:spPr>
      </p:sp>
      <p:sp>
        <p:nvSpPr>
          <p:cNvPr id="18" name="Noeud Argo Rollouts"/>
          <p:cNvSpPr txBox="1"/>
          <p:nvPr/>
        </p:nvSpPr>
        <p:spPr>
          <a:xfrm>
            <a:off x="5760720" y="3886200"/>
            <a:ext cx="2926080" cy="640080"/>
          </a:xfrm>
          <a:prstGeom prst="roundRect">
            <a:avLst>
              <a:gd name="adj" fmla="val 11429"/>
            </a:avLst>
          </a:prstGeom>
          <a:solidFill>
            <a:srgbClr val="0EA5E9"/>
          </a:solidFill>
          <a:ln/>
        </p:spPr>
        <p:txBody>
          <a:bodyPr wrap="square" lIns="508" tIns="508" rIns="508" bIns="508" rtlCol="0" anchor="ctr"/>
          <a:lstStyle/>
          <a:p>
            <a:pPr algn="ctr" indent="0" marL="0">
              <a:buNone/>
            </a:pPr>
            <a:r>
              <a:rPr lang="en-US" sz="1300" b="1" dirty="0">
                <a:solidFill>
                  <a:srgbClr val="FFFFFF"/>
                </a:solidFill>
              </a:rPr>
              <a:t>Argo Rollouts</a:t>
            </a:r>
            <a:endParaRPr lang="en-US" sz="1300" dirty="0"/>
          </a:p>
          <a:p>
            <a:pPr algn="ctr" indent="0" marL="0">
              <a:buNone/>
            </a:pPr>
            <a:r>
              <a:rPr lang="en-US" sz="1100" dirty="0">
                <a:solidFill>
                  <a:srgbClr val="FFFFFF"/>
                </a:solidFill>
              </a:rPr>
              <a:t>analyse puis décide</a:t>
            </a:r>
            <a:endParaRPr lang="en-US" sz="1300" dirty="0"/>
          </a:p>
        </p:txBody>
      </p:sp>
      <p:sp>
        <p:nvSpPr>
          <p:cNvPr id="19" name="Flèche"/>
          <p:cNvSpPr/>
          <p:nvPr/>
        </p:nvSpPr>
        <p:spPr>
          <a:xfrm>
            <a:off x="7863840" y="2743200"/>
            <a:ext cx="0" cy="1143000"/>
          </a:xfrm>
          <a:prstGeom prst="line">
            <a:avLst/>
          </a:prstGeom>
          <a:noFill/>
          <a:ln w="22225">
            <a:solidFill>
              <a:srgbClr val="64748B"/>
            </a:solidFill>
            <a:prstDash val="solid"/>
            <a:tailEnd type="triangle"/>
          </a:ln>
        </p:spPr>
      </p:sp>
      <p:sp>
        <p:nvSpPr>
          <p:cNvPr id="20" name="Text 17"/>
          <p:cNvSpPr txBox="1"/>
          <p:nvPr/>
        </p:nvSpPr>
        <p:spPr>
          <a:xfrm>
            <a:off x="7955280" y="3154680"/>
            <a:ext cx="731520" cy="256032"/>
          </a:xfrm>
          <a:prstGeom prst="rect">
            <a:avLst/>
          </a:prstGeom>
          <a:noFill/>
          <a:ln/>
        </p:spPr>
        <p:txBody>
          <a:bodyPr wrap="square" lIns="0" tIns="0" rIns="0" bIns="0" rtlCol="0" anchor="ctr"/>
          <a:lstStyle/>
          <a:p>
            <a:pPr algn="l" indent="0" marL="0">
              <a:buNone/>
            </a:pPr>
            <a:r>
              <a:rPr lang="en-US" sz="1000" i="1" dirty="0">
                <a:solidFill>
                  <a:srgbClr val="64748B"/>
                </a:solidFill>
              </a:rPr>
              <a:t>analyse</a:t>
            </a:r>
            <a:endParaRPr lang="en-US" sz="1000" dirty="0"/>
          </a:p>
        </p:txBody>
      </p:sp>
      <p:sp>
        <p:nvSpPr>
          <p:cNvPr id="21" name="Flèche"/>
          <p:cNvSpPr/>
          <p:nvPr/>
        </p:nvSpPr>
        <p:spPr>
          <a:xfrm flipH="1">
            <a:off x="2834640" y="4206240"/>
            <a:ext cx="2926080" cy="0"/>
          </a:xfrm>
          <a:prstGeom prst="line">
            <a:avLst/>
          </a:prstGeom>
          <a:noFill/>
          <a:ln w="22225">
            <a:solidFill>
              <a:srgbClr val="64748B"/>
            </a:solidFill>
            <a:prstDash val="solid"/>
          </a:ln>
        </p:spPr>
      </p:sp>
      <p:sp>
        <p:nvSpPr>
          <p:cNvPr id="22" name="Flèche"/>
          <p:cNvSpPr/>
          <p:nvPr/>
        </p:nvSpPr>
        <p:spPr>
          <a:xfrm flipV="1">
            <a:off x="2834640" y="2743200"/>
            <a:ext cx="0" cy="1463040"/>
          </a:xfrm>
          <a:prstGeom prst="line">
            <a:avLst/>
          </a:prstGeom>
          <a:noFill/>
          <a:ln w="22225">
            <a:solidFill>
              <a:srgbClr val="64748B"/>
            </a:solidFill>
            <a:prstDash val="solid"/>
            <a:tailEnd type="triangle"/>
          </a:ln>
        </p:spPr>
      </p:sp>
      <p:sp>
        <p:nvSpPr>
          <p:cNvPr id="23" name="Text 20"/>
          <p:cNvSpPr txBox="1"/>
          <p:nvPr/>
        </p:nvSpPr>
        <p:spPr>
          <a:xfrm>
            <a:off x="2971800" y="3931920"/>
            <a:ext cx="2651760" cy="256032"/>
          </a:xfrm>
          <a:prstGeom prst="rect">
            <a:avLst/>
          </a:prstGeom>
          <a:noFill/>
          <a:ln/>
        </p:spPr>
        <p:txBody>
          <a:bodyPr wrap="square" lIns="0" tIns="0" rIns="0" bIns="0" rtlCol="0" anchor="ctr"/>
          <a:lstStyle/>
          <a:p>
            <a:pPr algn="l" indent="0" marL="0">
              <a:buNone/>
            </a:pPr>
            <a:r>
              <a:rPr lang="en-US" sz="1000" i="1" dirty="0">
                <a:solidFill>
                  <a:srgbClr val="64748B"/>
                </a:solidFill>
              </a:rPr>
              <a:t>ajuste les poids ou annule</a:t>
            </a:r>
            <a:endParaRPr lang="en-US" sz="1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Policy as Code et sécurité de la chaîne</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Carte"/>
          <p:cNvSpPr/>
          <p:nvPr/>
        </p:nvSpPr>
        <p:spPr>
          <a:xfrm>
            <a:off x="457200" y="1280160"/>
            <a:ext cx="2651760" cy="3200400"/>
          </a:xfrm>
          <a:prstGeom prst="roundRect">
            <a:avLst>
              <a:gd name="adj" fmla="val 2759"/>
            </a:avLst>
          </a:prstGeom>
          <a:solidFill>
            <a:srgbClr val="F1F5F9"/>
          </a:solidFill>
          <a:ln/>
        </p:spPr>
      </p:sp>
      <p:sp>
        <p:nvSpPr>
          <p:cNvPr id="7" name="Pastille"/>
          <p:cNvSpPr/>
          <p:nvPr/>
        </p:nvSpPr>
        <p:spPr>
          <a:xfrm>
            <a:off x="594360" y="1417320"/>
            <a:ext cx="457200" cy="457200"/>
          </a:xfrm>
          <a:prstGeom prst="ellipse">
            <a:avLst/>
          </a:prstGeom>
          <a:solidFill>
            <a:srgbClr val="F97316"/>
          </a:solidFill>
          <a:ln/>
        </p:spPr>
      </p:sp>
      <p:pic>
        <p:nvPicPr>
          <p:cNvPr id="8" name="Image 0" descr="Policy as Code">    </p:cNvPr>
          <p:cNvPicPr>
            <a:picLocks noChangeAspect="1"/>
          </p:cNvPicPr>
          <p:nvPr/>
        </p:nvPicPr>
        <p:blipFill>
          <a:blip r:embed="rId1"/>
          <a:stretch>
            <a:fillRect/>
          </a:stretch>
        </p:blipFill>
        <p:spPr>
          <a:xfrm>
            <a:off x="704088" y="1527048"/>
            <a:ext cx="237744" cy="237744"/>
          </a:xfrm>
          <a:prstGeom prst="rect">
            <a:avLst/>
          </a:prstGeom>
        </p:spPr>
      </p:pic>
      <p:sp>
        <p:nvSpPr>
          <p:cNvPr id="9" name="Text 5"/>
          <p:cNvSpPr txBox="1"/>
          <p:nvPr/>
        </p:nvSpPr>
        <p:spPr>
          <a:xfrm>
            <a:off x="594360" y="196596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Policy as Code</a:t>
            </a:r>
            <a:endParaRPr lang="en-US" sz="1500" dirty="0"/>
          </a:p>
        </p:txBody>
      </p:sp>
      <p:sp>
        <p:nvSpPr>
          <p:cNvPr id="10" name="Text 6"/>
          <p:cNvSpPr txBox="1"/>
          <p:nvPr/>
        </p:nvSpPr>
        <p:spPr>
          <a:xfrm>
            <a:off x="594360" y="2350008"/>
            <a:ext cx="2377440" cy="205740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OPA Gatekeeper, Kyverno : refuser les conteneurs root, images non signées, absence de limites de ressources.</a:t>
            </a:r>
            <a:endParaRPr lang="en-US" sz="1300" dirty="0"/>
          </a:p>
        </p:txBody>
      </p:sp>
      <p:sp>
        <p:nvSpPr>
          <p:cNvPr id="11" name="Carte"/>
          <p:cNvSpPr/>
          <p:nvPr/>
        </p:nvSpPr>
        <p:spPr>
          <a:xfrm>
            <a:off x="3246120" y="1280160"/>
            <a:ext cx="2651760" cy="3200400"/>
          </a:xfrm>
          <a:prstGeom prst="roundRect">
            <a:avLst>
              <a:gd name="adj" fmla="val 2759"/>
            </a:avLst>
          </a:prstGeom>
          <a:solidFill>
            <a:srgbClr val="F1F5F9"/>
          </a:solidFill>
          <a:ln/>
        </p:spPr>
      </p:sp>
      <p:sp>
        <p:nvSpPr>
          <p:cNvPr id="12" name="Pastille"/>
          <p:cNvSpPr/>
          <p:nvPr/>
        </p:nvSpPr>
        <p:spPr>
          <a:xfrm>
            <a:off x="3383280" y="1417320"/>
            <a:ext cx="457200" cy="457200"/>
          </a:xfrm>
          <a:prstGeom prst="ellipse">
            <a:avLst/>
          </a:prstGeom>
          <a:solidFill>
            <a:srgbClr val="0EA5E9"/>
          </a:solidFill>
          <a:ln/>
        </p:spPr>
      </p:sp>
      <p:pic>
        <p:nvPicPr>
          <p:cNvPr id="13" name="Image 1" descr="Signature">    </p:cNvPr>
          <p:cNvPicPr>
            <a:picLocks noChangeAspect="1"/>
          </p:cNvPicPr>
          <p:nvPr/>
        </p:nvPicPr>
        <p:blipFill>
          <a:blip r:embed="rId2"/>
          <a:stretch>
            <a:fillRect/>
          </a:stretch>
        </p:blipFill>
        <p:spPr>
          <a:xfrm>
            <a:off x="3493008" y="1527048"/>
            <a:ext cx="237744" cy="237744"/>
          </a:xfrm>
          <a:prstGeom prst="rect">
            <a:avLst/>
          </a:prstGeom>
        </p:spPr>
      </p:pic>
      <p:sp>
        <p:nvSpPr>
          <p:cNvPr id="14" name="Text 9"/>
          <p:cNvSpPr txBox="1"/>
          <p:nvPr/>
        </p:nvSpPr>
        <p:spPr>
          <a:xfrm>
            <a:off x="3383280" y="196596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Signature</a:t>
            </a:r>
            <a:endParaRPr lang="en-US" sz="1500" dirty="0"/>
          </a:p>
        </p:txBody>
      </p:sp>
      <p:sp>
        <p:nvSpPr>
          <p:cNvPr id="15" name="Text 10"/>
          <p:cNvSpPr txBox="1"/>
          <p:nvPr/>
        </p:nvSpPr>
        <p:spPr>
          <a:xfrm>
            <a:off x="3383280" y="2350008"/>
            <a:ext cx="2377440" cy="205740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Cosign / Sigstore : signer les images, vérifier la signature à l'admission.</a:t>
            </a:r>
            <a:endParaRPr lang="en-US" sz="1300" dirty="0"/>
          </a:p>
        </p:txBody>
      </p:sp>
      <p:sp>
        <p:nvSpPr>
          <p:cNvPr id="16" name="Carte"/>
          <p:cNvSpPr/>
          <p:nvPr/>
        </p:nvSpPr>
        <p:spPr>
          <a:xfrm>
            <a:off x="6035040" y="1280160"/>
            <a:ext cx="2651760" cy="3200400"/>
          </a:xfrm>
          <a:prstGeom prst="roundRect">
            <a:avLst>
              <a:gd name="adj" fmla="val 2759"/>
            </a:avLst>
          </a:prstGeom>
          <a:solidFill>
            <a:srgbClr val="F1F5F9"/>
          </a:solidFill>
          <a:ln/>
        </p:spPr>
      </p:sp>
      <p:sp>
        <p:nvSpPr>
          <p:cNvPr id="17" name="Pastille"/>
          <p:cNvSpPr/>
          <p:nvPr/>
        </p:nvSpPr>
        <p:spPr>
          <a:xfrm>
            <a:off x="6172200" y="1417320"/>
            <a:ext cx="457200" cy="457200"/>
          </a:xfrm>
          <a:prstGeom prst="ellipse">
            <a:avLst/>
          </a:prstGeom>
          <a:solidFill>
            <a:srgbClr val="7C3AED"/>
          </a:solidFill>
          <a:ln/>
        </p:spPr>
      </p:sp>
      <p:pic>
        <p:nvPicPr>
          <p:cNvPr id="18" name="Image 2" descr="SBOM et SLSA">    </p:cNvPr>
          <p:cNvPicPr>
            <a:picLocks noChangeAspect="1"/>
          </p:cNvPicPr>
          <p:nvPr/>
        </p:nvPicPr>
        <p:blipFill>
          <a:blip r:embed="rId3"/>
          <a:stretch>
            <a:fillRect/>
          </a:stretch>
        </p:blipFill>
        <p:spPr>
          <a:xfrm>
            <a:off x="6281928" y="1527048"/>
            <a:ext cx="237744" cy="237744"/>
          </a:xfrm>
          <a:prstGeom prst="rect">
            <a:avLst/>
          </a:prstGeom>
        </p:spPr>
      </p:pic>
      <p:sp>
        <p:nvSpPr>
          <p:cNvPr id="19" name="Text 13"/>
          <p:cNvSpPr txBox="1"/>
          <p:nvPr/>
        </p:nvSpPr>
        <p:spPr>
          <a:xfrm>
            <a:off x="6172200" y="1965960"/>
            <a:ext cx="2377440" cy="365760"/>
          </a:xfrm>
          <a:prstGeom prst="rect">
            <a:avLst/>
          </a:prstGeom>
          <a:noFill/>
          <a:ln/>
        </p:spPr>
        <p:txBody>
          <a:bodyPr wrap="square" lIns="0" tIns="0" rIns="0" bIns="0" rtlCol="0" anchor="ctr"/>
          <a:lstStyle/>
          <a:p>
            <a:pPr indent="0" marL="0">
              <a:buNone/>
            </a:pPr>
            <a:r>
              <a:rPr lang="en-US" sz="1500" b="1" dirty="0">
                <a:solidFill>
                  <a:srgbClr val="0F172A"/>
                </a:solidFill>
              </a:rPr>
              <a:t>SBOM et SLSA</a:t>
            </a:r>
            <a:endParaRPr lang="en-US" sz="1500" dirty="0"/>
          </a:p>
        </p:txBody>
      </p:sp>
      <p:sp>
        <p:nvSpPr>
          <p:cNvPr id="20" name="Text 14"/>
          <p:cNvSpPr txBox="1"/>
          <p:nvPr/>
        </p:nvSpPr>
        <p:spPr>
          <a:xfrm>
            <a:off x="6172200" y="2350008"/>
            <a:ext cx="2377440" cy="205740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Inventaire des composants (Syft) et niveaux de provenance du build.</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Platform Engineering</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Text 3"/>
          <p:cNvSpPr txBox="1"/>
          <p:nvPr/>
        </p:nvSpPr>
        <p:spPr>
          <a:xfrm>
            <a:off x="457200" y="1143000"/>
            <a:ext cx="8229600" cy="640080"/>
          </a:xfrm>
          <a:prstGeom prst="rect">
            <a:avLst/>
          </a:prstGeom>
          <a:noFill/>
          <a:ln/>
        </p:spPr>
        <p:txBody>
          <a:bodyPr wrap="square" lIns="0" tIns="0" rIns="0" bIns="0" rtlCol="0" anchor="ctr"/>
          <a:lstStyle/>
          <a:p>
            <a:pPr indent="0" marL="0">
              <a:buNone/>
            </a:pPr>
            <a:r>
              <a:rPr lang="en-US" sz="1800" dirty="0">
                <a:solidFill>
                  <a:srgbClr val="1E293B"/>
                </a:solidFill>
              </a:rPr>
              <a:t>Réduire la charge cognitive des développeurs avec une plateforme interne en libre-service.</a:t>
            </a:r>
            <a:endParaRPr lang="en-US" sz="1800" dirty="0"/>
          </a:p>
        </p:txBody>
      </p:sp>
      <p:sp>
        <p:nvSpPr>
          <p:cNvPr id="7" name="Carte"/>
          <p:cNvSpPr/>
          <p:nvPr/>
        </p:nvSpPr>
        <p:spPr>
          <a:xfrm>
            <a:off x="457200" y="2011680"/>
            <a:ext cx="1938528" cy="2468880"/>
          </a:xfrm>
          <a:prstGeom prst="roundRect">
            <a:avLst>
              <a:gd name="adj" fmla="val 3774"/>
            </a:avLst>
          </a:prstGeom>
          <a:solidFill>
            <a:srgbClr val="F1F5F9"/>
          </a:solidFill>
          <a:ln/>
        </p:spPr>
      </p:sp>
      <p:sp>
        <p:nvSpPr>
          <p:cNvPr id="8" name="Pastille"/>
          <p:cNvSpPr/>
          <p:nvPr/>
        </p:nvSpPr>
        <p:spPr>
          <a:xfrm>
            <a:off x="594360" y="2148840"/>
            <a:ext cx="457200" cy="457200"/>
          </a:xfrm>
          <a:prstGeom prst="ellipse">
            <a:avLst/>
          </a:prstGeom>
          <a:solidFill>
            <a:srgbClr val="0D9488"/>
          </a:solidFill>
          <a:ln/>
        </p:spPr>
      </p:sp>
      <p:pic>
        <p:nvPicPr>
          <p:cNvPr id="9" name="Image 0" descr="Portail">    </p:cNvPr>
          <p:cNvPicPr>
            <a:picLocks noChangeAspect="1"/>
          </p:cNvPicPr>
          <p:nvPr/>
        </p:nvPicPr>
        <p:blipFill>
          <a:blip r:embed="rId1"/>
          <a:stretch>
            <a:fillRect/>
          </a:stretch>
        </p:blipFill>
        <p:spPr>
          <a:xfrm>
            <a:off x="704088" y="2258568"/>
            <a:ext cx="237744" cy="237744"/>
          </a:xfrm>
          <a:prstGeom prst="rect">
            <a:avLst/>
          </a:prstGeom>
        </p:spPr>
      </p:pic>
      <p:sp>
        <p:nvSpPr>
          <p:cNvPr id="10" name="Text 6"/>
          <p:cNvSpPr txBox="1"/>
          <p:nvPr/>
        </p:nvSpPr>
        <p:spPr>
          <a:xfrm>
            <a:off x="594360" y="2697480"/>
            <a:ext cx="1664208" cy="365760"/>
          </a:xfrm>
          <a:prstGeom prst="rect">
            <a:avLst/>
          </a:prstGeom>
          <a:noFill/>
          <a:ln/>
        </p:spPr>
        <p:txBody>
          <a:bodyPr wrap="square" lIns="0" tIns="0" rIns="0" bIns="0" rtlCol="0" anchor="ctr"/>
          <a:lstStyle/>
          <a:p>
            <a:pPr indent="0" marL="0">
              <a:buNone/>
            </a:pPr>
            <a:r>
              <a:rPr lang="en-US" sz="1500" b="1" dirty="0">
                <a:solidFill>
                  <a:srgbClr val="0F172A"/>
                </a:solidFill>
              </a:rPr>
              <a:t>Portail</a:t>
            </a:r>
            <a:endParaRPr lang="en-US" sz="1500" dirty="0"/>
          </a:p>
        </p:txBody>
      </p:sp>
      <p:sp>
        <p:nvSpPr>
          <p:cNvPr id="11" name="Text 7"/>
          <p:cNvSpPr txBox="1"/>
          <p:nvPr/>
        </p:nvSpPr>
        <p:spPr>
          <a:xfrm>
            <a:off x="594360" y="3081528"/>
            <a:ext cx="1664208" cy="132588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Backstage : catalogue, docs, templates</a:t>
            </a:r>
            <a:endParaRPr lang="en-US" sz="1300" dirty="0"/>
          </a:p>
        </p:txBody>
      </p:sp>
      <p:sp>
        <p:nvSpPr>
          <p:cNvPr id="12" name="Carte"/>
          <p:cNvSpPr/>
          <p:nvPr/>
        </p:nvSpPr>
        <p:spPr>
          <a:xfrm>
            <a:off x="2542032" y="2011680"/>
            <a:ext cx="1938528" cy="2468880"/>
          </a:xfrm>
          <a:prstGeom prst="roundRect">
            <a:avLst>
              <a:gd name="adj" fmla="val 3774"/>
            </a:avLst>
          </a:prstGeom>
          <a:solidFill>
            <a:srgbClr val="F1F5F9"/>
          </a:solidFill>
          <a:ln/>
        </p:spPr>
      </p:sp>
      <p:sp>
        <p:nvSpPr>
          <p:cNvPr id="13" name="Pastille"/>
          <p:cNvSpPr/>
          <p:nvPr/>
        </p:nvSpPr>
        <p:spPr>
          <a:xfrm>
            <a:off x="2679192" y="2148840"/>
            <a:ext cx="457200" cy="457200"/>
          </a:xfrm>
          <a:prstGeom prst="ellipse">
            <a:avLst/>
          </a:prstGeom>
          <a:solidFill>
            <a:srgbClr val="0EA5E9"/>
          </a:solidFill>
          <a:ln/>
        </p:spPr>
      </p:sp>
      <p:pic>
        <p:nvPicPr>
          <p:cNvPr id="14" name="Image 1" descr="Golden paths">    </p:cNvPr>
          <p:cNvPicPr>
            <a:picLocks noChangeAspect="1"/>
          </p:cNvPicPr>
          <p:nvPr/>
        </p:nvPicPr>
        <p:blipFill>
          <a:blip r:embed="rId2"/>
          <a:stretch>
            <a:fillRect/>
          </a:stretch>
        </p:blipFill>
        <p:spPr>
          <a:xfrm>
            <a:off x="2788920" y="2258568"/>
            <a:ext cx="237744" cy="237744"/>
          </a:xfrm>
          <a:prstGeom prst="rect">
            <a:avLst/>
          </a:prstGeom>
        </p:spPr>
      </p:pic>
      <p:sp>
        <p:nvSpPr>
          <p:cNvPr id="15" name="Text 10"/>
          <p:cNvSpPr txBox="1"/>
          <p:nvPr/>
        </p:nvSpPr>
        <p:spPr>
          <a:xfrm>
            <a:off x="2679192" y="2697480"/>
            <a:ext cx="1664208" cy="365760"/>
          </a:xfrm>
          <a:prstGeom prst="rect">
            <a:avLst/>
          </a:prstGeom>
          <a:noFill/>
          <a:ln/>
        </p:spPr>
        <p:txBody>
          <a:bodyPr wrap="square" lIns="0" tIns="0" rIns="0" bIns="0" rtlCol="0" anchor="ctr"/>
          <a:lstStyle/>
          <a:p>
            <a:pPr indent="0" marL="0">
              <a:buNone/>
            </a:pPr>
            <a:r>
              <a:rPr lang="en-US" sz="1500" b="1" dirty="0">
                <a:solidFill>
                  <a:srgbClr val="0F172A"/>
                </a:solidFill>
              </a:rPr>
              <a:t>Golden paths</a:t>
            </a:r>
            <a:endParaRPr lang="en-US" sz="1500" dirty="0"/>
          </a:p>
        </p:txBody>
      </p:sp>
      <p:sp>
        <p:nvSpPr>
          <p:cNvPr id="16" name="Text 11"/>
          <p:cNvSpPr txBox="1"/>
          <p:nvPr/>
        </p:nvSpPr>
        <p:spPr>
          <a:xfrm>
            <a:off x="2679192" y="3081528"/>
            <a:ext cx="1664208" cy="132588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Chemins balisés et supportés</a:t>
            </a:r>
            <a:endParaRPr lang="en-US" sz="1300" dirty="0"/>
          </a:p>
        </p:txBody>
      </p:sp>
      <p:sp>
        <p:nvSpPr>
          <p:cNvPr id="17" name="Carte"/>
          <p:cNvSpPr/>
          <p:nvPr/>
        </p:nvSpPr>
        <p:spPr>
          <a:xfrm>
            <a:off x="4626864" y="2011680"/>
            <a:ext cx="1938528" cy="2468880"/>
          </a:xfrm>
          <a:prstGeom prst="roundRect">
            <a:avLst>
              <a:gd name="adj" fmla="val 3774"/>
            </a:avLst>
          </a:prstGeom>
          <a:solidFill>
            <a:srgbClr val="F1F5F9"/>
          </a:solidFill>
          <a:ln/>
        </p:spPr>
      </p:sp>
      <p:sp>
        <p:nvSpPr>
          <p:cNvPr id="18" name="Pastille"/>
          <p:cNvSpPr/>
          <p:nvPr/>
        </p:nvSpPr>
        <p:spPr>
          <a:xfrm>
            <a:off x="4764024" y="2148840"/>
            <a:ext cx="457200" cy="457200"/>
          </a:xfrm>
          <a:prstGeom prst="ellipse">
            <a:avLst/>
          </a:prstGeom>
          <a:solidFill>
            <a:srgbClr val="7C3AED"/>
          </a:solidFill>
          <a:ln/>
        </p:spPr>
      </p:sp>
      <p:pic>
        <p:nvPicPr>
          <p:cNvPr id="19" name="Image 2" descr="GitOps">    </p:cNvPr>
          <p:cNvPicPr>
            <a:picLocks noChangeAspect="1"/>
          </p:cNvPicPr>
          <p:nvPr/>
        </p:nvPicPr>
        <p:blipFill>
          <a:blip r:embed="rId3"/>
          <a:stretch>
            <a:fillRect/>
          </a:stretch>
        </p:blipFill>
        <p:spPr>
          <a:xfrm>
            <a:off x="4873752" y="2258568"/>
            <a:ext cx="237744" cy="237744"/>
          </a:xfrm>
          <a:prstGeom prst="rect">
            <a:avLst/>
          </a:prstGeom>
        </p:spPr>
      </p:pic>
      <p:sp>
        <p:nvSpPr>
          <p:cNvPr id="20" name="Text 14"/>
          <p:cNvSpPr txBox="1"/>
          <p:nvPr/>
        </p:nvSpPr>
        <p:spPr>
          <a:xfrm>
            <a:off x="4764024" y="2697480"/>
            <a:ext cx="1664208" cy="365760"/>
          </a:xfrm>
          <a:prstGeom prst="rect">
            <a:avLst/>
          </a:prstGeom>
          <a:noFill/>
          <a:ln/>
        </p:spPr>
        <p:txBody>
          <a:bodyPr wrap="square" lIns="0" tIns="0" rIns="0" bIns="0" rtlCol="0" anchor="ctr"/>
          <a:lstStyle/>
          <a:p>
            <a:pPr indent="0" marL="0">
              <a:buNone/>
            </a:pPr>
            <a:r>
              <a:rPr lang="en-US" sz="1500" b="1" dirty="0">
                <a:solidFill>
                  <a:srgbClr val="0F172A"/>
                </a:solidFill>
              </a:rPr>
              <a:t>GitOps</a:t>
            </a:r>
            <a:endParaRPr lang="en-US" sz="1500" dirty="0"/>
          </a:p>
        </p:txBody>
      </p:sp>
      <p:sp>
        <p:nvSpPr>
          <p:cNvPr id="21" name="Text 15"/>
          <p:cNvSpPr txBox="1"/>
          <p:nvPr/>
        </p:nvSpPr>
        <p:spPr>
          <a:xfrm>
            <a:off x="4764024" y="3081528"/>
            <a:ext cx="1664208" cy="132588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Moteur de déploiement</a:t>
            </a:r>
            <a:endParaRPr lang="en-US" sz="1300" dirty="0"/>
          </a:p>
        </p:txBody>
      </p:sp>
      <p:sp>
        <p:nvSpPr>
          <p:cNvPr id="22" name="Carte"/>
          <p:cNvSpPr/>
          <p:nvPr/>
        </p:nvSpPr>
        <p:spPr>
          <a:xfrm>
            <a:off x="6711696" y="2011680"/>
            <a:ext cx="1938528" cy="2468880"/>
          </a:xfrm>
          <a:prstGeom prst="roundRect">
            <a:avLst>
              <a:gd name="adj" fmla="val 3774"/>
            </a:avLst>
          </a:prstGeom>
          <a:solidFill>
            <a:srgbClr val="F1F5F9"/>
          </a:solidFill>
          <a:ln/>
        </p:spPr>
      </p:sp>
      <p:sp>
        <p:nvSpPr>
          <p:cNvPr id="23" name="Pastille"/>
          <p:cNvSpPr/>
          <p:nvPr/>
        </p:nvSpPr>
        <p:spPr>
          <a:xfrm>
            <a:off x="6848856" y="2148840"/>
            <a:ext cx="457200" cy="457200"/>
          </a:xfrm>
          <a:prstGeom prst="ellipse">
            <a:avLst/>
          </a:prstGeom>
          <a:solidFill>
            <a:srgbClr val="F97316"/>
          </a:solidFill>
          <a:ln/>
        </p:spPr>
      </p:sp>
      <p:pic>
        <p:nvPicPr>
          <p:cNvPr id="24" name="Image 3" descr="Crossplane">    </p:cNvPr>
          <p:cNvPicPr>
            <a:picLocks noChangeAspect="1"/>
          </p:cNvPicPr>
          <p:nvPr/>
        </p:nvPicPr>
        <p:blipFill>
          <a:blip r:embed="rId4"/>
          <a:stretch>
            <a:fillRect/>
          </a:stretch>
        </p:blipFill>
        <p:spPr>
          <a:xfrm>
            <a:off x="6958584" y="2258568"/>
            <a:ext cx="237744" cy="237744"/>
          </a:xfrm>
          <a:prstGeom prst="rect">
            <a:avLst/>
          </a:prstGeom>
        </p:spPr>
      </p:pic>
      <p:sp>
        <p:nvSpPr>
          <p:cNvPr id="25" name="Text 18"/>
          <p:cNvSpPr txBox="1"/>
          <p:nvPr/>
        </p:nvSpPr>
        <p:spPr>
          <a:xfrm>
            <a:off x="6848856" y="2697480"/>
            <a:ext cx="1664208" cy="365760"/>
          </a:xfrm>
          <a:prstGeom prst="rect">
            <a:avLst/>
          </a:prstGeom>
          <a:noFill/>
          <a:ln/>
        </p:spPr>
        <p:txBody>
          <a:bodyPr wrap="square" lIns="0" tIns="0" rIns="0" bIns="0" rtlCol="0" anchor="ctr"/>
          <a:lstStyle/>
          <a:p>
            <a:pPr indent="0" marL="0">
              <a:buNone/>
            </a:pPr>
            <a:r>
              <a:rPr lang="en-US" sz="1500" b="1" dirty="0">
                <a:solidFill>
                  <a:srgbClr val="0F172A"/>
                </a:solidFill>
              </a:rPr>
              <a:t>Crossplane</a:t>
            </a:r>
            <a:endParaRPr lang="en-US" sz="1500" dirty="0"/>
          </a:p>
        </p:txBody>
      </p:sp>
      <p:sp>
        <p:nvSpPr>
          <p:cNvPr id="26" name="Text 19"/>
          <p:cNvSpPr txBox="1"/>
          <p:nvPr/>
        </p:nvSpPr>
        <p:spPr>
          <a:xfrm>
            <a:off x="6848856" y="3081528"/>
            <a:ext cx="1664208" cy="1325880"/>
          </a:xfrm>
          <a:prstGeom prst="rect">
            <a:avLst/>
          </a:prstGeom>
          <a:noFill/>
          <a:ln/>
        </p:spPr>
        <p:txBody>
          <a:bodyPr wrap="square" lIns="0" tIns="0" rIns="0" bIns="0" rtlCol="0" anchor="t"/>
          <a:lstStyle/>
          <a:p>
            <a:pPr indent="0" marL="0">
              <a:spcAft>
                <a:spcPts val="300"/>
              </a:spcAft>
              <a:buNone/>
            </a:pPr>
            <a:r>
              <a:rPr lang="en-US" sz="1300" dirty="0">
                <a:solidFill>
                  <a:srgbClr val="1E293B"/>
                </a:solidFill>
              </a:rPr>
              <a:t>Infra cloud via l'API Kubernetes</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Schéma : plateforme interne (IDP)</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Couche Équipes produit"/>
          <p:cNvSpPr txBox="1"/>
          <p:nvPr/>
        </p:nvSpPr>
        <p:spPr>
          <a:xfrm>
            <a:off x="457200" y="1143000"/>
            <a:ext cx="8229600" cy="548640"/>
          </a:xfrm>
          <a:prstGeom prst="roundRect">
            <a:avLst>
              <a:gd name="adj" fmla="val 13333"/>
            </a:avLst>
          </a:prstGeom>
          <a:solidFill>
            <a:srgbClr val="0D9488"/>
          </a:solidFill>
          <a:ln/>
        </p:spPr>
        <p:txBody>
          <a:bodyPr wrap="square" lIns="508" tIns="508" rIns="508" bIns="508" rtlCol="0" anchor="ctr"/>
          <a:lstStyle/>
          <a:p>
            <a:pPr algn="ctr" indent="0" marL="0">
              <a:buNone/>
            </a:pPr>
            <a:r>
              <a:rPr lang="en-US" sz="1500" b="1" dirty="0">
                <a:solidFill>
                  <a:srgbClr val="FFFFFF"/>
                </a:solidFill>
              </a:rPr>
              <a:t>Équipes produit</a:t>
            </a:r>
            <a:endParaRPr lang="en-US" sz="1500" dirty="0"/>
          </a:p>
          <a:p>
            <a:pPr algn="ctr" indent="0" marL="0">
              <a:buNone/>
            </a:pPr>
            <a:r>
              <a:rPr lang="en-US" sz="1200" dirty="0">
                <a:solidFill>
                  <a:srgbClr val="FFFFFF"/>
                </a:solidFill>
              </a:rPr>
              <a:t>demandent un service ou un environnement</a:t>
            </a:r>
            <a:endParaRPr lang="en-US" sz="1500" dirty="0"/>
          </a:p>
        </p:txBody>
      </p:sp>
      <p:sp>
        <p:nvSpPr>
          <p:cNvPr id="7" name="Flèche"/>
          <p:cNvSpPr/>
          <p:nvPr/>
        </p:nvSpPr>
        <p:spPr>
          <a:xfrm>
            <a:off x="4572000" y="1691640"/>
            <a:ext cx="0" cy="164592"/>
          </a:xfrm>
          <a:prstGeom prst="line">
            <a:avLst/>
          </a:prstGeom>
          <a:noFill/>
          <a:ln w="22225">
            <a:solidFill>
              <a:srgbClr val="64748B"/>
            </a:solidFill>
            <a:prstDash val="solid"/>
            <a:tailEnd type="triangle"/>
          </a:ln>
        </p:spPr>
      </p:sp>
      <p:sp>
        <p:nvSpPr>
          <p:cNvPr id="8" name="Couche Portail développeur"/>
          <p:cNvSpPr txBox="1"/>
          <p:nvPr/>
        </p:nvSpPr>
        <p:spPr>
          <a:xfrm>
            <a:off x="457200" y="1856232"/>
            <a:ext cx="8229600" cy="548640"/>
          </a:xfrm>
          <a:prstGeom prst="roundRect">
            <a:avLst>
              <a:gd name="adj" fmla="val 13333"/>
            </a:avLst>
          </a:prstGeom>
          <a:solidFill>
            <a:srgbClr val="0EA5E9"/>
          </a:solidFill>
          <a:ln/>
        </p:spPr>
        <p:txBody>
          <a:bodyPr wrap="square" lIns="508" tIns="508" rIns="508" bIns="508" rtlCol="0" anchor="ctr"/>
          <a:lstStyle/>
          <a:p>
            <a:pPr algn="ctr" indent="0" marL="0">
              <a:buNone/>
            </a:pPr>
            <a:r>
              <a:rPr lang="en-US" sz="1500" b="1" dirty="0">
                <a:solidFill>
                  <a:srgbClr val="FFFFFF"/>
                </a:solidFill>
              </a:rPr>
              <a:t>Portail développeur</a:t>
            </a:r>
            <a:endParaRPr lang="en-US" sz="1500" dirty="0"/>
          </a:p>
          <a:p>
            <a:pPr algn="ctr" indent="0" marL="0">
              <a:buNone/>
            </a:pPr>
            <a:r>
              <a:rPr lang="en-US" sz="1200" dirty="0">
                <a:solidFill>
                  <a:srgbClr val="FFFFFF"/>
                </a:solidFill>
              </a:rPr>
              <a:t>Backstage : catalogue, templates, documentation</a:t>
            </a:r>
            <a:endParaRPr lang="en-US" sz="1500" dirty="0"/>
          </a:p>
        </p:txBody>
      </p:sp>
      <p:sp>
        <p:nvSpPr>
          <p:cNvPr id="9" name="Flèche"/>
          <p:cNvSpPr/>
          <p:nvPr/>
        </p:nvSpPr>
        <p:spPr>
          <a:xfrm>
            <a:off x="4572000" y="2404872"/>
            <a:ext cx="0" cy="164592"/>
          </a:xfrm>
          <a:prstGeom prst="line">
            <a:avLst/>
          </a:prstGeom>
          <a:noFill/>
          <a:ln w="22225">
            <a:solidFill>
              <a:srgbClr val="64748B"/>
            </a:solidFill>
            <a:prstDash val="solid"/>
            <a:tailEnd type="triangle"/>
          </a:ln>
        </p:spPr>
      </p:sp>
      <p:sp>
        <p:nvSpPr>
          <p:cNvPr id="10" name="Couche Golden paths"/>
          <p:cNvSpPr txBox="1"/>
          <p:nvPr/>
        </p:nvSpPr>
        <p:spPr>
          <a:xfrm>
            <a:off x="457200" y="2569464"/>
            <a:ext cx="8229600" cy="548640"/>
          </a:xfrm>
          <a:prstGeom prst="roundRect">
            <a:avLst>
              <a:gd name="adj" fmla="val 13333"/>
            </a:avLst>
          </a:prstGeom>
          <a:solidFill>
            <a:srgbClr val="7C3AED"/>
          </a:solidFill>
          <a:ln/>
        </p:spPr>
        <p:txBody>
          <a:bodyPr wrap="square" lIns="508" tIns="508" rIns="508" bIns="508" rtlCol="0" anchor="ctr"/>
          <a:lstStyle/>
          <a:p>
            <a:pPr algn="ctr" indent="0" marL="0">
              <a:buNone/>
            </a:pPr>
            <a:r>
              <a:rPr lang="en-US" sz="1500" b="1" dirty="0">
                <a:solidFill>
                  <a:srgbClr val="FFFFFF"/>
                </a:solidFill>
              </a:rPr>
              <a:t>Golden paths</a:t>
            </a:r>
            <a:endParaRPr lang="en-US" sz="1500" dirty="0"/>
          </a:p>
          <a:p>
            <a:pPr algn="ctr" indent="0" marL="0">
              <a:buNone/>
            </a:pPr>
            <a:r>
              <a:rPr lang="en-US" sz="1200" dirty="0">
                <a:solidFill>
                  <a:srgbClr val="FFFFFF"/>
                </a:solidFill>
              </a:rPr>
              <a:t>modèles de service, pipelines, politiques</a:t>
            </a:r>
            <a:endParaRPr lang="en-US" sz="1500" dirty="0"/>
          </a:p>
        </p:txBody>
      </p:sp>
      <p:sp>
        <p:nvSpPr>
          <p:cNvPr id="11" name="Flèche"/>
          <p:cNvSpPr/>
          <p:nvPr/>
        </p:nvSpPr>
        <p:spPr>
          <a:xfrm>
            <a:off x="4572000" y="3118104"/>
            <a:ext cx="0" cy="164592"/>
          </a:xfrm>
          <a:prstGeom prst="line">
            <a:avLst/>
          </a:prstGeom>
          <a:noFill/>
          <a:ln w="22225">
            <a:solidFill>
              <a:srgbClr val="64748B"/>
            </a:solidFill>
            <a:prstDash val="solid"/>
            <a:tailEnd type="triangle"/>
          </a:ln>
        </p:spPr>
      </p:sp>
      <p:sp>
        <p:nvSpPr>
          <p:cNvPr id="12" name="Couche GitOps et Crossplane"/>
          <p:cNvSpPr txBox="1"/>
          <p:nvPr/>
        </p:nvSpPr>
        <p:spPr>
          <a:xfrm>
            <a:off x="457200" y="3282696"/>
            <a:ext cx="8229600" cy="548640"/>
          </a:xfrm>
          <a:prstGeom prst="roundRect">
            <a:avLst>
              <a:gd name="adj" fmla="val 13333"/>
            </a:avLst>
          </a:prstGeom>
          <a:solidFill>
            <a:srgbClr val="F97316"/>
          </a:solidFill>
          <a:ln/>
        </p:spPr>
        <p:txBody>
          <a:bodyPr wrap="square" lIns="508" tIns="508" rIns="508" bIns="508" rtlCol="0" anchor="ctr"/>
          <a:lstStyle/>
          <a:p>
            <a:pPr algn="ctr" indent="0" marL="0">
              <a:buNone/>
            </a:pPr>
            <a:r>
              <a:rPr lang="en-US" sz="1500" b="1" dirty="0">
                <a:solidFill>
                  <a:srgbClr val="FFFFFF"/>
                </a:solidFill>
              </a:rPr>
              <a:t>GitOps et Crossplane</a:t>
            </a:r>
            <a:endParaRPr lang="en-US" sz="1500" dirty="0"/>
          </a:p>
          <a:p>
            <a:pPr algn="ctr" indent="0" marL="0">
              <a:buNone/>
            </a:pPr>
            <a:r>
              <a:rPr lang="en-US" sz="1200" dirty="0">
                <a:solidFill>
                  <a:srgbClr val="FFFFFF"/>
                </a:solidFill>
              </a:rPr>
              <a:t>Argo CD ou Flux, infrastructure par API Kubernetes</a:t>
            </a:r>
            <a:endParaRPr lang="en-US" sz="1500" dirty="0"/>
          </a:p>
        </p:txBody>
      </p:sp>
      <p:sp>
        <p:nvSpPr>
          <p:cNvPr id="13" name="Flèche"/>
          <p:cNvSpPr/>
          <p:nvPr/>
        </p:nvSpPr>
        <p:spPr>
          <a:xfrm>
            <a:off x="4572000" y="3831336"/>
            <a:ext cx="0" cy="164592"/>
          </a:xfrm>
          <a:prstGeom prst="line">
            <a:avLst/>
          </a:prstGeom>
          <a:noFill/>
          <a:ln w="22225">
            <a:solidFill>
              <a:srgbClr val="64748B"/>
            </a:solidFill>
            <a:prstDash val="solid"/>
            <a:tailEnd type="triangle"/>
          </a:ln>
        </p:spPr>
      </p:sp>
      <p:sp>
        <p:nvSpPr>
          <p:cNvPr id="14" name="Couche Infrastructure"/>
          <p:cNvSpPr txBox="1"/>
          <p:nvPr/>
        </p:nvSpPr>
        <p:spPr>
          <a:xfrm>
            <a:off x="457200" y="3995928"/>
            <a:ext cx="8229600" cy="548640"/>
          </a:xfrm>
          <a:prstGeom prst="roundRect">
            <a:avLst>
              <a:gd name="adj" fmla="val 13333"/>
            </a:avLst>
          </a:prstGeom>
          <a:solidFill>
            <a:srgbClr val="0F172A"/>
          </a:solidFill>
          <a:ln/>
        </p:spPr>
        <p:txBody>
          <a:bodyPr wrap="square" lIns="508" tIns="508" rIns="508" bIns="508" rtlCol="0" anchor="ctr"/>
          <a:lstStyle/>
          <a:p>
            <a:pPr algn="ctr" indent="0" marL="0">
              <a:buNone/>
            </a:pPr>
            <a:r>
              <a:rPr lang="en-US" sz="1500" b="1" dirty="0">
                <a:solidFill>
                  <a:srgbClr val="FFFFFF"/>
                </a:solidFill>
              </a:rPr>
              <a:t>Infrastructure</a:t>
            </a:r>
            <a:endParaRPr lang="en-US" sz="1500" dirty="0"/>
          </a:p>
          <a:p>
            <a:pPr algn="ctr" indent="0" marL="0">
              <a:buNone/>
            </a:pPr>
            <a:r>
              <a:rPr lang="en-US" sz="1200" dirty="0">
                <a:solidFill>
                  <a:srgbClr val="FFFFFF"/>
                </a:solidFill>
              </a:rPr>
              <a:t>clusters, cloud, réseau, secrets</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Pièges et anti-patterns</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377440"/>
                <a:gridCol w="3017520"/>
                <a:gridCol w="283464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Anti-pattern</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Pourquoi c'est un problème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Alternative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kubectl edit en prod</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Dérive, perte de traçabilité</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Tout passer par PR + selfHeal</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Secrets en clair</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Fuite définitive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SOPS, Sealed Secrets, ESO</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Une branche par environnement</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Merges pénibles, dérives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Dossiers + overlays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Config et code mélangés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Boucles de CI infinies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Dépôt de config séparé</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Tag « latest »</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Non reproductible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Tags immuables / digests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Sync sans revue</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Erreurs en prod</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PR obligatoire + protections</a:t>
                      </a:r>
                      <a:endParaRPr lang="en-US" sz="13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TP : secrets, politiques et progressive delivery</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Fiche TP"/>
          <p:cNvSpPr/>
          <p:nvPr/>
        </p:nvSpPr>
        <p:spPr>
          <a:xfrm>
            <a:off x="457200" y="1188720"/>
            <a:ext cx="2651760" cy="2743200"/>
          </a:xfrm>
          <a:prstGeom prst="roundRect">
            <a:avLst>
              <a:gd name="adj" fmla="val 2759"/>
            </a:avLst>
          </a:prstGeom>
          <a:solidFill>
            <a:srgbClr val="F1F5F9"/>
          </a:solidFill>
          <a:ln/>
        </p:spPr>
      </p:sp>
      <p:sp>
        <p:nvSpPr>
          <p:cNvPr id="7" name="Text 4"/>
          <p:cNvSpPr txBox="1"/>
          <p:nvPr/>
        </p:nvSpPr>
        <p:spPr>
          <a:xfrm>
            <a:off x="594360" y="1280160"/>
            <a:ext cx="2377440" cy="2560320"/>
          </a:xfrm>
          <a:prstGeom prst="rect">
            <a:avLst/>
          </a:prstGeom>
          <a:noFill/>
          <a:ln/>
        </p:spPr>
        <p:txBody>
          <a:bodyPr wrap="square" lIns="0" tIns="0" rIns="0" bIns="0" rtlCol="0" anchor="t"/>
          <a:lstStyle/>
          <a:p>
            <a:pPr indent="0" marL="0">
              <a:buNone/>
            </a:pPr>
            <a:r>
              <a:rPr lang="en-US" sz="1300" b="1" dirty="0">
                <a:solidFill>
                  <a:srgbClr val="F97316"/>
                </a:solidFill>
              </a:rPr>
              <a:t>Durée</a:t>
            </a:r>
            <a:endParaRPr lang="en-US" sz="1300" dirty="0"/>
          </a:p>
          <a:p>
            <a:pPr indent="0" marL="0">
              <a:buNone/>
            </a:pPr>
            <a:r>
              <a:rPr lang="en-US" sz="1300" dirty="0">
                <a:solidFill>
                  <a:srgbClr val="1E293B"/>
                </a:solidFill>
              </a:rPr>
              <a:t>3 h</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F97316"/>
                </a:solidFill>
              </a:rPr>
              <a:t>Objectif</a:t>
            </a:r>
            <a:endParaRPr lang="en-US" sz="1300" dirty="0"/>
          </a:p>
          <a:p>
            <a:pPr indent="0" marL="0">
              <a:buNone/>
            </a:pPr>
            <a:r>
              <a:rPr lang="en-US" sz="1300" dirty="0">
                <a:solidFill>
                  <a:srgbClr val="1E293B"/>
                </a:solidFill>
              </a:rPr>
              <a:t>Sécuriser un dépôt GitOps et déployer progressivement avec analyse automatique.</a:t>
            </a:r>
            <a:endParaRPr lang="en-US" sz="1300" dirty="0"/>
          </a:p>
          <a:p>
            <a:pPr indent="0" marL="0">
              <a:buNone/>
            </a:pPr>
            <a:r>
              <a:rPr lang="en-US" sz="600" dirty="0">
                <a:solidFill>
                  <a:srgbClr val="000000"/>
                </a:solidFill>
              </a:rPr>
              <a:t> </a:t>
            </a:r>
            <a:endParaRPr lang="en-US" sz="1300" dirty="0"/>
          </a:p>
          <a:p>
            <a:pPr indent="0" marL="0">
              <a:buNone/>
            </a:pPr>
            <a:r>
              <a:rPr lang="en-US" sz="1300" b="1" dirty="0">
                <a:solidFill>
                  <a:srgbClr val="F97316"/>
                </a:solidFill>
              </a:rPr>
              <a:t>Prérequis</a:t>
            </a:r>
            <a:endParaRPr lang="en-US" sz="1300" dirty="0"/>
          </a:p>
          <a:p>
            <a:pPr indent="0" marL="0">
              <a:buNone/>
            </a:pPr>
            <a:r>
              <a:rPr lang="en-US" sz="1300" dirty="0">
                <a:solidFill>
                  <a:srgbClr val="1E293B"/>
                </a:solidFill>
              </a:rPr>
              <a:t>TP GitOps terminés, outils : sops et age, Kyverno, Argo Rollouts.</a:t>
            </a:r>
            <a:endParaRPr lang="en-US" sz="1300" dirty="0"/>
          </a:p>
        </p:txBody>
      </p:sp>
      <p:sp>
        <p:nvSpPr>
          <p:cNvPr id="8" name="Shape 5"/>
          <p:cNvSpPr/>
          <p:nvPr/>
        </p:nvSpPr>
        <p:spPr>
          <a:xfrm>
            <a:off x="3337560" y="1280160"/>
            <a:ext cx="365760" cy="365760"/>
          </a:xfrm>
          <a:prstGeom prst="ellipse">
            <a:avLst/>
          </a:prstGeom>
          <a:solidFill>
            <a:srgbClr val="F97316"/>
          </a:solidFill>
          <a:ln/>
        </p:spPr>
      </p:sp>
      <p:sp>
        <p:nvSpPr>
          <p:cNvPr id="9" name="Text 6"/>
          <p:cNvSpPr txBox="1"/>
          <p:nvPr/>
        </p:nvSpPr>
        <p:spPr>
          <a:xfrm>
            <a:off x="3337560" y="1280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7"/>
          <p:cNvSpPr txBox="1"/>
          <p:nvPr/>
        </p:nvSpPr>
        <p:spPr>
          <a:xfrm>
            <a:off x="3840480" y="118872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Chiffrer un Secret avec SOPS et age, committer le fichier chiffré, vérifier qu'aucune valeur n'est en clair</a:t>
            </a:r>
            <a:endParaRPr lang="en-US" sz="1300" dirty="0"/>
          </a:p>
        </p:txBody>
      </p:sp>
      <p:sp>
        <p:nvSpPr>
          <p:cNvPr id="11" name="Shape 8"/>
          <p:cNvSpPr/>
          <p:nvPr/>
        </p:nvSpPr>
        <p:spPr>
          <a:xfrm>
            <a:off x="3337560" y="1828800"/>
            <a:ext cx="365760" cy="365760"/>
          </a:xfrm>
          <a:prstGeom prst="ellipse">
            <a:avLst/>
          </a:prstGeom>
          <a:solidFill>
            <a:srgbClr val="F97316"/>
          </a:solidFill>
          <a:ln/>
        </p:spPr>
      </p:sp>
      <p:sp>
        <p:nvSpPr>
          <p:cNvPr id="12" name="Text 9"/>
          <p:cNvSpPr txBox="1"/>
          <p:nvPr/>
        </p:nvSpPr>
        <p:spPr>
          <a:xfrm>
            <a:off x="3337560" y="18288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0"/>
          <p:cNvSpPr txBox="1"/>
          <p:nvPr/>
        </p:nvSpPr>
        <p:spPr>
          <a:xfrm>
            <a:off x="3840480" y="173736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Installer Kyverno et créer une politique refusant les conteneurs root</a:t>
            </a:r>
            <a:endParaRPr lang="en-US" sz="1300" dirty="0"/>
          </a:p>
        </p:txBody>
      </p:sp>
      <p:sp>
        <p:nvSpPr>
          <p:cNvPr id="14" name="Shape 11"/>
          <p:cNvSpPr/>
          <p:nvPr/>
        </p:nvSpPr>
        <p:spPr>
          <a:xfrm>
            <a:off x="3337560" y="2377440"/>
            <a:ext cx="365760" cy="365760"/>
          </a:xfrm>
          <a:prstGeom prst="ellipse">
            <a:avLst/>
          </a:prstGeom>
          <a:solidFill>
            <a:srgbClr val="F97316"/>
          </a:solidFill>
          <a:ln/>
        </p:spPr>
      </p:sp>
      <p:sp>
        <p:nvSpPr>
          <p:cNvPr id="15" name="Text 12"/>
          <p:cNvSpPr txBox="1"/>
          <p:nvPr/>
        </p:nvSpPr>
        <p:spPr>
          <a:xfrm>
            <a:off x="3337560" y="23774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3"/>
          <p:cNvSpPr txBox="1"/>
          <p:nvPr/>
        </p:nvSpPr>
        <p:spPr>
          <a:xfrm>
            <a:off x="3840480" y="228600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Tenter de déployer un pod en root et constater le refus à l'admission</a:t>
            </a:r>
            <a:endParaRPr lang="en-US" sz="1300" dirty="0"/>
          </a:p>
        </p:txBody>
      </p:sp>
      <p:sp>
        <p:nvSpPr>
          <p:cNvPr id="17" name="Shape 14"/>
          <p:cNvSpPr/>
          <p:nvPr/>
        </p:nvSpPr>
        <p:spPr>
          <a:xfrm>
            <a:off x="3337560" y="2926080"/>
            <a:ext cx="365760" cy="365760"/>
          </a:xfrm>
          <a:prstGeom prst="ellipse">
            <a:avLst/>
          </a:prstGeom>
          <a:solidFill>
            <a:srgbClr val="F97316"/>
          </a:solidFill>
          <a:ln/>
        </p:spPr>
      </p:sp>
      <p:sp>
        <p:nvSpPr>
          <p:cNvPr id="18" name="Text 15"/>
          <p:cNvSpPr txBox="1"/>
          <p:nvPr/>
        </p:nvSpPr>
        <p:spPr>
          <a:xfrm>
            <a:off x="3337560" y="292608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3840480" y="283464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Convertir le Deployment en Rollout canary (20 %, 50 %, 100 %)</a:t>
            </a:r>
            <a:endParaRPr lang="en-US" sz="1300" dirty="0"/>
          </a:p>
        </p:txBody>
      </p:sp>
      <p:sp>
        <p:nvSpPr>
          <p:cNvPr id="20" name="Shape 17"/>
          <p:cNvSpPr/>
          <p:nvPr/>
        </p:nvSpPr>
        <p:spPr>
          <a:xfrm>
            <a:off x="3337560" y="3474720"/>
            <a:ext cx="365760" cy="365760"/>
          </a:xfrm>
          <a:prstGeom prst="ellipse">
            <a:avLst/>
          </a:prstGeom>
          <a:solidFill>
            <a:srgbClr val="F97316"/>
          </a:solidFill>
          <a:ln/>
        </p:spPr>
      </p:sp>
      <p:sp>
        <p:nvSpPr>
          <p:cNvPr id="21" name="Text 18"/>
          <p:cNvSpPr txBox="1"/>
          <p:nvPr/>
        </p:nvSpPr>
        <p:spPr>
          <a:xfrm>
            <a:off x="3337560" y="347472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19"/>
          <p:cNvSpPr txBox="1"/>
          <p:nvPr/>
        </p:nvSpPr>
        <p:spPr>
          <a:xfrm>
            <a:off x="3840480" y="3383280"/>
            <a:ext cx="4846320" cy="5486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Déployer une version défectueuse et observer le rollback automatique</a:t>
            </a:r>
            <a:endParaRPr lang="en-US" sz="1300" dirty="0"/>
          </a:p>
        </p:txBody>
      </p:sp>
      <p:sp>
        <p:nvSpPr>
          <p:cNvPr id="23" name="Livrable"/>
          <p:cNvSpPr/>
          <p:nvPr/>
        </p:nvSpPr>
        <p:spPr>
          <a:xfrm>
            <a:off x="457200" y="4069080"/>
            <a:ext cx="8229600" cy="548640"/>
          </a:xfrm>
          <a:prstGeom prst="roundRect">
            <a:avLst>
              <a:gd name="adj" fmla="val 13333"/>
            </a:avLst>
          </a:prstGeom>
          <a:solidFill>
            <a:srgbClr val="0F172A"/>
          </a:solidFill>
          <a:ln/>
        </p:spPr>
      </p:sp>
      <p:sp>
        <p:nvSpPr>
          <p:cNvPr id="24" name="Text 21"/>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400" b="1" dirty="0">
                <a:solidFill>
                  <a:srgbClr val="5EEAD4"/>
                </a:solidFill>
              </a:rPr>
              <a:t>Livrable : </a:t>
            </a:r>
            <a:pPr indent="0" marL="0">
              <a:buNone/>
            </a:pPr>
            <a:r>
              <a:rPr lang="en-US" sz="1400" dirty="0">
                <a:solidFill>
                  <a:srgbClr val="FFFFFF"/>
                </a:solidFill>
              </a:rPr>
              <a:t>dépôt sans secret en clair, politique active et rollout annulé automatiquement.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Quiz niveau Expert</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Question"/>
          <p:cNvSpPr/>
          <p:nvPr/>
        </p:nvSpPr>
        <p:spPr>
          <a:xfrm>
            <a:off x="457200" y="1143000"/>
            <a:ext cx="8229600" cy="612648"/>
          </a:xfrm>
          <a:prstGeom prst="roundRect">
            <a:avLst>
              <a:gd name="adj" fmla="val 11940"/>
            </a:avLst>
          </a:prstGeom>
          <a:solidFill>
            <a:srgbClr val="F1F5F9"/>
          </a:solidFill>
          <a:ln/>
        </p:spPr>
      </p:sp>
      <p:sp>
        <p:nvSpPr>
          <p:cNvPr id="7" name="Shape 4"/>
          <p:cNvSpPr/>
          <p:nvPr/>
        </p:nvSpPr>
        <p:spPr>
          <a:xfrm>
            <a:off x="566928" y="1280160"/>
            <a:ext cx="347472" cy="347472"/>
          </a:xfrm>
          <a:prstGeom prst="ellipse">
            <a:avLst/>
          </a:prstGeom>
          <a:solidFill>
            <a:srgbClr val="F97316"/>
          </a:solidFill>
          <a:ln/>
        </p:spPr>
      </p:sp>
      <p:sp>
        <p:nvSpPr>
          <p:cNvPr id="8" name="Text 5"/>
          <p:cNvSpPr txBox="1"/>
          <p:nvPr/>
        </p:nvSpPr>
        <p:spPr>
          <a:xfrm>
            <a:off x="566928" y="12801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6"/>
          <p:cNvSpPr txBox="1"/>
          <p:nvPr/>
        </p:nvSpPr>
        <p:spPr>
          <a:xfrm>
            <a:off x="1051560" y="11430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Un secret en clair a été commité puis supprimé. Il est…</a:t>
            </a:r>
            <a:endParaRPr lang="en-US" sz="1400" dirty="0"/>
          </a:p>
          <a:p>
            <a:pPr indent="0" marL="0">
              <a:buNone/>
            </a:pPr>
            <a:r>
              <a:rPr lang="en-US" sz="1200" dirty="0">
                <a:solidFill>
                  <a:srgbClr val="1E293B"/>
                </a:solidFill>
              </a:rPr>
              <a:t>A) Sûr, car supprimé    B) Compromis, car présent dans l'historique    C) Chiffré automatiquement</a:t>
            </a:r>
            <a:endParaRPr lang="en-US" sz="1400" dirty="0"/>
          </a:p>
        </p:txBody>
      </p:sp>
      <p:sp>
        <p:nvSpPr>
          <p:cNvPr id="10" name="Question"/>
          <p:cNvSpPr/>
          <p:nvPr/>
        </p:nvSpPr>
        <p:spPr>
          <a:xfrm>
            <a:off x="457200" y="1828800"/>
            <a:ext cx="8229600" cy="612648"/>
          </a:xfrm>
          <a:prstGeom prst="roundRect">
            <a:avLst>
              <a:gd name="adj" fmla="val 11940"/>
            </a:avLst>
          </a:prstGeom>
          <a:solidFill>
            <a:srgbClr val="F1F5F9"/>
          </a:solidFill>
          <a:ln/>
        </p:spPr>
      </p:sp>
      <p:sp>
        <p:nvSpPr>
          <p:cNvPr id="11" name="Shape 8"/>
          <p:cNvSpPr/>
          <p:nvPr/>
        </p:nvSpPr>
        <p:spPr>
          <a:xfrm>
            <a:off x="566928" y="1965960"/>
            <a:ext cx="347472" cy="347472"/>
          </a:xfrm>
          <a:prstGeom prst="ellipse">
            <a:avLst/>
          </a:prstGeom>
          <a:solidFill>
            <a:srgbClr val="F97316"/>
          </a:solidFill>
          <a:ln/>
        </p:spPr>
      </p:sp>
      <p:sp>
        <p:nvSpPr>
          <p:cNvPr id="12" name="Text 9"/>
          <p:cNvSpPr txBox="1"/>
          <p:nvPr/>
        </p:nvSpPr>
        <p:spPr>
          <a:xfrm>
            <a:off x="566928" y="19659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0"/>
          <p:cNvSpPr txBox="1"/>
          <p:nvPr/>
        </p:nvSpPr>
        <p:spPr>
          <a:xfrm>
            <a:off x="1051560" y="18288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Quelle solution référence un coffre externe plutôt que de stocker le secret dans Git ?</a:t>
            </a:r>
            <a:endParaRPr lang="en-US" sz="1400" dirty="0"/>
          </a:p>
          <a:p>
            <a:pPr indent="0" marL="0">
              <a:buNone/>
            </a:pPr>
            <a:r>
              <a:rPr lang="en-US" sz="1200" dirty="0">
                <a:solidFill>
                  <a:srgbClr val="1E293B"/>
                </a:solidFill>
              </a:rPr>
              <a:t>A) External Secrets Operator    B) Sealed Secrets    C) SOPS</a:t>
            </a:r>
            <a:endParaRPr lang="en-US" sz="1400" dirty="0"/>
          </a:p>
        </p:txBody>
      </p:sp>
      <p:sp>
        <p:nvSpPr>
          <p:cNvPr id="14" name="Question"/>
          <p:cNvSpPr/>
          <p:nvPr/>
        </p:nvSpPr>
        <p:spPr>
          <a:xfrm>
            <a:off x="457200" y="2514600"/>
            <a:ext cx="8229600" cy="612648"/>
          </a:xfrm>
          <a:prstGeom prst="roundRect">
            <a:avLst>
              <a:gd name="adj" fmla="val 11940"/>
            </a:avLst>
          </a:prstGeom>
          <a:solidFill>
            <a:srgbClr val="F1F5F9"/>
          </a:solidFill>
          <a:ln/>
        </p:spPr>
      </p:sp>
      <p:sp>
        <p:nvSpPr>
          <p:cNvPr id="15" name="Shape 12"/>
          <p:cNvSpPr/>
          <p:nvPr/>
        </p:nvSpPr>
        <p:spPr>
          <a:xfrm>
            <a:off x="566928" y="2651760"/>
            <a:ext cx="347472" cy="347472"/>
          </a:xfrm>
          <a:prstGeom prst="ellipse">
            <a:avLst/>
          </a:prstGeom>
          <a:solidFill>
            <a:srgbClr val="F97316"/>
          </a:solidFill>
          <a:ln/>
        </p:spPr>
      </p:sp>
      <p:sp>
        <p:nvSpPr>
          <p:cNvPr id="16" name="Text 13"/>
          <p:cNvSpPr txBox="1"/>
          <p:nvPr/>
        </p:nvSpPr>
        <p:spPr>
          <a:xfrm>
            <a:off x="566928" y="26517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4"/>
          <p:cNvSpPr txBox="1"/>
          <p:nvPr/>
        </p:nvSpPr>
        <p:spPr>
          <a:xfrm>
            <a:off x="1051560" y="25146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À quoi sert une ApplicationSet ?</a:t>
            </a:r>
            <a:endParaRPr lang="en-US" sz="1400" dirty="0"/>
          </a:p>
          <a:p>
            <a:pPr indent="0" marL="0">
              <a:buNone/>
            </a:pPr>
            <a:r>
              <a:rPr lang="en-US" sz="1200" dirty="0">
                <a:solidFill>
                  <a:srgbClr val="1E293B"/>
                </a:solidFill>
              </a:rPr>
              <a:t>A) Signer des images    B) Chiffrer des secrets    C) Générer plusieurs Applications à partir d'un modèle</a:t>
            </a:r>
            <a:endParaRPr lang="en-US" sz="1400" dirty="0"/>
          </a:p>
        </p:txBody>
      </p:sp>
      <p:sp>
        <p:nvSpPr>
          <p:cNvPr id="18" name="Question"/>
          <p:cNvSpPr/>
          <p:nvPr/>
        </p:nvSpPr>
        <p:spPr>
          <a:xfrm>
            <a:off x="457200" y="3200400"/>
            <a:ext cx="8229600" cy="612648"/>
          </a:xfrm>
          <a:prstGeom prst="roundRect">
            <a:avLst>
              <a:gd name="adj" fmla="val 11940"/>
            </a:avLst>
          </a:prstGeom>
          <a:solidFill>
            <a:srgbClr val="F1F5F9"/>
          </a:solidFill>
          <a:ln/>
        </p:spPr>
      </p:sp>
      <p:sp>
        <p:nvSpPr>
          <p:cNvPr id="19" name="Shape 16"/>
          <p:cNvSpPr/>
          <p:nvPr/>
        </p:nvSpPr>
        <p:spPr>
          <a:xfrm>
            <a:off x="566928" y="3337560"/>
            <a:ext cx="347472" cy="347472"/>
          </a:xfrm>
          <a:prstGeom prst="ellipse">
            <a:avLst/>
          </a:prstGeom>
          <a:solidFill>
            <a:srgbClr val="F97316"/>
          </a:solidFill>
          <a:ln/>
        </p:spPr>
      </p:sp>
      <p:sp>
        <p:nvSpPr>
          <p:cNvPr id="20" name="Text 17"/>
          <p:cNvSpPr txBox="1"/>
          <p:nvPr/>
        </p:nvSpPr>
        <p:spPr>
          <a:xfrm>
            <a:off x="566928" y="33375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8"/>
          <p:cNvSpPr txBox="1"/>
          <p:nvPr/>
        </p:nvSpPr>
        <p:spPr>
          <a:xfrm>
            <a:off x="1051560" y="32004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 fait Argo Rollouts quand l'analyse échoue ?</a:t>
            </a:r>
            <a:endParaRPr lang="en-US" sz="1400" dirty="0"/>
          </a:p>
          <a:p>
            <a:pPr indent="0" marL="0">
              <a:buNone/>
            </a:pPr>
            <a:r>
              <a:rPr lang="en-US" sz="1200" dirty="0">
                <a:solidFill>
                  <a:srgbClr val="1E293B"/>
                </a:solidFill>
              </a:rPr>
              <a:t>A) Rétablit automatiquement la version stable    B) Continue jusqu'à 100 %    C) Supprime le cluster</a:t>
            </a:r>
            <a:endParaRPr lang="en-US" sz="1400" dirty="0"/>
          </a:p>
        </p:txBody>
      </p:sp>
      <p:sp>
        <p:nvSpPr>
          <p:cNvPr id="22" name="Question"/>
          <p:cNvSpPr/>
          <p:nvPr/>
        </p:nvSpPr>
        <p:spPr>
          <a:xfrm>
            <a:off x="457200" y="3886200"/>
            <a:ext cx="8229600" cy="612648"/>
          </a:xfrm>
          <a:prstGeom prst="roundRect">
            <a:avLst>
              <a:gd name="adj" fmla="val 11940"/>
            </a:avLst>
          </a:prstGeom>
          <a:solidFill>
            <a:srgbClr val="F1F5F9"/>
          </a:solidFill>
          <a:ln/>
        </p:spPr>
      </p:sp>
      <p:sp>
        <p:nvSpPr>
          <p:cNvPr id="23" name="Shape 20"/>
          <p:cNvSpPr/>
          <p:nvPr/>
        </p:nvSpPr>
        <p:spPr>
          <a:xfrm>
            <a:off x="566928" y="4023360"/>
            <a:ext cx="347472" cy="347472"/>
          </a:xfrm>
          <a:prstGeom prst="ellipse">
            <a:avLst/>
          </a:prstGeom>
          <a:solidFill>
            <a:srgbClr val="F97316"/>
          </a:solidFill>
          <a:ln/>
        </p:spPr>
      </p:sp>
      <p:sp>
        <p:nvSpPr>
          <p:cNvPr id="24" name="Text 21"/>
          <p:cNvSpPr txBox="1"/>
          <p:nvPr/>
        </p:nvSpPr>
        <p:spPr>
          <a:xfrm>
            <a:off x="566928" y="402336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5" name="Text 22"/>
          <p:cNvSpPr txBox="1"/>
          <p:nvPr/>
        </p:nvSpPr>
        <p:spPr>
          <a:xfrm>
            <a:off x="1051560" y="3886200"/>
            <a:ext cx="7543800" cy="612648"/>
          </a:xfrm>
          <a:prstGeom prst="rect">
            <a:avLst/>
          </a:prstGeom>
          <a:noFill/>
          <a:ln/>
        </p:spPr>
        <p:txBody>
          <a:bodyPr wrap="square" lIns="0" tIns="0" rIns="0" bIns="0" rtlCol="0" anchor="ctr"/>
          <a:lstStyle/>
          <a:p>
            <a:pPr indent="0" marL="0">
              <a:buNone/>
            </a:pPr>
            <a:r>
              <a:rPr lang="en-US" sz="1400" b="1" dirty="0">
                <a:solidFill>
                  <a:srgbClr val="0F172A"/>
                </a:solidFill>
              </a:rPr>
              <a:t>Quel outil refuse à l'admission un pod qui tourne en root ?</a:t>
            </a:r>
            <a:endParaRPr lang="en-US" sz="1400" dirty="0"/>
          </a:p>
          <a:p>
            <a:pPr indent="0" marL="0">
              <a:buNone/>
            </a:pPr>
            <a:r>
              <a:rPr lang="en-US" sz="1200" dirty="0">
                <a:solidFill>
                  <a:srgbClr val="1E293B"/>
                </a:solidFill>
              </a:rPr>
              <a:t>A) Trivy    B) Kyverno (ou OPA Gatekeeper)    C) Cosign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Feuille de route d'apprentissage</a:t>
            </a:r>
            <a:endParaRPr lang="en-US" sz="2800" dirty="0"/>
          </a:p>
        </p:txBody>
      </p:sp>
      <p:sp>
        <p:nvSpPr>
          <p:cNvPr id="4" name="Shape 1"/>
          <p:cNvSpPr/>
          <p:nvPr/>
        </p:nvSpPr>
        <p:spPr>
          <a:xfrm>
            <a:off x="457200" y="1234440"/>
            <a:ext cx="1554480" cy="685800"/>
          </a:xfrm>
          <a:prstGeom prst="roundRect">
            <a:avLst>
              <a:gd name="adj" fmla="val 10667"/>
            </a:avLst>
          </a:prstGeom>
          <a:solidFill>
            <a:srgbClr val="0D9488"/>
          </a:solidFill>
          <a:ln/>
        </p:spPr>
      </p:sp>
      <p:sp>
        <p:nvSpPr>
          <p:cNvPr id="5" name="Text 2"/>
          <p:cNvSpPr txBox="1"/>
          <p:nvPr/>
        </p:nvSpPr>
        <p:spPr>
          <a:xfrm>
            <a:off x="457200" y="1234440"/>
            <a:ext cx="1554480" cy="685800"/>
          </a:xfrm>
          <a:prstGeom prst="rect">
            <a:avLst/>
          </a:prstGeom>
          <a:noFill/>
          <a:ln/>
        </p:spPr>
        <p:txBody>
          <a:bodyPr wrap="square" lIns="0" tIns="0" rIns="0" bIns="0" rtlCol="0" anchor="ctr"/>
          <a:lstStyle/>
          <a:p>
            <a:pPr algn="ctr" indent="0" marL="0">
              <a:buNone/>
            </a:pPr>
            <a:r>
              <a:rPr lang="en-US" sz="1600" b="1" dirty="0">
                <a:solidFill>
                  <a:srgbClr val="FFFFFF"/>
                </a:solidFill>
              </a:rPr>
              <a:t>Mois 1</a:t>
            </a:r>
            <a:endParaRPr lang="en-US" sz="1600" dirty="0"/>
          </a:p>
        </p:txBody>
      </p:sp>
      <p:sp>
        <p:nvSpPr>
          <p:cNvPr id="6" name="Shape 3"/>
          <p:cNvSpPr/>
          <p:nvPr/>
        </p:nvSpPr>
        <p:spPr>
          <a:xfrm>
            <a:off x="2148840" y="1234440"/>
            <a:ext cx="6537960" cy="685800"/>
          </a:xfrm>
          <a:prstGeom prst="roundRect">
            <a:avLst>
              <a:gd name="adj" fmla="val 10667"/>
            </a:avLst>
          </a:prstGeom>
          <a:solidFill>
            <a:srgbClr val="F1F5F9"/>
          </a:solidFill>
          <a:ln/>
        </p:spPr>
      </p:sp>
      <p:sp>
        <p:nvSpPr>
          <p:cNvPr id="7" name="Text 4"/>
          <p:cNvSpPr txBox="1"/>
          <p:nvPr/>
        </p:nvSpPr>
        <p:spPr>
          <a:xfrm>
            <a:off x="2331720" y="1234440"/>
            <a:ext cx="6217920" cy="685800"/>
          </a:xfrm>
          <a:prstGeom prst="rect">
            <a:avLst/>
          </a:prstGeom>
          <a:noFill/>
          <a:ln/>
        </p:spPr>
        <p:txBody>
          <a:bodyPr wrap="square" lIns="0" tIns="0" rIns="0" bIns="0" rtlCol="0" anchor="ctr"/>
          <a:lstStyle/>
          <a:p>
            <a:pPr indent="0" marL="0">
              <a:buNone/>
            </a:pPr>
            <a:r>
              <a:rPr lang="en-US" sz="1500" dirty="0">
                <a:solidFill>
                  <a:srgbClr val="1E293B"/>
                </a:solidFill>
              </a:rPr>
              <a:t>Git avancé, Linux, Docker, pipeline GitHub Actions</a:t>
            </a:r>
            <a:endParaRPr lang="en-US" sz="1500" dirty="0"/>
          </a:p>
        </p:txBody>
      </p:sp>
      <p:sp>
        <p:nvSpPr>
          <p:cNvPr id="8" name="Shape 5"/>
          <p:cNvSpPr/>
          <p:nvPr/>
        </p:nvSpPr>
        <p:spPr>
          <a:xfrm>
            <a:off x="457200" y="2057400"/>
            <a:ext cx="1554480" cy="685800"/>
          </a:xfrm>
          <a:prstGeom prst="roundRect">
            <a:avLst>
              <a:gd name="adj" fmla="val 10667"/>
            </a:avLst>
          </a:prstGeom>
          <a:solidFill>
            <a:srgbClr val="0EA5E9"/>
          </a:solidFill>
          <a:ln/>
        </p:spPr>
      </p:sp>
      <p:sp>
        <p:nvSpPr>
          <p:cNvPr id="9" name="Text 6"/>
          <p:cNvSpPr txBox="1"/>
          <p:nvPr/>
        </p:nvSpPr>
        <p:spPr>
          <a:xfrm>
            <a:off x="457200" y="2057400"/>
            <a:ext cx="1554480" cy="685800"/>
          </a:xfrm>
          <a:prstGeom prst="rect">
            <a:avLst/>
          </a:prstGeom>
          <a:noFill/>
          <a:ln/>
        </p:spPr>
        <p:txBody>
          <a:bodyPr wrap="square" lIns="0" tIns="0" rIns="0" bIns="0" rtlCol="0" anchor="ctr"/>
          <a:lstStyle/>
          <a:p>
            <a:pPr algn="ctr" indent="0" marL="0">
              <a:buNone/>
            </a:pPr>
            <a:r>
              <a:rPr lang="en-US" sz="1600" b="1" dirty="0">
                <a:solidFill>
                  <a:srgbClr val="FFFFFF"/>
                </a:solidFill>
              </a:rPr>
              <a:t>Mois 2</a:t>
            </a:r>
            <a:endParaRPr lang="en-US" sz="1600" dirty="0"/>
          </a:p>
        </p:txBody>
      </p:sp>
      <p:sp>
        <p:nvSpPr>
          <p:cNvPr id="10" name="Shape 7"/>
          <p:cNvSpPr/>
          <p:nvPr/>
        </p:nvSpPr>
        <p:spPr>
          <a:xfrm>
            <a:off x="2148840" y="2057400"/>
            <a:ext cx="6537960" cy="685800"/>
          </a:xfrm>
          <a:prstGeom prst="roundRect">
            <a:avLst>
              <a:gd name="adj" fmla="val 10667"/>
            </a:avLst>
          </a:prstGeom>
          <a:solidFill>
            <a:srgbClr val="F1F5F9"/>
          </a:solidFill>
          <a:ln/>
        </p:spPr>
      </p:sp>
      <p:sp>
        <p:nvSpPr>
          <p:cNvPr id="11" name="Text 8"/>
          <p:cNvSpPr txBox="1"/>
          <p:nvPr/>
        </p:nvSpPr>
        <p:spPr>
          <a:xfrm>
            <a:off x="2331720" y="2057400"/>
            <a:ext cx="6217920" cy="685800"/>
          </a:xfrm>
          <a:prstGeom prst="rect">
            <a:avLst/>
          </a:prstGeom>
          <a:noFill/>
          <a:ln/>
        </p:spPr>
        <p:txBody>
          <a:bodyPr wrap="square" lIns="0" tIns="0" rIns="0" bIns="0" rtlCol="0" anchor="ctr"/>
          <a:lstStyle/>
          <a:p>
            <a:pPr indent="0" marL="0">
              <a:buNone/>
            </a:pPr>
            <a:r>
              <a:rPr lang="en-US" sz="1500" dirty="0">
                <a:solidFill>
                  <a:srgbClr val="1E293B"/>
                </a:solidFill>
              </a:rPr>
              <a:t>Terraform, Ansible, Kubernetes, Prometheus / Grafana</a:t>
            </a:r>
            <a:endParaRPr lang="en-US" sz="1500" dirty="0"/>
          </a:p>
        </p:txBody>
      </p:sp>
      <p:sp>
        <p:nvSpPr>
          <p:cNvPr id="12" name="Shape 9"/>
          <p:cNvSpPr/>
          <p:nvPr/>
        </p:nvSpPr>
        <p:spPr>
          <a:xfrm>
            <a:off x="457200" y="2880360"/>
            <a:ext cx="1554480" cy="685800"/>
          </a:xfrm>
          <a:prstGeom prst="roundRect">
            <a:avLst>
              <a:gd name="adj" fmla="val 10667"/>
            </a:avLst>
          </a:prstGeom>
          <a:solidFill>
            <a:srgbClr val="7C3AED"/>
          </a:solidFill>
          <a:ln/>
        </p:spPr>
      </p:sp>
      <p:sp>
        <p:nvSpPr>
          <p:cNvPr id="13" name="Text 10"/>
          <p:cNvSpPr txBox="1"/>
          <p:nvPr/>
        </p:nvSpPr>
        <p:spPr>
          <a:xfrm>
            <a:off x="457200" y="2880360"/>
            <a:ext cx="1554480" cy="685800"/>
          </a:xfrm>
          <a:prstGeom prst="rect">
            <a:avLst/>
          </a:prstGeom>
          <a:noFill/>
          <a:ln/>
        </p:spPr>
        <p:txBody>
          <a:bodyPr wrap="square" lIns="0" tIns="0" rIns="0" bIns="0" rtlCol="0" anchor="ctr"/>
          <a:lstStyle/>
          <a:p>
            <a:pPr algn="ctr" indent="0" marL="0">
              <a:buNone/>
            </a:pPr>
            <a:r>
              <a:rPr lang="en-US" sz="1600" b="1" dirty="0">
                <a:solidFill>
                  <a:srgbClr val="FFFFFF"/>
                </a:solidFill>
              </a:rPr>
              <a:t>Mois 3</a:t>
            </a:r>
            <a:endParaRPr lang="en-US" sz="1600" dirty="0"/>
          </a:p>
        </p:txBody>
      </p:sp>
      <p:sp>
        <p:nvSpPr>
          <p:cNvPr id="14" name="Shape 11"/>
          <p:cNvSpPr/>
          <p:nvPr/>
        </p:nvSpPr>
        <p:spPr>
          <a:xfrm>
            <a:off x="2148840" y="2880360"/>
            <a:ext cx="6537960" cy="685800"/>
          </a:xfrm>
          <a:prstGeom prst="roundRect">
            <a:avLst>
              <a:gd name="adj" fmla="val 10667"/>
            </a:avLst>
          </a:prstGeom>
          <a:solidFill>
            <a:srgbClr val="F1F5F9"/>
          </a:solidFill>
          <a:ln/>
        </p:spPr>
      </p:sp>
      <p:sp>
        <p:nvSpPr>
          <p:cNvPr id="15" name="Text 12"/>
          <p:cNvSpPr txBox="1"/>
          <p:nvPr/>
        </p:nvSpPr>
        <p:spPr>
          <a:xfrm>
            <a:off x="2331720" y="2880360"/>
            <a:ext cx="6217920" cy="685800"/>
          </a:xfrm>
          <a:prstGeom prst="rect">
            <a:avLst/>
          </a:prstGeom>
          <a:noFill/>
          <a:ln/>
        </p:spPr>
        <p:txBody>
          <a:bodyPr wrap="square" lIns="0" tIns="0" rIns="0" bIns="0" rtlCol="0" anchor="ctr"/>
          <a:lstStyle/>
          <a:p>
            <a:pPr indent="0" marL="0">
              <a:buNone/>
            </a:pPr>
            <a:r>
              <a:rPr lang="en-US" sz="1500" dirty="0">
                <a:solidFill>
                  <a:srgbClr val="1E293B"/>
                </a:solidFill>
              </a:rPr>
              <a:t>Argo CD ou Flux, Kustomize / Helm, secrets, policies</a:t>
            </a:r>
            <a:endParaRPr lang="en-US" sz="1500" dirty="0"/>
          </a:p>
        </p:txBody>
      </p:sp>
      <p:sp>
        <p:nvSpPr>
          <p:cNvPr id="16" name="Shape 13"/>
          <p:cNvSpPr/>
          <p:nvPr/>
        </p:nvSpPr>
        <p:spPr>
          <a:xfrm>
            <a:off x="457200" y="3703320"/>
            <a:ext cx="1554480" cy="685800"/>
          </a:xfrm>
          <a:prstGeom prst="roundRect">
            <a:avLst>
              <a:gd name="adj" fmla="val 10667"/>
            </a:avLst>
          </a:prstGeom>
          <a:solidFill>
            <a:srgbClr val="F97316"/>
          </a:solidFill>
          <a:ln/>
        </p:spPr>
      </p:sp>
      <p:sp>
        <p:nvSpPr>
          <p:cNvPr id="17" name="Text 14"/>
          <p:cNvSpPr txBox="1"/>
          <p:nvPr/>
        </p:nvSpPr>
        <p:spPr>
          <a:xfrm>
            <a:off x="457200" y="3703320"/>
            <a:ext cx="1554480" cy="685800"/>
          </a:xfrm>
          <a:prstGeom prst="rect">
            <a:avLst/>
          </a:prstGeom>
          <a:noFill/>
          <a:ln/>
        </p:spPr>
        <p:txBody>
          <a:bodyPr wrap="square" lIns="0" tIns="0" rIns="0" bIns="0" rtlCol="0" anchor="ctr"/>
          <a:lstStyle/>
          <a:p>
            <a:pPr algn="ctr" indent="0" marL="0">
              <a:buNone/>
            </a:pPr>
            <a:r>
              <a:rPr lang="en-US" sz="1600" b="1" dirty="0">
                <a:solidFill>
                  <a:srgbClr val="FFFFFF"/>
                </a:solidFill>
              </a:rPr>
              <a:t>Ensuite</a:t>
            </a:r>
            <a:endParaRPr lang="en-US" sz="1600" dirty="0"/>
          </a:p>
        </p:txBody>
      </p:sp>
      <p:sp>
        <p:nvSpPr>
          <p:cNvPr id="18" name="Shape 15"/>
          <p:cNvSpPr/>
          <p:nvPr/>
        </p:nvSpPr>
        <p:spPr>
          <a:xfrm>
            <a:off x="2148840" y="3703320"/>
            <a:ext cx="6537960" cy="685800"/>
          </a:xfrm>
          <a:prstGeom prst="roundRect">
            <a:avLst>
              <a:gd name="adj" fmla="val 10667"/>
            </a:avLst>
          </a:prstGeom>
          <a:solidFill>
            <a:srgbClr val="F1F5F9"/>
          </a:solidFill>
          <a:ln/>
        </p:spPr>
      </p:sp>
      <p:sp>
        <p:nvSpPr>
          <p:cNvPr id="19" name="Text 16"/>
          <p:cNvSpPr txBox="1"/>
          <p:nvPr/>
        </p:nvSpPr>
        <p:spPr>
          <a:xfrm>
            <a:off x="2331720" y="3703320"/>
            <a:ext cx="6217920" cy="685800"/>
          </a:xfrm>
          <a:prstGeom prst="rect">
            <a:avLst/>
          </a:prstGeom>
          <a:noFill/>
          <a:ln/>
        </p:spPr>
        <p:txBody>
          <a:bodyPr wrap="square" lIns="0" tIns="0" rIns="0" bIns="0" rtlCol="0" anchor="ctr"/>
          <a:lstStyle/>
          <a:p>
            <a:pPr indent="0" marL="0">
              <a:buNone/>
            </a:pPr>
            <a:r>
              <a:rPr lang="en-US" sz="1500" dirty="0">
                <a:solidFill>
                  <a:srgbClr val="1E293B"/>
                </a:solidFill>
              </a:rPr>
              <a:t>Progressive delivery, multi-cluster, platform engineering. TP : secrets, politiques, canary</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Points clés à retenir</a:t>
            </a:r>
            <a:endParaRPr lang="en-US" sz="2800" dirty="0"/>
          </a:p>
        </p:txBody>
      </p:sp>
      <p:sp>
        <p:nvSpPr>
          <p:cNvPr id="4" name="Shape 1"/>
          <p:cNvSpPr/>
          <p:nvPr/>
        </p:nvSpPr>
        <p:spPr>
          <a:xfrm>
            <a:off x="457200" y="1188720"/>
            <a:ext cx="1828800" cy="731520"/>
          </a:xfrm>
          <a:prstGeom prst="roundRect">
            <a:avLst>
              <a:gd name="adj" fmla="val 10000"/>
            </a:avLst>
          </a:prstGeom>
          <a:solidFill>
            <a:srgbClr val="0D9488"/>
          </a:solidFill>
          <a:ln/>
        </p:spPr>
      </p:sp>
      <p:sp>
        <p:nvSpPr>
          <p:cNvPr id="5" name="Text 2"/>
          <p:cNvSpPr txBox="1"/>
          <p:nvPr/>
        </p:nvSpPr>
        <p:spPr>
          <a:xfrm>
            <a:off x="457200" y="1188720"/>
            <a:ext cx="1828800" cy="731520"/>
          </a:xfrm>
          <a:prstGeom prst="rect">
            <a:avLst/>
          </a:prstGeom>
          <a:noFill/>
          <a:ln/>
        </p:spPr>
        <p:txBody>
          <a:bodyPr wrap="square" lIns="0" tIns="0" rIns="0" bIns="0" rtlCol="0" anchor="ctr"/>
          <a:lstStyle/>
          <a:p>
            <a:pPr algn="ctr" indent="0" marL="0">
              <a:buNone/>
            </a:pPr>
            <a:r>
              <a:rPr lang="en-US" sz="1800" b="1" dirty="0">
                <a:solidFill>
                  <a:srgbClr val="FFFFFF"/>
                </a:solidFill>
              </a:rPr>
              <a:t>DevOps</a:t>
            </a:r>
            <a:endParaRPr lang="en-US" sz="1800" dirty="0"/>
          </a:p>
        </p:txBody>
      </p:sp>
      <p:sp>
        <p:nvSpPr>
          <p:cNvPr id="6" name="Text 3"/>
          <p:cNvSpPr txBox="1"/>
          <p:nvPr/>
        </p:nvSpPr>
        <p:spPr>
          <a:xfrm>
            <a:off x="2468880" y="1188720"/>
            <a:ext cx="6217920" cy="731520"/>
          </a:xfrm>
          <a:prstGeom prst="rect">
            <a:avLst/>
          </a:prstGeom>
          <a:noFill/>
          <a:ln/>
        </p:spPr>
        <p:txBody>
          <a:bodyPr wrap="square" lIns="0" tIns="0" rIns="0" bIns="0" rtlCol="0" anchor="ctr"/>
          <a:lstStyle/>
          <a:p>
            <a:pPr indent="0" marL="0">
              <a:buNone/>
            </a:pPr>
            <a:r>
              <a:rPr lang="en-US" sz="1700" dirty="0">
                <a:solidFill>
                  <a:srgbClr val="FFFFFF"/>
                </a:solidFill>
              </a:rPr>
              <a:t>est avant tout une culture, outillée par l'automatisation</a:t>
            </a:r>
            <a:endParaRPr lang="en-US" sz="1700" dirty="0"/>
          </a:p>
        </p:txBody>
      </p:sp>
      <p:sp>
        <p:nvSpPr>
          <p:cNvPr id="7" name="Shape 4"/>
          <p:cNvSpPr/>
          <p:nvPr/>
        </p:nvSpPr>
        <p:spPr>
          <a:xfrm>
            <a:off x="457200" y="2057400"/>
            <a:ext cx="1828800" cy="731520"/>
          </a:xfrm>
          <a:prstGeom prst="roundRect">
            <a:avLst>
              <a:gd name="adj" fmla="val 10000"/>
            </a:avLst>
          </a:prstGeom>
          <a:solidFill>
            <a:srgbClr val="0EA5E9"/>
          </a:solidFill>
          <a:ln/>
        </p:spPr>
      </p:sp>
      <p:sp>
        <p:nvSpPr>
          <p:cNvPr id="8" name="Text 5"/>
          <p:cNvSpPr txBox="1"/>
          <p:nvPr/>
        </p:nvSpPr>
        <p:spPr>
          <a:xfrm>
            <a:off x="457200" y="2057400"/>
            <a:ext cx="1828800" cy="731520"/>
          </a:xfrm>
          <a:prstGeom prst="rect">
            <a:avLst/>
          </a:prstGeom>
          <a:noFill/>
          <a:ln/>
        </p:spPr>
        <p:txBody>
          <a:bodyPr wrap="square" lIns="0" tIns="0" rIns="0" bIns="0" rtlCol="0" anchor="ctr"/>
          <a:lstStyle/>
          <a:p>
            <a:pPr algn="ctr" indent="0" marL="0">
              <a:buNone/>
            </a:pPr>
            <a:r>
              <a:rPr lang="en-US" sz="1800" b="1" dirty="0">
                <a:solidFill>
                  <a:srgbClr val="FFFFFF"/>
                </a:solidFill>
              </a:rPr>
              <a:t>CI/CD</a:t>
            </a:r>
            <a:endParaRPr lang="en-US" sz="1800" dirty="0"/>
          </a:p>
        </p:txBody>
      </p:sp>
      <p:sp>
        <p:nvSpPr>
          <p:cNvPr id="9" name="Text 6"/>
          <p:cNvSpPr txBox="1"/>
          <p:nvPr/>
        </p:nvSpPr>
        <p:spPr>
          <a:xfrm>
            <a:off x="2468880" y="2057400"/>
            <a:ext cx="6217920" cy="731520"/>
          </a:xfrm>
          <a:prstGeom prst="rect">
            <a:avLst/>
          </a:prstGeom>
          <a:noFill/>
          <a:ln/>
        </p:spPr>
        <p:txBody>
          <a:bodyPr wrap="square" lIns="0" tIns="0" rIns="0" bIns="0" rtlCol="0" anchor="ctr"/>
          <a:lstStyle/>
          <a:p>
            <a:pPr indent="0" marL="0">
              <a:buNone/>
            </a:pPr>
            <a:r>
              <a:rPr lang="en-US" sz="1700" dirty="0">
                <a:solidFill>
                  <a:srgbClr val="FFFFFF"/>
                </a:solidFill>
              </a:rPr>
              <a:t>livre vite, souvent, avec fiabilité</a:t>
            </a:r>
            <a:endParaRPr lang="en-US" sz="1700" dirty="0"/>
          </a:p>
        </p:txBody>
      </p:sp>
      <p:sp>
        <p:nvSpPr>
          <p:cNvPr id="10" name="Shape 7"/>
          <p:cNvSpPr/>
          <p:nvPr/>
        </p:nvSpPr>
        <p:spPr>
          <a:xfrm>
            <a:off x="457200" y="2926080"/>
            <a:ext cx="1828800" cy="731520"/>
          </a:xfrm>
          <a:prstGeom prst="roundRect">
            <a:avLst>
              <a:gd name="adj" fmla="val 10000"/>
            </a:avLst>
          </a:prstGeom>
          <a:solidFill>
            <a:srgbClr val="F97316"/>
          </a:solidFill>
          <a:ln/>
        </p:spPr>
      </p:sp>
      <p:sp>
        <p:nvSpPr>
          <p:cNvPr id="11" name="Text 8"/>
          <p:cNvSpPr txBox="1"/>
          <p:nvPr/>
        </p:nvSpPr>
        <p:spPr>
          <a:xfrm>
            <a:off x="457200" y="2926080"/>
            <a:ext cx="1828800" cy="731520"/>
          </a:xfrm>
          <a:prstGeom prst="rect">
            <a:avLst/>
          </a:prstGeom>
          <a:noFill/>
          <a:ln/>
        </p:spPr>
        <p:txBody>
          <a:bodyPr wrap="square" lIns="0" tIns="0" rIns="0" bIns="0" rtlCol="0" anchor="ctr"/>
          <a:lstStyle/>
          <a:p>
            <a:pPr algn="ctr" indent="0" marL="0">
              <a:buNone/>
            </a:pPr>
            <a:r>
              <a:rPr lang="en-US" sz="1800" b="1" dirty="0">
                <a:solidFill>
                  <a:srgbClr val="FFFFFF"/>
                </a:solidFill>
              </a:rPr>
              <a:t>IaC</a:t>
            </a:r>
            <a:endParaRPr lang="en-US" sz="1800" dirty="0"/>
          </a:p>
        </p:txBody>
      </p:sp>
      <p:sp>
        <p:nvSpPr>
          <p:cNvPr id="12" name="Text 9"/>
          <p:cNvSpPr txBox="1"/>
          <p:nvPr/>
        </p:nvSpPr>
        <p:spPr>
          <a:xfrm>
            <a:off x="2468880" y="2926080"/>
            <a:ext cx="6217920" cy="731520"/>
          </a:xfrm>
          <a:prstGeom prst="rect">
            <a:avLst/>
          </a:prstGeom>
          <a:noFill/>
          <a:ln/>
        </p:spPr>
        <p:txBody>
          <a:bodyPr wrap="square" lIns="0" tIns="0" rIns="0" bIns="0" rtlCol="0" anchor="ctr"/>
          <a:lstStyle/>
          <a:p>
            <a:pPr indent="0" marL="0">
              <a:buNone/>
            </a:pPr>
            <a:r>
              <a:rPr lang="en-US" sz="1700" dirty="0">
                <a:solidFill>
                  <a:srgbClr val="FFFFFF"/>
                </a:solidFill>
              </a:rPr>
              <a:t>décrit l'infrastructure comme du code</a:t>
            </a:r>
            <a:endParaRPr lang="en-US" sz="1700" dirty="0"/>
          </a:p>
        </p:txBody>
      </p:sp>
      <p:sp>
        <p:nvSpPr>
          <p:cNvPr id="13" name="Shape 10"/>
          <p:cNvSpPr/>
          <p:nvPr/>
        </p:nvSpPr>
        <p:spPr>
          <a:xfrm>
            <a:off x="457200" y="3794760"/>
            <a:ext cx="1828800" cy="731520"/>
          </a:xfrm>
          <a:prstGeom prst="roundRect">
            <a:avLst>
              <a:gd name="adj" fmla="val 10000"/>
            </a:avLst>
          </a:prstGeom>
          <a:solidFill>
            <a:srgbClr val="7C3AED"/>
          </a:solidFill>
          <a:ln/>
        </p:spPr>
      </p:sp>
      <p:sp>
        <p:nvSpPr>
          <p:cNvPr id="14" name="Text 11"/>
          <p:cNvSpPr txBox="1"/>
          <p:nvPr/>
        </p:nvSpPr>
        <p:spPr>
          <a:xfrm>
            <a:off x="457200" y="3794760"/>
            <a:ext cx="1828800" cy="731520"/>
          </a:xfrm>
          <a:prstGeom prst="rect">
            <a:avLst/>
          </a:prstGeom>
          <a:noFill/>
          <a:ln/>
        </p:spPr>
        <p:txBody>
          <a:bodyPr wrap="square" lIns="0" tIns="0" rIns="0" bIns="0" rtlCol="0" anchor="ctr"/>
          <a:lstStyle/>
          <a:p>
            <a:pPr algn="ctr" indent="0" marL="0">
              <a:buNone/>
            </a:pPr>
            <a:r>
              <a:rPr lang="en-US" sz="1800" b="1" dirty="0">
                <a:solidFill>
                  <a:srgbClr val="FFFFFF"/>
                </a:solidFill>
              </a:rPr>
              <a:t>GitOps</a:t>
            </a:r>
            <a:endParaRPr lang="en-US" sz="1800" dirty="0"/>
          </a:p>
        </p:txBody>
      </p:sp>
      <p:sp>
        <p:nvSpPr>
          <p:cNvPr id="15" name="Text 12"/>
          <p:cNvSpPr txBox="1"/>
          <p:nvPr/>
        </p:nvSpPr>
        <p:spPr>
          <a:xfrm>
            <a:off x="2468880" y="3794760"/>
            <a:ext cx="6217920" cy="731520"/>
          </a:xfrm>
          <a:prstGeom prst="rect">
            <a:avLst/>
          </a:prstGeom>
          <a:noFill/>
          <a:ln/>
        </p:spPr>
        <p:txBody>
          <a:bodyPr wrap="square" lIns="0" tIns="0" rIns="0" bIns="0" rtlCol="0" anchor="ctr"/>
          <a:lstStyle/>
          <a:p>
            <a:pPr indent="0" marL="0">
              <a:buNone/>
            </a:pPr>
            <a:r>
              <a:rPr lang="en-US" sz="1700" dirty="0">
                <a:solidFill>
                  <a:srgbClr val="FFFFFF"/>
                </a:solidFill>
              </a:rPr>
              <a:t>Git = vérité, agent = réconciliation continue</a:t>
            </a:r>
            <a:endParaRPr lang="en-US" sz="17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Quiz et questions</a:t>
            </a:r>
            <a:endParaRPr lang="en-US" sz="2800" dirty="0"/>
          </a:p>
        </p:txBody>
      </p:sp>
      <p:sp>
        <p:nvSpPr>
          <p:cNvPr id="4" name="Shape 1"/>
          <p:cNvSpPr/>
          <p:nvPr/>
        </p:nvSpPr>
        <p:spPr>
          <a:xfrm>
            <a:off x="457200" y="1188720"/>
            <a:ext cx="8229600" cy="548640"/>
          </a:xfrm>
          <a:prstGeom prst="roundRect">
            <a:avLst>
              <a:gd name="adj" fmla="val 13333"/>
            </a:avLst>
          </a:prstGeom>
          <a:solidFill>
            <a:srgbClr val="F1F5F9"/>
          </a:solidFill>
          <a:ln/>
        </p:spPr>
      </p:sp>
      <p:sp>
        <p:nvSpPr>
          <p:cNvPr id="5" name="Text 2"/>
          <p:cNvSpPr txBox="1"/>
          <p:nvPr/>
        </p:nvSpPr>
        <p:spPr>
          <a:xfrm>
            <a:off x="640080" y="1188720"/>
            <a:ext cx="7863840" cy="548640"/>
          </a:xfrm>
          <a:prstGeom prst="rect">
            <a:avLst/>
          </a:prstGeom>
          <a:noFill/>
          <a:ln/>
        </p:spPr>
        <p:txBody>
          <a:bodyPr wrap="square" lIns="0" tIns="0" rIns="0" bIns="0" rtlCol="0" anchor="ctr"/>
          <a:lstStyle/>
          <a:p>
            <a:pPr indent="0" marL="0">
              <a:buNone/>
            </a:pPr>
            <a:r>
              <a:rPr lang="en-US" sz="1600" dirty="0">
                <a:solidFill>
                  <a:srgbClr val="0F172A"/>
                </a:solidFill>
              </a:rPr>
              <a:t>1. Qui déclenche le déploiement dans un modèle GitOps pull ?</a:t>
            </a:r>
            <a:endParaRPr lang="en-US" sz="1600" dirty="0"/>
          </a:p>
        </p:txBody>
      </p:sp>
      <p:sp>
        <p:nvSpPr>
          <p:cNvPr id="6" name="Shape 3"/>
          <p:cNvSpPr/>
          <p:nvPr/>
        </p:nvSpPr>
        <p:spPr>
          <a:xfrm>
            <a:off x="457200" y="1847088"/>
            <a:ext cx="8229600" cy="548640"/>
          </a:xfrm>
          <a:prstGeom prst="roundRect">
            <a:avLst>
              <a:gd name="adj" fmla="val 13333"/>
            </a:avLst>
          </a:prstGeom>
          <a:solidFill>
            <a:srgbClr val="F1F5F9"/>
          </a:solidFill>
          <a:ln/>
        </p:spPr>
      </p:sp>
      <p:sp>
        <p:nvSpPr>
          <p:cNvPr id="7" name="Text 4"/>
          <p:cNvSpPr txBox="1"/>
          <p:nvPr/>
        </p:nvSpPr>
        <p:spPr>
          <a:xfrm>
            <a:off x="640080" y="1847088"/>
            <a:ext cx="7863840" cy="548640"/>
          </a:xfrm>
          <a:prstGeom prst="rect">
            <a:avLst/>
          </a:prstGeom>
          <a:noFill/>
          <a:ln/>
        </p:spPr>
        <p:txBody>
          <a:bodyPr wrap="square" lIns="0" tIns="0" rIns="0" bIns="0" rtlCol="0" anchor="ctr"/>
          <a:lstStyle/>
          <a:p>
            <a:pPr indent="0" marL="0">
              <a:buNone/>
            </a:pPr>
            <a:r>
              <a:rPr lang="en-US" sz="1600" dirty="0">
                <a:solidFill>
                  <a:srgbClr val="0F172A"/>
                </a:solidFill>
              </a:rPr>
              <a:t>2. Que fait l'option selfHeal d'Argo CD ?</a:t>
            </a:r>
            <a:endParaRPr lang="en-US" sz="1600" dirty="0"/>
          </a:p>
        </p:txBody>
      </p:sp>
      <p:sp>
        <p:nvSpPr>
          <p:cNvPr id="8" name="Shape 5"/>
          <p:cNvSpPr/>
          <p:nvPr/>
        </p:nvSpPr>
        <p:spPr>
          <a:xfrm>
            <a:off x="457200" y="2505456"/>
            <a:ext cx="8229600" cy="548640"/>
          </a:xfrm>
          <a:prstGeom prst="roundRect">
            <a:avLst>
              <a:gd name="adj" fmla="val 13333"/>
            </a:avLst>
          </a:prstGeom>
          <a:solidFill>
            <a:srgbClr val="F1F5F9"/>
          </a:solidFill>
          <a:ln/>
        </p:spPr>
      </p:sp>
      <p:sp>
        <p:nvSpPr>
          <p:cNvPr id="9" name="Text 6"/>
          <p:cNvSpPr txBox="1"/>
          <p:nvPr/>
        </p:nvSpPr>
        <p:spPr>
          <a:xfrm>
            <a:off x="640080" y="2505456"/>
            <a:ext cx="7863840" cy="548640"/>
          </a:xfrm>
          <a:prstGeom prst="rect">
            <a:avLst/>
          </a:prstGeom>
          <a:noFill/>
          <a:ln/>
        </p:spPr>
        <p:txBody>
          <a:bodyPr wrap="square" lIns="0" tIns="0" rIns="0" bIns="0" rtlCol="0" anchor="ctr"/>
          <a:lstStyle/>
          <a:p>
            <a:pPr indent="0" marL="0">
              <a:buNone/>
            </a:pPr>
            <a:r>
              <a:rPr lang="en-US" sz="1600" dirty="0">
                <a:solidFill>
                  <a:srgbClr val="0F172A"/>
                </a:solidFill>
              </a:rPr>
              <a:t>3. Comment annuler un déploiement en GitOps ?</a:t>
            </a:r>
            <a:endParaRPr lang="en-US" sz="1600" dirty="0"/>
          </a:p>
        </p:txBody>
      </p:sp>
      <p:sp>
        <p:nvSpPr>
          <p:cNvPr id="10" name="Shape 7"/>
          <p:cNvSpPr/>
          <p:nvPr/>
        </p:nvSpPr>
        <p:spPr>
          <a:xfrm>
            <a:off x="457200" y="3163824"/>
            <a:ext cx="8229600" cy="548640"/>
          </a:xfrm>
          <a:prstGeom prst="roundRect">
            <a:avLst>
              <a:gd name="adj" fmla="val 13333"/>
            </a:avLst>
          </a:prstGeom>
          <a:solidFill>
            <a:srgbClr val="F1F5F9"/>
          </a:solidFill>
          <a:ln/>
        </p:spPr>
      </p:sp>
      <p:sp>
        <p:nvSpPr>
          <p:cNvPr id="11" name="Text 8"/>
          <p:cNvSpPr txBox="1"/>
          <p:nvPr/>
        </p:nvSpPr>
        <p:spPr>
          <a:xfrm>
            <a:off x="640080" y="3163824"/>
            <a:ext cx="7863840" cy="548640"/>
          </a:xfrm>
          <a:prstGeom prst="rect">
            <a:avLst/>
          </a:prstGeom>
          <a:noFill/>
          <a:ln/>
        </p:spPr>
        <p:txBody>
          <a:bodyPr wrap="square" lIns="0" tIns="0" rIns="0" bIns="0" rtlCol="0" anchor="ctr"/>
          <a:lstStyle/>
          <a:p>
            <a:pPr indent="0" marL="0">
              <a:buNone/>
            </a:pPr>
            <a:r>
              <a:rPr lang="en-US" sz="1600" dirty="0">
                <a:solidFill>
                  <a:srgbClr val="0F172A"/>
                </a:solidFill>
              </a:rPr>
              <a:t>4. Comment stocker un secret sans le mettre en clair dans Git ?</a:t>
            </a:r>
            <a:endParaRPr lang="en-US" sz="1600" dirty="0"/>
          </a:p>
        </p:txBody>
      </p:sp>
      <p:sp>
        <p:nvSpPr>
          <p:cNvPr id="12" name="Shape 9"/>
          <p:cNvSpPr/>
          <p:nvPr/>
        </p:nvSpPr>
        <p:spPr>
          <a:xfrm>
            <a:off x="457200" y="3822192"/>
            <a:ext cx="8229600" cy="548640"/>
          </a:xfrm>
          <a:prstGeom prst="roundRect">
            <a:avLst>
              <a:gd name="adj" fmla="val 13333"/>
            </a:avLst>
          </a:prstGeom>
          <a:solidFill>
            <a:srgbClr val="F1F5F9"/>
          </a:solidFill>
          <a:ln/>
        </p:spPr>
      </p:sp>
      <p:sp>
        <p:nvSpPr>
          <p:cNvPr id="13" name="Text 10"/>
          <p:cNvSpPr txBox="1"/>
          <p:nvPr/>
        </p:nvSpPr>
        <p:spPr>
          <a:xfrm>
            <a:off x="640080" y="3822192"/>
            <a:ext cx="7863840" cy="548640"/>
          </a:xfrm>
          <a:prstGeom prst="rect">
            <a:avLst/>
          </a:prstGeom>
          <a:noFill/>
          <a:ln/>
        </p:spPr>
        <p:txBody>
          <a:bodyPr wrap="square" lIns="0" tIns="0" rIns="0" bIns="0" rtlCol="0" anchor="ctr"/>
          <a:lstStyle/>
          <a:p>
            <a:pPr indent="0" marL="0">
              <a:buNone/>
            </a:pPr>
            <a:r>
              <a:rPr lang="en-US" sz="1600" dirty="0">
                <a:solidFill>
                  <a:srgbClr val="0F172A"/>
                </a:solidFill>
              </a:rPr>
              <a:t>5. Citez les 4 métriques DORA.</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Synthèse du cours</a:t>
            </a:r>
            <a:endParaRPr lang="en-US" sz="2800" dirty="0"/>
          </a:p>
        </p:txBody>
      </p:sp>
      <p:sp>
        <p:nvSpPr>
          <p:cNvPr id="4" name="Shape 1"/>
          <p:cNvSpPr/>
          <p:nvPr/>
        </p:nvSpPr>
        <p:spPr>
          <a:xfrm>
            <a:off x="457200" y="1188720"/>
            <a:ext cx="1938528" cy="502920"/>
          </a:xfrm>
          <a:prstGeom prst="roundRect">
            <a:avLst>
              <a:gd name="adj" fmla="val 14545"/>
            </a:avLst>
          </a:prstGeom>
          <a:solidFill>
            <a:srgbClr val="0D9488"/>
          </a:solidFill>
          <a:ln/>
        </p:spPr>
      </p:sp>
      <p:sp>
        <p:nvSpPr>
          <p:cNvPr id="5" name="Text 2"/>
          <p:cNvSpPr txBox="1"/>
          <p:nvPr/>
        </p:nvSpPr>
        <p:spPr>
          <a:xfrm>
            <a:off x="457200" y="1188720"/>
            <a:ext cx="1938528" cy="502920"/>
          </a:xfrm>
          <a:prstGeom prst="rect">
            <a:avLst/>
          </a:prstGeom>
          <a:noFill/>
          <a:ln/>
        </p:spPr>
        <p:txBody>
          <a:bodyPr wrap="square" lIns="0" tIns="0" rIns="0" bIns="0" rtlCol="0" anchor="ctr"/>
          <a:lstStyle/>
          <a:p>
            <a:pPr algn="ctr" indent="0" marL="0">
              <a:buNone/>
            </a:pPr>
            <a:r>
              <a:rPr lang="en-US" sz="1600" b="1" dirty="0">
                <a:solidFill>
                  <a:srgbClr val="FFFFFF"/>
                </a:solidFill>
              </a:rPr>
              <a:t>Débutant</a:t>
            </a:r>
            <a:endParaRPr lang="en-US" sz="1600" dirty="0"/>
          </a:p>
        </p:txBody>
      </p:sp>
      <p:sp>
        <p:nvSpPr>
          <p:cNvPr id="6" name="Shape 3"/>
          <p:cNvSpPr/>
          <p:nvPr/>
        </p:nvSpPr>
        <p:spPr>
          <a:xfrm>
            <a:off x="457200" y="1783080"/>
            <a:ext cx="1938528" cy="2103120"/>
          </a:xfrm>
          <a:prstGeom prst="roundRect">
            <a:avLst>
              <a:gd name="adj" fmla="val 3774"/>
            </a:avLst>
          </a:prstGeom>
          <a:solidFill>
            <a:srgbClr val="F1F5F9"/>
          </a:solidFill>
          <a:ln/>
        </p:spPr>
      </p:sp>
      <p:sp>
        <p:nvSpPr>
          <p:cNvPr id="7" name="Text 4"/>
          <p:cNvSpPr txBox="1"/>
          <p:nvPr/>
        </p:nvSpPr>
        <p:spPr>
          <a:xfrm>
            <a:off x="566928" y="1874520"/>
            <a:ext cx="173736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93B"/>
                </a:solidFill>
              </a:rPr>
              <a:t>DevOps = culture + pratiques + outils</a:t>
            </a:r>
            <a:endParaRPr lang="en-US" sz="1400" dirty="0"/>
          </a:p>
          <a:p>
            <a:pPr marL="342900" indent="-342900">
              <a:spcAft>
                <a:spcPts val="800"/>
              </a:spcAft>
              <a:buSzPct val="100000"/>
              <a:buChar char="•"/>
            </a:pPr>
            <a:r>
              <a:rPr lang="en-US" sz="1400" dirty="0">
                <a:solidFill>
                  <a:srgbClr val="1E293B"/>
                </a:solidFill>
              </a:rPr>
              <a:t>Pipeline CI/CD automatisé</a:t>
            </a:r>
            <a:endParaRPr lang="en-US" sz="1400" dirty="0"/>
          </a:p>
          <a:p>
            <a:pPr marL="342900" indent="-342900">
              <a:spcAft>
                <a:spcPts val="800"/>
              </a:spcAft>
              <a:buSzPct val="100000"/>
              <a:buChar char="•"/>
            </a:pPr>
            <a:r>
              <a:rPr lang="en-US" sz="1400" dirty="0">
                <a:solidFill>
                  <a:srgbClr val="1E293B"/>
                </a:solidFill>
              </a:rPr>
              <a:t>Feedback rapide et boucle continue</a:t>
            </a:r>
            <a:endParaRPr lang="en-US" sz="1400" dirty="0"/>
          </a:p>
        </p:txBody>
      </p:sp>
      <p:sp>
        <p:nvSpPr>
          <p:cNvPr id="8" name="Shape 5"/>
          <p:cNvSpPr/>
          <p:nvPr/>
        </p:nvSpPr>
        <p:spPr>
          <a:xfrm>
            <a:off x="2542032" y="1188720"/>
            <a:ext cx="1938528" cy="502920"/>
          </a:xfrm>
          <a:prstGeom prst="roundRect">
            <a:avLst>
              <a:gd name="adj" fmla="val 14545"/>
            </a:avLst>
          </a:prstGeom>
          <a:solidFill>
            <a:srgbClr val="0EA5E9"/>
          </a:solidFill>
          <a:ln/>
        </p:spPr>
      </p:sp>
      <p:sp>
        <p:nvSpPr>
          <p:cNvPr id="9" name="Text 6"/>
          <p:cNvSpPr txBox="1"/>
          <p:nvPr/>
        </p:nvSpPr>
        <p:spPr>
          <a:xfrm>
            <a:off x="2542032" y="1188720"/>
            <a:ext cx="1938528" cy="502920"/>
          </a:xfrm>
          <a:prstGeom prst="rect">
            <a:avLst/>
          </a:prstGeom>
          <a:noFill/>
          <a:ln/>
        </p:spPr>
        <p:txBody>
          <a:bodyPr wrap="square" lIns="0" tIns="0" rIns="0" bIns="0" rtlCol="0" anchor="ctr"/>
          <a:lstStyle/>
          <a:p>
            <a:pPr algn="ctr" indent="0" marL="0">
              <a:buNone/>
            </a:pPr>
            <a:r>
              <a:rPr lang="en-US" sz="1600" b="1" dirty="0">
                <a:solidFill>
                  <a:srgbClr val="FFFFFF"/>
                </a:solidFill>
              </a:rPr>
              <a:t>Intermédiaire</a:t>
            </a:r>
            <a:endParaRPr lang="en-US" sz="1600" dirty="0"/>
          </a:p>
        </p:txBody>
      </p:sp>
      <p:sp>
        <p:nvSpPr>
          <p:cNvPr id="10" name="Shape 7"/>
          <p:cNvSpPr/>
          <p:nvPr/>
        </p:nvSpPr>
        <p:spPr>
          <a:xfrm>
            <a:off x="2542032" y="1783080"/>
            <a:ext cx="1938528" cy="2103120"/>
          </a:xfrm>
          <a:prstGeom prst="roundRect">
            <a:avLst>
              <a:gd name="adj" fmla="val 3774"/>
            </a:avLst>
          </a:prstGeom>
          <a:solidFill>
            <a:srgbClr val="F1F5F9"/>
          </a:solidFill>
          <a:ln/>
        </p:spPr>
      </p:sp>
      <p:sp>
        <p:nvSpPr>
          <p:cNvPr id="11" name="Text 8"/>
          <p:cNvSpPr txBox="1"/>
          <p:nvPr/>
        </p:nvSpPr>
        <p:spPr>
          <a:xfrm>
            <a:off x="2651760" y="1874520"/>
            <a:ext cx="173736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93B"/>
                </a:solidFill>
              </a:rPr>
              <a:t>IaC, Docker, Kubernetes</a:t>
            </a:r>
            <a:endParaRPr lang="en-US" sz="1400" dirty="0"/>
          </a:p>
          <a:p>
            <a:pPr marL="342900" indent="-342900">
              <a:spcAft>
                <a:spcPts val="800"/>
              </a:spcAft>
              <a:buSzPct val="100000"/>
              <a:buChar char="•"/>
            </a:pPr>
            <a:r>
              <a:rPr lang="en-US" sz="1400" dirty="0">
                <a:solidFill>
                  <a:srgbClr val="1E293B"/>
                </a:solidFill>
              </a:rPr>
              <a:t>Rolling, blue/green, canary</a:t>
            </a:r>
            <a:endParaRPr lang="en-US" sz="1400" dirty="0"/>
          </a:p>
          <a:p>
            <a:pPr marL="342900" indent="-342900">
              <a:spcAft>
                <a:spcPts val="800"/>
              </a:spcAft>
              <a:buSzPct val="100000"/>
              <a:buChar char="•"/>
            </a:pPr>
            <a:r>
              <a:rPr lang="en-US" sz="1400" dirty="0">
                <a:solidFill>
                  <a:srgbClr val="1E293B"/>
                </a:solidFill>
              </a:rPr>
              <a:t>Observabilité, DevSecOps, DORA</a:t>
            </a:r>
            <a:endParaRPr lang="en-US" sz="1400" dirty="0"/>
          </a:p>
        </p:txBody>
      </p:sp>
      <p:sp>
        <p:nvSpPr>
          <p:cNvPr id="12" name="Shape 9"/>
          <p:cNvSpPr/>
          <p:nvPr/>
        </p:nvSpPr>
        <p:spPr>
          <a:xfrm>
            <a:off x="4626864" y="1188720"/>
            <a:ext cx="1938528" cy="502920"/>
          </a:xfrm>
          <a:prstGeom prst="roundRect">
            <a:avLst>
              <a:gd name="adj" fmla="val 14545"/>
            </a:avLst>
          </a:prstGeom>
          <a:solidFill>
            <a:srgbClr val="7C3AED"/>
          </a:solidFill>
          <a:ln/>
        </p:spPr>
      </p:sp>
      <p:sp>
        <p:nvSpPr>
          <p:cNvPr id="13" name="Text 10"/>
          <p:cNvSpPr txBox="1"/>
          <p:nvPr/>
        </p:nvSpPr>
        <p:spPr>
          <a:xfrm>
            <a:off x="4626864" y="1188720"/>
            <a:ext cx="1938528" cy="502920"/>
          </a:xfrm>
          <a:prstGeom prst="rect">
            <a:avLst/>
          </a:prstGeom>
          <a:noFill/>
          <a:ln/>
        </p:spPr>
        <p:txBody>
          <a:bodyPr wrap="square" lIns="0" tIns="0" rIns="0" bIns="0" rtlCol="0" anchor="ctr"/>
          <a:lstStyle/>
          <a:p>
            <a:pPr algn="ctr" indent="0" marL="0">
              <a:buNone/>
            </a:pPr>
            <a:r>
              <a:rPr lang="en-US" sz="1600" b="1" dirty="0">
                <a:solidFill>
                  <a:srgbClr val="FFFFFF"/>
                </a:solidFill>
              </a:rPr>
              <a:t>GitOps</a:t>
            </a:r>
            <a:endParaRPr lang="en-US" sz="1600" dirty="0"/>
          </a:p>
        </p:txBody>
      </p:sp>
      <p:sp>
        <p:nvSpPr>
          <p:cNvPr id="14" name="Shape 11"/>
          <p:cNvSpPr/>
          <p:nvPr/>
        </p:nvSpPr>
        <p:spPr>
          <a:xfrm>
            <a:off x="4626864" y="1783080"/>
            <a:ext cx="1938528" cy="2103120"/>
          </a:xfrm>
          <a:prstGeom prst="roundRect">
            <a:avLst>
              <a:gd name="adj" fmla="val 3774"/>
            </a:avLst>
          </a:prstGeom>
          <a:solidFill>
            <a:srgbClr val="F1F5F9"/>
          </a:solidFill>
          <a:ln/>
        </p:spPr>
      </p:sp>
      <p:sp>
        <p:nvSpPr>
          <p:cNvPr id="15" name="Text 12"/>
          <p:cNvSpPr txBox="1"/>
          <p:nvPr/>
        </p:nvSpPr>
        <p:spPr>
          <a:xfrm>
            <a:off x="4736592" y="1874520"/>
            <a:ext cx="173736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93B"/>
                </a:solidFill>
              </a:rPr>
              <a:t>Git = source unique de vérité</a:t>
            </a:r>
            <a:endParaRPr lang="en-US" sz="1400" dirty="0"/>
          </a:p>
          <a:p>
            <a:pPr marL="342900" indent="-342900">
              <a:spcAft>
                <a:spcPts val="800"/>
              </a:spcAft>
              <a:buSzPct val="100000"/>
              <a:buChar char="•"/>
            </a:pPr>
            <a:r>
              <a:rPr lang="en-US" sz="1400" dirty="0">
                <a:solidFill>
                  <a:srgbClr val="1E293B"/>
                </a:solidFill>
              </a:rPr>
              <a:t>Pull + réconciliation continue</a:t>
            </a:r>
            <a:endParaRPr lang="en-US" sz="1400" dirty="0"/>
          </a:p>
          <a:p>
            <a:pPr marL="342900" indent="-342900">
              <a:spcAft>
                <a:spcPts val="800"/>
              </a:spcAft>
              <a:buSzPct val="100000"/>
              <a:buChar char="•"/>
            </a:pPr>
            <a:r>
              <a:rPr lang="en-US" sz="1400" dirty="0">
                <a:solidFill>
                  <a:srgbClr val="1E293B"/>
                </a:solidFill>
              </a:rPr>
              <a:t>Argo CD ou Flux, rollback par revert</a:t>
            </a:r>
            <a:endParaRPr lang="en-US" sz="1400" dirty="0"/>
          </a:p>
        </p:txBody>
      </p:sp>
      <p:sp>
        <p:nvSpPr>
          <p:cNvPr id="16" name="Shape 13"/>
          <p:cNvSpPr/>
          <p:nvPr/>
        </p:nvSpPr>
        <p:spPr>
          <a:xfrm>
            <a:off x="6711696" y="1188720"/>
            <a:ext cx="1938528" cy="502920"/>
          </a:xfrm>
          <a:prstGeom prst="roundRect">
            <a:avLst>
              <a:gd name="adj" fmla="val 14545"/>
            </a:avLst>
          </a:prstGeom>
          <a:solidFill>
            <a:srgbClr val="F97316"/>
          </a:solidFill>
          <a:ln/>
        </p:spPr>
      </p:sp>
      <p:sp>
        <p:nvSpPr>
          <p:cNvPr id="17" name="Text 14"/>
          <p:cNvSpPr txBox="1"/>
          <p:nvPr/>
        </p:nvSpPr>
        <p:spPr>
          <a:xfrm>
            <a:off x="6711696" y="1188720"/>
            <a:ext cx="1938528" cy="502920"/>
          </a:xfrm>
          <a:prstGeom prst="rect">
            <a:avLst/>
          </a:prstGeom>
          <a:noFill/>
          <a:ln/>
        </p:spPr>
        <p:txBody>
          <a:bodyPr wrap="square" lIns="0" tIns="0" rIns="0" bIns="0" rtlCol="0" anchor="ctr"/>
          <a:lstStyle/>
          <a:p>
            <a:pPr algn="ctr" indent="0" marL="0">
              <a:buNone/>
            </a:pPr>
            <a:r>
              <a:rPr lang="en-US" sz="1600" b="1" dirty="0">
                <a:solidFill>
                  <a:srgbClr val="FFFFFF"/>
                </a:solidFill>
              </a:rPr>
              <a:t>Expert</a:t>
            </a:r>
            <a:endParaRPr lang="en-US" sz="1600" dirty="0"/>
          </a:p>
        </p:txBody>
      </p:sp>
      <p:sp>
        <p:nvSpPr>
          <p:cNvPr id="18" name="Shape 15"/>
          <p:cNvSpPr/>
          <p:nvPr/>
        </p:nvSpPr>
        <p:spPr>
          <a:xfrm>
            <a:off x="6711696" y="1783080"/>
            <a:ext cx="1938528" cy="2103120"/>
          </a:xfrm>
          <a:prstGeom prst="roundRect">
            <a:avLst>
              <a:gd name="adj" fmla="val 3774"/>
            </a:avLst>
          </a:prstGeom>
          <a:solidFill>
            <a:srgbClr val="F1F5F9"/>
          </a:solidFill>
          <a:ln/>
        </p:spPr>
      </p:sp>
      <p:sp>
        <p:nvSpPr>
          <p:cNvPr id="19" name="Text 16"/>
          <p:cNvSpPr txBox="1"/>
          <p:nvPr/>
        </p:nvSpPr>
        <p:spPr>
          <a:xfrm>
            <a:off x="6821424" y="1874520"/>
            <a:ext cx="173736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E293B"/>
                </a:solidFill>
              </a:rPr>
              <a:t>Secrets chiffrés ou externalisés</a:t>
            </a:r>
            <a:endParaRPr lang="en-US" sz="1400" dirty="0"/>
          </a:p>
          <a:p>
            <a:pPr marL="342900" indent="-342900">
              <a:spcAft>
                <a:spcPts val="800"/>
              </a:spcAft>
              <a:buSzPct val="100000"/>
              <a:buChar char="•"/>
            </a:pPr>
            <a:r>
              <a:rPr lang="en-US" sz="1400" dirty="0">
                <a:solidFill>
                  <a:srgbClr val="1E293B"/>
                </a:solidFill>
              </a:rPr>
              <a:t>Multi-cluster, progressive delivery</a:t>
            </a:r>
            <a:endParaRPr lang="en-US" sz="1400" dirty="0"/>
          </a:p>
          <a:p>
            <a:pPr marL="342900" indent="-342900">
              <a:spcAft>
                <a:spcPts val="800"/>
              </a:spcAft>
              <a:buSzPct val="100000"/>
              <a:buChar char="•"/>
            </a:pPr>
            <a:r>
              <a:rPr lang="en-US" sz="1400" dirty="0">
                <a:solidFill>
                  <a:srgbClr val="1E293B"/>
                </a:solidFill>
              </a:rPr>
              <a:t>Policy as code, supply chain, plateforme</a:t>
            </a:r>
            <a:endParaRPr lang="en-US" sz="1400" dirty="0"/>
          </a:p>
        </p:txBody>
      </p:sp>
      <p:sp>
        <p:nvSpPr>
          <p:cNvPr id="20" name="Shape 17"/>
          <p:cNvSpPr/>
          <p:nvPr/>
        </p:nvSpPr>
        <p:spPr>
          <a:xfrm>
            <a:off x="457200" y="4023360"/>
            <a:ext cx="8229600" cy="594360"/>
          </a:xfrm>
          <a:prstGeom prst="roundRect">
            <a:avLst>
              <a:gd name="adj" fmla="val 12308"/>
            </a:avLst>
          </a:prstGeom>
          <a:solidFill>
            <a:srgbClr val="0F172A"/>
          </a:solidFill>
          <a:ln/>
        </p:spPr>
      </p:sp>
      <p:sp>
        <p:nvSpPr>
          <p:cNvPr id="21" name="Text 18"/>
          <p:cNvSpPr txBox="1"/>
          <p:nvPr/>
        </p:nvSpPr>
        <p:spPr>
          <a:xfrm>
            <a:off x="640080" y="4023360"/>
            <a:ext cx="7863840" cy="594360"/>
          </a:xfrm>
          <a:prstGeom prst="rect">
            <a:avLst/>
          </a:prstGeom>
          <a:noFill/>
          <a:ln/>
        </p:spPr>
        <p:txBody>
          <a:bodyPr wrap="square" lIns="0" tIns="0" rIns="0" bIns="0" rtlCol="0" anchor="ctr"/>
          <a:lstStyle/>
          <a:p>
            <a:pPr indent="0" marL="0">
              <a:buNone/>
            </a:pPr>
            <a:r>
              <a:rPr lang="en-US" sz="1800" b="1" dirty="0">
                <a:solidFill>
                  <a:srgbClr val="5EEAD4"/>
                </a:solidFill>
              </a:rPr>
              <a:t>Fil rouge : </a:t>
            </a:r>
            <a:pPr indent="0" marL="0">
              <a:buNone/>
            </a:pPr>
            <a:r>
              <a:rPr lang="en-US" sz="1800" dirty="0">
                <a:solidFill>
                  <a:srgbClr val="FFFFFF"/>
                </a:solidFill>
              </a:rPr>
              <a:t>automatiser → versionner → réconcilier</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Glossaire (1/2)</a:t>
            </a:r>
            <a:endParaRPr lang="en-US" sz="28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6400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Terme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Définition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Blue / Green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Deux environnements identiques, bascule du trafic d'un seul coup</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Canary</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Nouvelle version envoyée d'abord à une petite part du trafic</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CI/CD</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Intégration continue et livraison ou déploiement continu</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Conteneur</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Application et dépendances isolées, exécutées de façon portable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Dérive (drift)</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Écart entre l'état réel d'un système et l'état désiré</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DevSecOps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DevOps avec la sécurité intégrée à chaque étape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DORA</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Quatre métriques de performance de livraison logicielle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GitOps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Exploitation pilotée par Git, avec réconciliation automatique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Helm</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Gestionnaire de paquets (charts) pour Kubernetes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IaC</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Infrastructure décrite dans des fichiers versionnés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Glossaire (2/2)</a:t>
            </a:r>
            <a:endParaRPr lang="en-US" sz="28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6400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Terme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Définition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Image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Modèle immuable à partir duquel démarre un conteneur</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Kubernetes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Orchestrateur qui déploie et répare les conteneurs à grande échelle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Kustomize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Personnalisation de manifestes YAML par base et overlays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Observabilité</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Comprendre l'état d'un système via métriques, logs et traces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Pipeline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Suite automatisée d'étapes : build, tests, package, déploiement</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Pull Request</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Proposition de changement soumise à revue avant fusion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Réconciliation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Boucle qui aligne l'état réel sur l'état désiré</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Rollback</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Retour à une version précédente stable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SBOM</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Inventaire des composants logiciels d'un artefact</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Shift-left</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Détecter les problèmes (sécurité, qualité) le plus tôt possible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640080" y="1097280"/>
            <a:ext cx="2743200" cy="1463040"/>
          </a:xfrm>
          <a:prstGeom prst="rect">
            <a:avLst/>
          </a:prstGeom>
          <a:noFill/>
          <a:ln/>
        </p:spPr>
        <p:txBody>
          <a:bodyPr wrap="square" lIns="0" tIns="0" rIns="0" bIns="0" rtlCol="0" anchor="ctr"/>
          <a:lstStyle/>
          <a:p>
            <a:pPr indent="0" marL="0">
              <a:buNone/>
            </a:pPr>
            <a:r>
              <a:rPr lang="en-US" sz="9600" b="1" dirty="0">
                <a:solidFill>
                  <a:srgbClr val="5EEAD4"/>
                </a:solidFill>
                <a:latin typeface="Cambria" pitchFamily="34" charset="0"/>
                <a:ea typeface="Cambria" pitchFamily="34" charset="-122"/>
                <a:cs typeface="Cambria" pitchFamily="34" charset="-120"/>
              </a:rPr>
              <a:t>A</a:t>
            </a:r>
            <a:endParaRPr lang="en-US" sz="9600" dirty="0"/>
          </a:p>
        </p:txBody>
      </p:sp>
      <p:sp>
        <p:nvSpPr>
          <p:cNvPr id="3" name="Text 1"/>
          <p:cNvSpPr txBox="1"/>
          <p:nvPr/>
        </p:nvSpPr>
        <p:spPr>
          <a:xfrm>
            <a:off x="640080" y="2651760"/>
            <a:ext cx="786384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Corrigés des TP et quiz</a:t>
            </a:r>
            <a:endParaRPr lang="en-US" sz="3800" dirty="0"/>
          </a:p>
        </p:txBody>
      </p:sp>
      <p:sp>
        <p:nvSpPr>
          <p:cNvPr id="4" name="Text 2"/>
          <p:cNvSpPr txBox="1"/>
          <p:nvPr/>
        </p:nvSpPr>
        <p:spPr>
          <a:xfrm>
            <a:off x="640080" y="3474720"/>
            <a:ext cx="7863840" cy="731520"/>
          </a:xfrm>
          <a:prstGeom prst="rect">
            <a:avLst/>
          </a:prstGeom>
          <a:noFill/>
          <a:ln/>
        </p:spPr>
        <p:txBody>
          <a:bodyPr wrap="square" lIns="0" tIns="0" rIns="0" bIns="0" rtlCol="0" anchor="ctr"/>
          <a:lstStyle/>
          <a:p>
            <a:pPr indent="0" marL="0">
              <a:buNone/>
            </a:pPr>
            <a:r>
              <a:rPr lang="en-US" sz="1800" dirty="0">
                <a:solidFill>
                  <a:srgbClr val="CBD5E1"/>
                </a:solidFill>
              </a:rPr>
              <a:t>Solutions de référence, à consulter après avoir cherché par soi-même</a:t>
            </a:r>
            <a:endParaRPr lang="en-US" sz="1800" dirty="0"/>
          </a:p>
        </p:txBody>
      </p:sp>
      <p:sp>
        <p:nvSpPr>
          <p:cNvPr id="6"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endParaRPr lang="en-US" sz="2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TP1 : pipeline CI</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sp>
        <p:nvSpPr>
          <p:cNvPr id="6" name="Bloc code"/>
          <p:cNvSpPr/>
          <p:nvPr/>
        </p:nvSpPr>
        <p:spPr>
          <a:xfrm>
            <a:off x="457200" y="1143000"/>
            <a:ext cx="4937760" cy="2971800"/>
          </a:xfrm>
          <a:prstGeom prst="roundRect">
            <a:avLst>
              <a:gd name="adj" fmla="val 1846"/>
            </a:avLst>
          </a:prstGeom>
          <a:solidFill>
            <a:srgbClr val="0F172A"/>
          </a:solidFill>
          <a:ln/>
        </p:spPr>
      </p:sp>
      <p:sp>
        <p:nvSpPr>
          <p:cNvPr id="7" name="Text 4"/>
          <p:cNvSpPr txBox="1"/>
          <p:nvPr/>
        </p:nvSpPr>
        <p:spPr>
          <a:xfrm>
            <a:off x="594360" y="1234440"/>
            <a:ext cx="466344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name: CI</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on: [push, pull_request]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jobs: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test: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runs-on: ubuntu-latest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steps: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uses: actions/checkout@v4</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uses: actions/setup-node@v4</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with: { node-version: 20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run: npm ci</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run: npm run lint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run: npm test</a:t>
            </a:r>
            <a:endParaRPr lang="en-US" sz="1100" dirty="0"/>
          </a:p>
        </p:txBody>
      </p:sp>
      <p:sp>
        <p:nvSpPr>
          <p:cNvPr id="8" name="Points clés"/>
          <p:cNvSpPr/>
          <p:nvPr/>
        </p:nvSpPr>
        <p:spPr>
          <a:xfrm>
            <a:off x="5577840" y="1143000"/>
            <a:ext cx="3108960" cy="2971800"/>
          </a:xfrm>
          <a:prstGeom prst="roundRect">
            <a:avLst>
              <a:gd name="adj" fmla="val 2462"/>
            </a:avLst>
          </a:prstGeom>
          <a:solidFill>
            <a:srgbClr val="F1F5F9"/>
          </a:solidFill>
          <a:ln/>
        </p:spPr>
      </p:sp>
      <p:sp>
        <p:nvSpPr>
          <p:cNvPr id="9" name="Text 6"/>
          <p:cNvSpPr txBox="1"/>
          <p:nvPr/>
        </p:nvSpPr>
        <p:spPr>
          <a:xfrm>
            <a:off x="5715000" y="1234440"/>
            <a:ext cx="2834640" cy="365760"/>
          </a:xfrm>
          <a:prstGeom prst="rect">
            <a:avLst/>
          </a:prstGeom>
          <a:noFill/>
          <a:ln/>
        </p:spPr>
        <p:txBody>
          <a:bodyPr wrap="square" lIns="0" tIns="0" rIns="0" bIns="0" rtlCol="0" anchor="ctr"/>
          <a:lstStyle/>
          <a:p>
            <a:pPr indent="0" marL="0">
              <a:buNone/>
            </a:pPr>
            <a:r>
              <a:rPr lang="en-US" sz="1500" b="1" dirty="0">
                <a:solidFill>
                  <a:srgbClr val="0F172A"/>
                </a:solidFill>
              </a:rPr>
              <a:t>Points clés</a:t>
            </a:r>
            <a:endParaRPr lang="en-US" sz="1500" dirty="0"/>
          </a:p>
        </p:txBody>
      </p:sp>
      <p:sp>
        <p:nvSpPr>
          <p:cNvPr id="10" name="Text 7"/>
          <p:cNvSpPr txBox="1"/>
          <p:nvPr/>
        </p:nvSpPr>
        <p:spPr>
          <a:xfrm>
            <a:off x="5715000" y="1645920"/>
            <a:ext cx="283464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93B"/>
                </a:solidFill>
              </a:rPr>
              <a:t>Un test cassé donne un check rouge dans l'onglet Actions</a:t>
            </a:r>
            <a:endParaRPr lang="en-US" sz="1300" dirty="0"/>
          </a:p>
          <a:p>
            <a:pPr marL="342900" indent="-342900">
              <a:spcAft>
                <a:spcPts val="600"/>
              </a:spcAft>
              <a:buSzPct val="100000"/>
              <a:buChar char="•"/>
            </a:pPr>
            <a:r>
              <a:rPr lang="en-US" sz="1300" dirty="0">
                <a:solidFill>
                  <a:srgbClr val="1E293B"/>
                </a:solidFill>
              </a:rPr>
              <a:t>Corriger, pousser : le check redevient vert</a:t>
            </a:r>
            <a:endParaRPr lang="en-US" sz="1300" dirty="0"/>
          </a:p>
          <a:p>
            <a:pPr marL="342900" indent="-342900">
              <a:spcAft>
                <a:spcPts val="600"/>
              </a:spcAft>
              <a:buSzPct val="100000"/>
              <a:buChar char="•"/>
            </a:pPr>
            <a:r>
              <a:rPr lang="en-US" sz="1300" dirty="0">
                <a:solidFill>
                  <a:srgbClr val="1E293B"/>
                </a:solidFill>
              </a:rPr>
              <a:t>Badge à coller dans le README : ![CI](https://github.com/ORG/REPO/actions/workflows/ci.yml/badge.svg)</a:t>
            </a:r>
            <a:endParaRPr lang="en-US" sz="1300" dirty="0"/>
          </a:p>
          <a:p>
            <a:pPr marL="342900" indent="-342900">
              <a:spcAft>
                <a:spcPts val="600"/>
              </a:spcAft>
              <a:buSzPct val="100000"/>
              <a:buChar char="•"/>
            </a:pPr>
            <a:r>
              <a:rPr lang="en-US" sz="1300" dirty="0">
                <a:solidFill>
                  <a:srgbClr val="1E293B"/>
                </a:solidFill>
              </a:rPr>
              <a:t>Protéger main : fusion bloquée si CI rouge</a:t>
            </a:r>
            <a:endParaRPr lang="en-US" sz="1300" dirty="0"/>
          </a:p>
        </p:txBody>
      </p:sp>
      <p:sp>
        <p:nvSpPr>
          <p:cNvPr id="11" name="Vérification"/>
          <p:cNvSpPr/>
          <p:nvPr/>
        </p:nvSpPr>
        <p:spPr>
          <a:xfrm>
            <a:off x="457200" y="4206240"/>
            <a:ext cx="8229600" cy="457200"/>
          </a:xfrm>
          <a:prstGeom prst="roundRect">
            <a:avLst>
              <a:gd name="adj" fmla="val 16000"/>
            </a:avLst>
          </a:prstGeom>
          <a:solidFill>
            <a:srgbClr val="F1F5F9"/>
          </a:solidFill>
          <a:ln/>
        </p:spPr>
      </p:sp>
      <p:sp>
        <p:nvSpPr>
          <p:cNvPr id="12" name="Text 9"/>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rgbClr val="0D9488"/>
                </a:solidFill>
              </a:rPr>
              <a:t>Vérification : </a:t>
            </a:r>
            <a:pPr indent="0" marL="0">
              <a:buNone/>
            </a:pPr>
            <a:r>
              <a:rPr lang="en-US" sz="1300" dirty="0">
                <a:solidFill>
                  <a:srgbClr val="1E293B"/>
                </a:solidFill>
              </a:rPr>
              <a:t>le pipeline passe au vert après correction, et le badge s'affiche.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TP2 (1/2) : image et Deployment</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Bloc code"/>
          <p:cNvSpPr/>
          <p:nvPr/>
        </p:nvSpPr>
        <p:spPr>
          <a:xfrm>
            <a:off x="457200" y="1143000"/>
            <a:ext cx="4023360" cy="2971800"/>
          </a:xfrm>
          <a:prstGeom prst="roundRect">
            <a:avLst>
              <a:gd name="adj" fmla="val 1846"/>
            </a:avLst>
          </a:prstGeom>
          <a:solidFill>
            <a:srgbClr val="0F172A"/>
          </a:solidFill>
          <a:ln/>
        </p:spPr>
      </p:sp>
      <p:sp>
        <p:nvSpPr>
          <p:cNvPr id="7" name="Text 4"/>
          <p:cNvSpPr txBox="1"/>
          <p:nvPr/>
        </p:nvSpPr>
        <p:spPr>
          <a:xfrm>
            <a:off x="594360" y="1234440"/>
            <a:ext cx="374904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FROM node:20-alpine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WORKDIR /app</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COPY package*.json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RUN npm ci --omit=dev</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COPY .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EXPOSE 3000</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CMD ["node","server.js"]</a:t>
            </a:r>
            <a:endParaRPr lang="en-US" sz="1100" dirty="0"/>
          </a:p>
          <a:p>
            <a:pPr indent="0" marL="0">
              <a:buNone/>
            </a:pP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docker build -t shop:1.0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kind create cluster</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kind load docker-image shop:1.0</a:t>
            </a:r>
            <a:endParaRPr lang="en-US" sz="1100" dirty="0"/>
          </a:p>
        </p:txBody>
      </p:sp>
      <p:sp>
        <p:nvSpPr>
          <p:cNvPr id="8" name="Bloc code"/>
          <p:cNvSpPr/>
          <p:nvPr/>
        </p:nvSpPr>
        <p:spPr>
          <a:xfrm>
            <a:off x="4663440" y="1143000"/>
            <a:ext cx="4023360" cy="2971800"/>
          </a:xfrm>
          <a:prstGeom prst="roundRect">
            <a:avLst>
              <a:gd name="adj" fmla="val 1846"/>
            </a:avLst>
          </a:prstGeom>
          <a:solidFill>
            <a:srgbClr val="0F172A"/>
          </a:solidFill>
          <a:ln/>
        </p:spPr>
      </p:sp>
      <p:sp>
        <p:nvSpPr>
          <p:cNvPr id="9" name="Text 6"/>
          <p:cNvSpPr txBox="1"/>
          <p:nvPr/>
        </p:nvSpPr>
        <p:spPr>
          <a:xfrm>
            <a:off x="4800600" y="1234440"/>
            <a:ext cx="374904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apiVersion: apps/v1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kind: Deployment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metadata: { name: shop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replicas: 2</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selector:</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matchLabels: { app: shop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template: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metadata:</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labels: { app: shop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containers: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name: shop</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image: shop:1.0</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imagePullPolicy: IfNotPresent</a:t>
            </a:r>
            <a:endParaRPr lang="en-US" sz="1100" dirty="0"/>
          </a:p>
        </p:txBody>
      </p:sp>
      <p:sp>
        <p:nvSpPr>
          <p:cNvPr id="10" name="Vérification"/>
          <p:cNvSpPr/>
          <p:nvPr/>
        </p:nvSpPr>
        <p:spPr>
          <a:xfrm>
            <a:off x="457200" y="4206240"/>
            <a:ext cx="8229600" cy="457200"/>
          </a:xfrm>
          <a:prstGeom prst="roundRect">
            <a:avLst>
              <a:gd name="adj" fmla="val 16000"/>
            </a:avLst>
          </a:prstGeom>
          <a:solidFill>
            <a:srgbClr val="F1F5F9"/>
          </a:solidFill>
          <a:ln/>
        </p:spPr>
      </p:sp>
      <p:sp>
        <p:nvSpPr>
          <p:cNvPr id="11" name="Text 8"/>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rgbClr val="0EA5E9"/>
                </a:solidFill>
              </a:rPr>
              <a:t>Vérification : </a:t>
            </a:r>
            <a:pPr indent="0" marL="0">
              <a:buNone/>
            </a:pPr>
            <a:r>
              <a:rPr lang="en-US" sz="1300" dirty="0">
                <a:solidFill>
                  <a:srgbClr val="1E293B"/>
                </a:solidFill>
              </a:rPr>
              <a:t>kubectl get pods affiche 2 pods Running.</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TP2 (2/2) : Service et Terraform</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sp>
        <p:nvSpPr>
          <p:cNvPr id="6" name="Bloc code"/>
          <p:cNvSpPr/>
          <p:nvPr/>
        </p:nvSpPr>
        <p:spPr>
          <a:xfrm>
            <a:off x="457200" y="1143000"/>
            <a:ext cx="4023360" cy="2971800"/>
          </a:xfrm>
          <a:prstGeom prst="roundRect">
            <a:avLst>
              <a:gd name="adj" fmla="val 1846"/>
            </a:avLst>
          </a:prstGeom>
          <a:solidFill>
            <a:srgbClr val="0F172A"/>
          </a:solidFill>
          <a:ln/>
        </p:spPr>
      </p:sp>
      <p:sp>
        <p:nvSpPr>
          <p:cNvPr id="7" name="Text 4"/>
          <p:cNvSpPr txBox="1"/>
          <p:nvPr/>
        </p:nvSpPr>
        <p:spPr>
          <a:xfrm>
            <a:off x="594360" y="1234440"/>
            <a:ext cx="374904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apiVersion: v1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kind: Service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metadata: { name: shop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selector: { app: shop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ports: [{ port: 80, targetPort: 3000 }]</a:t>
            </a:r>
            <a:endParaRPr lang="en-US" sz="1100" dirty="0"/>
          </a:p>
          <a:p>
            <a:pPr indent="0" marL="0">
              <a:buNone/>
            </a:pP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apply -f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port-forward svc/shop 8080:80</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set image deploy/shop shop=shop:2.0</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rollout status deploy/shop</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rollout undo deploy/shop</a:t>
            </a:r>
            <a:endParaRPr lang="en-US" sz="1100" dirty="0"/>
          </a:p>
        </p:txBody>
      </p:sp>
      <p:sp>
        <p:nvSpPr>
          <p:cNvPr id="8" name="Bloc code"/>
          <p:cNvSpPr/>
          <p:nvPr/>
        </p:nvSpPr>
        <p:spPr>
          <a:xfrm>
            <a:off x="4663440" y="1143000"/>
            <a:ext cx="4023360" cy="2971800"/>
          </a:xfrm>
          <a:prstGeom prst="roundRect">
            <a:avLst>
              <a:gd name="adj" fmla="val 1846"/>
            </a:avLst>
          </a:prstGeom>
          <a:solidFill>
            <a:srgbClr val="0F172A"/>
          </a:solidFill>
          <a:ln/>
        </p:spPr>
      </p:sp>
      <p:sp>
        <p:nvSpPr>
          <p:cNvPr id="9" name="Text 6"/>
          <p:cNvSpPr txBox="1"/>
          <p:nvPr/>
        </p:nvSpPr>
        <p:spPr>
          <a:xfrm>
            <a:off x="4800600" y="1234440"/>
            <a:ext cx="374904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terraform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required_providers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docker =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source = "kreuzwerker/docker"</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resource "docker_image" "nginx"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name = "nginx:1.27"</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resource "docker_container" "web"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name  = "web"</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image = docker_image.nginx.image_id</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ports { internal = 80  external = 8081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a:t>
            </a:r>
            <a:endParaRPr lang="en-US" sz="1100" dirty="0"/>
          </a:p>
        </p:txBody>
      </p:sp>
      <p:sp>
        <p:nvSpPr>
          <p:cNvPr id="10" name="Vérification"/>
          <p:cNvSpPr/>
          <p:nvPr/>
        </p:nvSpPr>
        <p:spPr>
          <a:xfrm>
            <a:off x="457200" y="4206240"/>
            <a:ext cx="8229600" cy="457200"/>
          </a:xfrm>
          <a:prstGeom prst="roundRect">
            <a:avLst>
              <a:gd name="adj" fmla="val 16000"/>
            </a:avLst>
          </a:prstGeom>
          <a:solidFill>
            <a:srgbClr val="F1F5F9"/>
          </a:solidFill>
          <a:ln/>
        </p:spPr>
      </p:sp>
      <p:sp>
        <p:nvSpPr>
          <p:cNvPr id="11" name="Text 8"/>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rgbClr val="0EA5E9"/>
                </a:solidFill>
              </a:rPr>
              <a:t>Vérification : </a:t>
            </a:r>
            <a:pPr indent="0" marL="0">
              <a:buNone/>
            </a:pPr>
            <a:r>
              <a:rPr lang="en-US" sz="1300" dirty="0">
                <a:solidFill>
                  <a:srgbClr val="1E293B"/>
                </a:solidFill>
              </a:rPr>
              <a:t>http://localhost:8080 répond, et rollout undo restaure l'ancienne version.</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TP3 (1/2) : installer Argo CD</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Bloc code"/>
          <p:cNvSpPr/>
          <p:nvPr/>
        </p:nvSpPr>
        <p:spPr>
          <a:xfrm>
            <a:off x="457200" y="1143000"/>
            <a:ext cx="8229600" cy="2971800"/>
          </a:xfrm>
          <a:prstGeom prst="roundRect">
            <a:avLst>
              <a:gd name="adj" fmla="val 1846"/>
            </a:avLst>
          </a:prstGeom>
          <a:solidFill>
            <a:srgbClr val="0F172A"/>
          </a:solidFill>
          <a:ln/>
        </p:spPr>
      </p:sp>
      <p:sp>
        <p:nvSpPr>
          <p:cNvPr id="7" name="Text 4"/>
          <p:cNvSpPr txBox="1"/>
          <p:nvPr/>
        </p:nvSpPr>
        <p:spPr>
          <a:xfrm>
            <a:off x="594360" y="1234440"/>
            <a:ext cx="795528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kubectl create namespace argocd</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apply -n argocd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-f https://raw.githubusercontent.com/argoproj/argo-cd/stable/manifests/install.yaml</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-n argocd get pods</a:t>
            </a:r>
            <a:endParaRPr lang="en-US" sz="1100" dirty="0"/>
          </a:p>
          <a:p>
            <a:pPr indent="0" marL="0">
              <a:buNone/>
            </a:pP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port-forward svc/argocd-server -n argocd 8080:443</a:t>
            </a:r>
            <a:endParaRPr lang="en-US" sz="1100" dirty="0"/>
          </a:p>
          <a:p>
            <a:pPr indent="0" marL="0">
              <a:buNone/>
            </a:pP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-n argocd get secret argocd-initial-admin-secret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-o jsonpath="{.data.password}" | base64 -d</a:t>
            </a:r>
            <a:endParaRPr lang="en-US" sz="1100" dirty="0"/>
          </a:p>
        </p:txBody>
      </p:sp>
      <p:sp>
        <p:nvSpPr>
          <p:cNvPr id="8" name="Vérification"/>
          <p:cNvSpPr/>
          <p:nvPr/>
        </p:nvSpPr>
        <p:spPr>
          <a:xfrm>
            <a:off x="457200" y="4206240"/>
            <a:ext cx="8229600" cy="457200"/>
          </a:xfrm>
          <a:prstGeom prst="roundRect">
            <a:avLst>
              <a:gd name="adj" fmla="val 16000"/>
            </a:avLst>
          </a:prstGeom>
          <a:solidFill>
            <a:srgbClr val="F1F5F9"/>
          </a:solidFill>
          <a:ln/>
        </p:spPr>
      </p:sp>
      <p:sp>
        <p:nvSpPr>
          <p:cNvPr id="9" name="Text 6"/>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rgbClr val="7C3AED"/>
                </a:solidFill>
              </a:rPr>
              <a:t>Vérification : </a:t>
            </a:r>
            <a:pPr indent="0" marL="0">
              <a:buNone/>
            </a:pPr>
            <a:r>
              <a:rPr lang="en-US" sz="1300" dirty="0">
                <a:solidFill>
                  <a:srgbClr val="1E293B"/>
                </a:solidFill>
              </a:rPr>
              <a:t>https://localhost:8080 s'ouvre, connexion avec admin et le mot de passe récupéré.</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TP3 (2/2) : Application et rollback</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Bloc code"/>
          <p:cNvSpPr/>
          <p:nvPr/>
        </p:nvSpPr>
        <p:spPr>
          <a:xfrm>
            <a:off x="457200" y="1143000"/>
            <a:ext cx="4846320" cy="2971800"/>
          </a:xfrm>
          <a:prstGeom prst="roundRect">
            <a:avLst>
              <a:gd name="adj" fmla="val 1846"/>
            </a:avLst>
          </a:prstGeom>
          <a:solidFill>
            <a:srgbClr val="0F172A"/>
          </a:solidFill>
          <a:ln/>
        </p:spPr>
      </p:sp>
      <p:sp>
        <p:nvSpPr>
          <p:cNvPr id="7" name="Text 4"/>
          <p:cNvSpPr txBox="1"/>
          <p:nvPr/>
        </p:nvSpPr>
        <p:spPr>
          <a:xfrm>
            <a:off x="594360" y="1234440"/>
            <a:ext cx="457200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apiVersion: argoproj.io/v1alpha1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kind: Application</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metadata:</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name: shop</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namespace: argocd</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source: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repoURL: https://github.com/ORG/shop-config</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path: overlays/dev</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destination:</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server: https://kubernetes.default.svc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namespace: shop</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syncPolicy:</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automated: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syncOptions: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CreateNamespace=true</a:t>
            </a:r>
            <a:endParaRPr lang="en-US" sz="1100" dirty="0"/>
          </a:p>
        </p:txBody>
      </p:sp>
      <p:sp>
        <p:nvSpPr>
          <p:cNvPr id="8" name="Bloc code"/>
          <p:cNvSpPr/>
          <p:nvPr/>
        </p:nvSpPr>
        <p:spPr>
          <a:xfrm>
            <a:off x="5486400" y="1143000"/>
            <a:ext cx="3200400" cy="2971800"/>
          </a:xfrm>
          <a:prstGeom prst="roundRect">
            <a:avLst>
              <a:gd name="adj" fmla="val 1846"/>
            </a:avLst>
          </a:prstGeom>
          <a:solidFill>
            <a:srgbClr val="0F172A"/>
          </a:solidFill>
          <a:ln/>
        </p:spPr>
      </p:sp>
      <p:sp>
        <p:nvSpPr>
          <p:cNvPr id="9" name="Text 6"/>
          <p:cNvSpPr txBox="1"/>
          <p:nvPr/>
        </p:nvSpPr>
        <p:spPr>
          <a:xfrm>
            <a:off x="5623560" y="1234440"/>
            <a:ext cx="292608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 patch-replicas.yaml</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replicas: 3</a:t>
            </a:r>
            <a:endParaRPr lang="en-US" sz="1100" dirty="0"/>
          </a:p>
          <a:p>
            <a:pPr indent="0" marL="0">
              <a:buNone/>
            </a:pP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git commit -am "dev: 3 replicas"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git push</a:t>
            </a:r>
            <a:endParaRPr lang="en-US" sz="1100" dirty="0"/>
          </a:p>
          <a:p>
            <a:pPr indent="0" marL="0">
              <a:buNone/>
            </a:pP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rollback</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git revert HEAD --no-edit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git push</a:t>
            </a:r>
            <a:endParaRPr lang="en-US" sz="1100" dirty="0"/>
          </a:p>
        </p:txBody>
      </p:sp>
      <p:sp>
        <p:nvSpPr>
          <p:cNvPr id="10" name="Vérification"/>
          <p:cNvSpPr/>
          <p:nvPr/>
        </p:nvSpPr>
        <p:spPr>
          <a:xfrm>
            <a:off x="457200" y="4206240"/>
            <a:ext cx="8229600" cy="457200"/>
          </a:xfrm>
          <a:prstGeom prst="roundRect">
            <a:avLst>
              <a:gd name="adj" fmla="val 16000"/>
            </a:avLst>
          </a:prstGeom>
          <a:solidFill>
            <a:srgbClr val="F1F5F9"/>
          </a:solidFill>
          <a:ln/>
        </p:spPr>
      </p:sp>
      <p:sp>
        <p:nvSpPr>
          <p:cNvPr id="11" name="Text 8"/>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rgbClr val="7C3AED"/>
                </a:solidFill>
              </a:rPr>
              <a:t>Vérification : </a:t>
            </a:r>
            <a:pPr indent="0" marL="0">
              <a:buNone/>
            </a:pPr>
            <a:r>
              <a:rPr lang="en-US" sz="1300" dirty="0">
                <a:solidFill>
                  <a:srgbClr val="1E293B"/>
                </a:solidFill>
              </a:rPr>
              <a:t>l'interface Argo CD affiche Synced et Healthy après chaque commit.</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TP4 : dérive et promotion</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sp>
        <p:nvSpPr>
          <p:cNvPr id="6" name="Bloc code"/>
          <p:cNvSpPr/>
          <p:nvPr/>
        </p:nvSpPr>
        <p:spPr>
          <a:xfrm>
            <a:off x="457200" y="1143000"/>
            <a:ext cx="4023360" cy="2971800"/>
          </a:xfrm>
          <a:prstGeom prst="roundRect">
            <a:avLst>
              <a:gd name="adj" fmla="val 1846"/>
            </a:avLst>
          </a:prstGeom>
          <a:solidFill>
            <a:srgbClr val="0F172A"/>
          </a:solidFill>
          <a:ln/>
        </p:spPr>
      </p:sp>
      <p:sp>
        <p:nvSpPr>
          <p:cNvPr id="7" name="Text 4"/>
          <p:cNvSpPr txBox="1"/>
          <p:nvPr/>
        </p:nvSpPr>
        <p:spPr>
          <a:xfrm>
            <a:off x="594360" y="1234440"/>
            <a:ext cx="374904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syncPolicy:</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automated:</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prune: true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selfHeal: true</a:t>
            </a:r>
            <a:endParaRPr lang="en-US" sz="1100" dirty="0"/>
          </a:p>
          <a:p>
            <a:pPr indent="0" marL="0">
              <a:buNone/>
            </a:pP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provoquer la dérive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-n shop scale deployment shop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--replicas=5</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-n shop get pods -w</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retour à la valeur de Git</a:t>
            </a:r>
            <a:endParaRPr lang="en-US" sz="1100" dirty="0"/>
          </a:p>
        </p:txBody>
      </p:sp>
      <p:sp>
        <p:nvSpPr>
          <p:cNvPr id="8" name="Bloc code"/>
          <p:cNvSpPr/>
          <p:nvPr/>
        </p:nvSpPr>
        <p:spPr>
          <a:xfrm>
            <a:off x="4663440" y="1143000"/>
            <a:ext cx="4023360" cy="2971800"/>
          </a:xfrm>
          <a:prstGeom prst="roundRect">
            <a:avLst>
              <a:gd name="adj" fmla="val 1846"/>
            </a:avLst>
          </a:prstGeom>
          <a:solidFill>
            <a:srgbClr val="0F172A"/>
          </a:solidFill>
          <a:ln/>
        </p:spPr>
      </p:sp>
      <p:sp>
        <p:nvSpPr>
          <p:cNvPr id="9" name="Text 6"/>
          <p:cNvSpPr txBox="1"/>
          <p:nvPr/>
        </p:nvSpPr>
        <p:spPr>
          <a:xfrm>
            <a:off x="4800600" y="1234440"/>
            <a:ext cx="374904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 overlays/staging/kustomization.yaml</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resources: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../../base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images: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name: shop</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newTag: "1.1"</a:t>
            </a:r>
            <a:endParaRPr lang="en-US" sz="1100" dirty="0"/>
          </a:p>
          <a:p>
            <a:pPr indent="0" marL="0">
              <a:buNone/>
            </a:pP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git switch -c promote-1.1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git commit -am "staging: shop 1.1"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git push -u origin promote-1.1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PR, revue, merge sur main</a:t>
            </a:r>
            <a:endParaRPr lang="en-US" sz="1100" dirty="0"/>
          </a:p>
        </p:txBody>
      </p:sp>
      <p:sp>
        <p:nvSpPr>
          <p:cNvPr id="10" name="Vérification"/>
          <p:cNvSpPr/>
          <p:nvPr/>
        </p:nvSpPr>
        <p:spPr>
          <a:xfrm>
            <a:off x="457200" y="4206240"/>
            <a:ext cx="8229600" cy="457200"/>
          </a:xfrm>
          <a:prstGeom prst="roundRect">
            <a:avLst>
              <a:gd name="adj" fmla="val 16000"/>
            </a:avLst>
          </a:prstGeom>
          <a:solidFill>
            <a:srgbClr val="F1F5F9"/>
          </a:solidFill>
          <a:ln/>
        </p:spPr>
      </p:sp>
      <p:sp>
        <p:nvSpPr>
          <p:cNvPr id="11" name="Text 8"/>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rgbClr val="7C3AED"/>
                </a:solidFill>
              </a:rPr>
              <a:t>Vérification : </a:t>
            </a:r>
            <a:pPr indent="0" marL="0">
              <a:buNone/>
            </a:pPr>
            <a:r>
              <a:rPr lang="en-US" sz="1300" dirty="0">
                <a:solidFill>
                  <a:srgbClr val="1E293B"/>
                </a:solidFill>
              </a:rPr>
              <a:t>après le scale manuel, le nombre de pods revient à la valeur définie dans Git.</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TP5 (1/4) : secrets avec SOPS</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Bloc code"/>
          <p:cNvSpPr/>
          <p:nvPr/>
        </p:nvSpPr>
        <p:spPr>
          <a:xfrm>
            <a:off x="457200" y="1143000"/>
            <a:ext cx="4572000" cy="2971800"/>
          </a:xfrm>
          <a:prstGeom prst="roundRect">
            <a:avLst>
              <a:gd name="adj" fmla="val 1846"/>
            </a:avLst>
          </a:prstGeom>
          <a:solidFill>
            <a:srgbClr val="0F172A"/>
          </a:solidFill>
          <a:ln/>
        </p:spPr>
      </p:sp>
      <p:sp>
        <p:nvSpPr>
          <p:cNvPr id="7" name="Text 4"/>
          <p:cNvSpPr txBox="1"/>
          <p:nvPr/>
        </p:nvSpPr>
        <p:spPr>
          <a:xfrm>
            <a:off x="594360" y="1234440"/>
            <a:ext cx="429768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echo key.txt &gt;&gt; .gitignore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age-keygen -o key.txt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sops --encrypt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--age $(age-keygen -y key.txt)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--encrypted-regex '^(data|stringData)$'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secret.yaml &gt; secret.enc.yaml</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git add secret.enc.yaml</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grep -c "motdepasse" secret.enc.yaml</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affiche 0</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SOPS_AGE_KEY_FILE=key.txt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sops --decrypt secret.enc.yaml</a:t>
            </a:r>
            <a:endParaRPr lang="en-US" sz="1100" dirty="0"/>
          </a:p>
        </p:txBody>
      </p:sp>
      <p:sp>
        <p:nvSpPr>
          <p:cNvPr id="8" name="Points clés"/>
          <p:cNvSpPr/>
          <p:nvPr/>
        </p:nvSpPr>
        <p:spPr>
          <a:xfrm>
            <a:off x="5212080" y="1143000"/>
            <a:ext cx="3474720" cy="2971800"/>
          </a:xfrm>
          <a:prstGeom prst="roundRect">
            <a:avLst>
              <a:gd name="adj" fmla="val 2462"/>
            </a:avLst>
          </a:prstGeom>
          <a:solidFill>
            <a:srgbClr val="F1F5F9"/>
          </a:solidFill>
          <a:ln/>
        </p:spPr>
      </p:sp>
      <p:sp>
        <p:nvSpPr>
          <p:cNvPr id="9" name="Text 6"/>
          <p:cNvSpPr txBox="1"/>
          <p:nvPr/>
        </p:nvSpPr>
        <p:spPr>
          <a:xfrm>
            <a:off x="5349240" y="1234440"/>
            <a:ext cx="3200400" cy="365760"/>
          </a:xfrm>
          <a:prstGeom prst="rect">
            <a:avLst/>
          </a:prstGeom>
          <a:noFill/>
          <a:ln/>
        </p:spPr>
        <p:txBody>
          <a:bodyPr wrap="square" lIns="0" tIns="0" rIns="0" bIns="0" rtlCol="0" anchor="ctr"/>
          <a:lstStyle/>
          <a:p>
            <a:pPr indent="0" marL="0">
              <a:buNone/>
            </a:pPr>
            <a:r>
              <a:rPr lang="en-US" sz="1500" b="1" dirty="0">
                <a:solidFill>
                  <a:srgbClr val="0F172A"/>
                </a:solidFill>
              </a:rPr>
              <a:t>Points clés</a:t>
            </a:r>
            <a:endParaRPr lang="en-US" sz="1500" dirty="0"/>
          </a:p>
        </p:txBody>
      </p:sp>
      <p:sp>
        <p:nvSpPr>
          <p:cNvPr id="10" name="Text 7"/>
          <p:cNvSpPr txBox="1"/>
          <p:nvPr/>
        </p:nvSpPr>
        <p:spPr>
          <a:xfrm>
            <a:off x="5349240" y="1645920"/>
            <a:ext cx="320040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93B"/>
                </a:solidFill>
              </a:rPr>
              <a:t>Seules les valeurs sont chiffrées : le diff reste lisible</a:t>
            </a:r>
            <a:endParaRPr lang="en-US" sz="1300" dirty="0"/>
          </a:p>
          <a:p>
            <a:pPr marL="342900" indent="-342900">
              <a:spcAft>
                <a:spcPts val="600"/>
              </a:spcAft>
              <a:buSzPct val="100000"/>
              <a:buChar char="•"/>
            </a:pPr>
            <a:r>
              <a:rPr lang="en-US" sz="1300" dirty="0">
                <a:solidFill>
                  <a:srgbClr val="1E293B"/>
                </a:solidFill>
              </a:rPr>
              <a:t>Clé privée hors de Git</a:t>
            </a:r>
            <a:endParaRPr lang="en-US" sz="1300" dirty="0"/>
          </a:p>
          <a:p>
            <a:pPr marL="342900" indent="-342900">
              <a:spcAft>
                <a:spcPts val="600"/>
              </a:spcAft>
              <a:buSzPct val="100000"/>
              <a:buChar char="•"/>
            </a:pPr>
            <a:r>
              <a:rPr lang="en-US" sz="1300" dirty="0">
                <a:solidFill>
                  <a:srgbClr val="1E293B"/>
                </a:solidFill>
              </a:rPr>
              <a:t>Un secret en clair déjà commité est compromis : le renouveler</a:t>
            </a:r>
            <a:endParaRPr lang="en-US" sz="1300" dirty="0"/>
          </a:p>
        </p:txBody>
      </p:sp>
      <p:sp>
        <p:nvSpPr>
          <p:cNvPr id="11" name="Vérification"/>
          <p:cNvSpPr/>
          <p:nvPr/>
        </p:nvSpPr>
        <p:spPr>
          <a:xfrm>
            <a:off x="457200" y="4206240"/>
            <a:ext cx="8229600" cy="457200"/>
          </a:xfrm>
          <a:prstGeom prst="roundRect">
            <a:avLst>
              <a:gd name="adj" fmla="val 16000"/>
            </a:avLst>
          </a:prstGeom>
          <a:solidFill>
            <a:srgbClr val="F1F5F9"/>
          </a:solidFill>
          <a:ln/>
        </p:spPr>
      </p:sp>
      <p:sp>
        <p:nvSpPr>
          <p:cNvPr id="12" name="Text 9"/>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rgbClr val="F97316"/>
                </a:solidFill>
              </a:rPr>
              <a:t>Vérification : </a:t>
            </a:r>
            <a:pPr indent="0" marL="0">
              <a:buNone/>
            </a:pPr>
            <a:r>
              <a:rPr lang="en-US" sz="1300" dirty="0">
                <a:solidFill>
                  <a:srgbClr val="1E293B"/>
                </a:solidFill>
              </a:rPr>
              <a:t>le fichier committé ne contient aucune valeur en clair, et le déchiffrement fonctionne avec la clé.</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TP5 (2/4) : politique Kyverno</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Bloc code"/>
          <p:cNvSpPr/>
          <p:nvPr/>
        </p:nvSpPr>
        <p:spPr>
          <a:xfrm>
            <a:off x="457200" y="1143000"/>
            <a:ext cx="5120640" cy="2971800"/>
          </a:xfrm>
          <a:prstGeom prst="roundRect">
            <a:avLst>
              <a:gd name="adj" fmla="val 1846"/>
            </a:avLst>
          </a:prstGeom>
          <a:solidFill>
            <a:srgbClr val="0F172A"/>
          </a:solidFill>
          <a:ln/>
        </p:spPr>
      </p:sp>
      <p:sp>
        <p:nvSpPr>
          <p:cNvPr id="7" name="Text 4"/>
          <p:cNvSpPr txBox="1"/>
          <p:nvPr/>
        </p:nvSpPr>
        <p:spPr>
          <a:xfrm>
            <a:off x="594360" y="1234440"/>
            <a:ext cx="484632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apiVersion: kyverno.io/v1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kind: ClusterPolicy</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metadata:</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name: disallow-root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validationFailureAction: Enforce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rules: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name: run-as-non-root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match: { any: [{ resources: { kinds: [Pod] } }]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validate: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message: "Pas de conteneur root."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pattern:</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securityContext: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runAsNonRoot: true</a:t>
            </a:r>
            <a:endParaRPr lang="en-US" sz="1100" dirty="0"/>
          </a:p>
        </p:txBody>
      </p:sp>
      <p:sp>
        <p:nvSpPr>
          <p:cNvPr id="8" name="Points clés"/>
          <p:cNvSpPr/>
          <p:nvPr/>
        </p:nvSpPr>
        <p:spPr>
          <a:xfrm>
            <a:off x="5760720" y="1143000"/>
            <a:ext cx="2926080" cy="2971800"/>
          </a:xfrm>
          <a:prstGeom prst="roundRect">
            <a:avLst>
              <a:gd name="adj" fmla="val 2500"/>
            </a:avLst>
          </a:prstGeom>
          <a:solidFill>
            <a:srgbClr val="F1F5F9"/>
          </a:solidFill>
          <a:ln/>
        </p:spPr>
      </p:sp>
      <p:sp>
        <p:nvSpPr>
          <p:cNvPr id="9" name="Text 6"/>
          <p:cNvSpPr txBox="1"/>
          <p:nvPr/>
        </p:nvSpPr>
        <p:spPr>
          <a:xfrm>
            <a:off x="5897880" y="1234440"/>
            <a:ext cx="2651760" cy="365760"/>
          </a:xfrm>
          <a:prstGeom prst="rect">
            <a:avLst/>
          </a:prstGeom>
          <a:noFill/>
          <a:ln/>
        </p:spPr>
        <p:txBody>
          <a:bodyPr wrap="square" lIns="0" tIns="0" rIns="0" bIns="0" rtlCol="0" anchor="ctr"/>
          <a:lstStyle/>
          <a:p>
            <a:pPr indent="0" marL="0">
              <a:buNone/>
            </a:pPr>
            <a:r>
              <a:rPr lang="en-US" sz="1500" b="1" dirty="0">
                <a:solidFill>
                  <a:srgbClr val="0F172A"/>
                </a:solidFill>
              </a:rPr>
              <a:t>Test</a:t>
            </a:r>
            <a:endParaRPr lang="en-US" sz="1500" dirty="0"/>
          </a:p>
        </p:txBody>
      </p:sp>
      <p:sp>
        <p:nvSpPr>
          <p:cNvPr id="10" name="Text 7"/>
          <p:cNvSpPr txBox="1"/>
          <p:nvPr/>
        </p:nvSpPr>
        <p:spPr>
          <a:xfrm>
            <a:off x="5897880" y="1645920"/>
            <a:ext cx="265176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E293B"/>
                </a:solidFill>
              </a:rPr>
              <a:t>kubectl apply -f disallow-root.yaml</a:t>
            </a:r>
            <a:endParaRPr lang="en-US" sz="1300" dirty="0"/>
          </a:p>
          <a:p>
            <a:pPr marL="342900" indent="-342900">
              <a:spcAft>
                <a:spcPts val="600"/>
              </a:spcAft>
              <a:buSzPct val="100000"/>
              <a:buChar char="•"/>
            </a:pPr>
            <a:r>
              <a:rPr lang="en-US" sz="1300" dirty="0">
                <a:solidFill>
                  <a:srgbClr val="1E293B"/>
                </a:solidFill>
              </a:rPr>
              <a:t>kubectl run root-test --image=nginx</a:t>
            </a:r>
            <a:endParaRPr lang="en-US" sz="1300" dirty="0"/>
          </a:p>
          <a:p>
            <a:pPr marL="342900" indent="-342900">
              <a:spcAft>
                <a:spcPts val="600"/>
              </a:spcAft>
              <a:buSzPct val="100000"/>
              <a:buChar char="•"/>
            </a:pPr>
            <a:r>
              <a:rPr lang="en-US" sz="1300" dirty="0">
                <a:solidFill>
                  <a:srgbClr val="1E293B"/>
                </a:solidFill>
              </a:rPr>
              <a:t>Refusé à l'admission avec le message de la politique</a:t>
            </a:r>
            <a:endParaRPr lang="en-US" sz="1300" dirty="0"/>
          </a:p>
          <a:p>
            <a:pPr marL="342900" indent="-342900">
              <a:spcAft>
                <a:spcPts val="600"/>
              </a:spcAft>
              <a:buSzPct val="100000"/>
              <a:buChar char="•"/>
            </a:pPr>
            <a:r>
              <a:rPr lang="en-US" sz="1300" dirty="0">
                <a:solidFill>
                  <a:srgbClr val="1E293B"/>
                </a:solidFill>
              </a:rPr>
              <a:t>Pod conforme : runAsNonRoot: true et image non root</a:t>
            </a:r>
            <a:endParaRPr lang="en-US" sz="1300" dirty="0"/>
          </a:p>
        </p:txBody>
      </p:sp>
      <p:sp>
        <p:nvSpPr>
          <p:cNvPr id="11" name="Vérification"/>
          <p:cNvSpPr/>
          <p:nvPr/>
        </p:nvSpPr>
        <p:spPr>
          <a:xfrm>
            <a:off x="457200" y="4206240"/>
            <a:ext cx="8229600" cy="457200"/>
          </a:xfrm>
          <a:prstGeom prst="roundRect">
            <a:avLst>
              <a:gd name="adj" fmla="val 16000"/>
            </a:avLst>
          </a:prstGeom>
          <a:solidFill>
            <a:srgbClr val="F1F5F9"/>
          </a:solidFill>
          <a:ln/>
        </p:spPr>
      </p:sp>
      <p:sp>
        <p:nvSpPr>
          <p:cNvPr id="12" name="Text 9"/>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rgbClr val="F97316"/>
                </a:solidFill>
              </a:rPr>
              <a:t>Vérification : </a:t>
            </a:r>
            <a:pPr indent="0" marL="0">
              <a:buNone/>
            </a:pPr>
            <a:r>
              <a:rPr lang="en-US" sz="1300" dirty="0">
                <a:solidFill>
                  <a:srgbClr val="1E293B"/>
                </a:solidFill>
              </a:rPr>
              <a:t>le pod en root est refusé, le pod conforme est accepté.</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TP5 (3/4) : Rollout canary</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Bloc code"/>
          <p:cNvSpPr/>
          <p:nvPr/>
        </p:nvSpPr>
        <p:spPr>
          <a:xfrm>
            <a:off x="457200" y="1143000"/>
            <a:ext cx="4023360" cy="2971800"/>
          </a:xfrm>
          <a:prstGeom prst="roundRect">
            <a:avLst>
              <a:gd name="adj" fmla="val 1846"/>
            </a:avLst>
          </a:prstGeom>
          <a:solidFill>
            <a:srgbClr val="0F172A"/>
          </a:solidFill>
          <a:ln/>
        </p:spPr>
      </p:sp>
      <p:sp>
        <p:nvSpPr>
          <p:cNvPr id="7" name="Text 4"/>
          <p:cNvSpPr txBox="1"/>
          <p:nvPr/>
        </p:nvSpPr>
        <p:spPr>
          <a:xfrm>
            <a:off x="594360" y="1234440"/>
            <a:ext cx="374904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apiVersion: argoproj.io/v1alpha1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kind: Rollout</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metadata: { name: shop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replicas, selector, template : idem</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strategy:</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canary:</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steps: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setWeight: 20</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pause: { duration: 30s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setWeight: 50</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analysis: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templates: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templateName: success-rate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setWeight: 100</a:t>
            </a:r>
            <a:endParaRPr lang="en-US" sz="1100" dirty="0"/>
          </a:p>
        </p:txBody>
      </p:sp>
      <p:sp>
        <p:nvSpPr>
          <p:cNvPr id="8" name="Bloc code"/>
          <p:cNvSpPr/>
          <p:nvPr/>
        </p:nvSpPr>
        <p:spPr>
          <a:xfrm>
            <a:off x="4663440" y="1143000"/>
            <a:ext cx="4023360" cy="2971800"/>
          </a:xfrm>
          <a:prstGeom prst="roundRect">
            <a:avLst>
              <a:gd name="adj" fmla="val 1846"/>
            </a:avLst>
          </a:prstGeom>
          <a:solidFill>
            <a:srgbClr val="0F172A"/>
          </a:solidFill>
          <a:ln/>
        </p:spPr>
      </p:sp>
      <p:sp>
        <p:nvSpPr>
          <p:cNvPr id="9" name="Text 6"/>
          <p:cNvSpPr txBox="1"/>
          <p:nvPr/>
        </p:nvSpPr>
        <p:spPr>
          <a:xfrm>
            <a:off x="4800600" y="1234440"/>
            <a:ext cx="374904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kubectl argo rollouts get rollout shop -w</a:t>
            </a:r>
            <a:endParaRPr lang="en-US" sz="1100" dirty="0"/>
          </a:p>
          <a:p>
            <a:pPr indent="0" marL="0">
              <a:buNone/>
            </a:pP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version défectueuse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kubectl argo rollouts set image shop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shop=shop:bad</a:t>
            </a:r>
            <a:endParaRPr lang="en-US" sz="1100" dirty="0"/>
          </a:p>
          <a:p>
            <a:pPr indent="0" marL="0">
              <a:buNone/>
            </a:pP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analyse en échec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statut Degraded, retour à la</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version stable automatique</a:t>
            </a:r>
            <a:endParaRPr lang="en-US" sz="1100" dirty="0"/>
          </a:p>
        </p:txBody>
      </p:sp>
      <p:sp>
        <p:nvSpPr>
          <p:cNvPr id="10" name="Vérification"/>
          <p:cNvSpPr/>
          <p:nvPr/>
        </p:nvSpPr>
        <p:spPr>
          <a:xfrm>
            <a:off x="457200" y="4206240"/>
            <a:ext cx="8229600" cy="457200"/>
          </a:xfrm>
          <a:prstGeom prst="roundRect">
            <a:avLst>
              <a:gd name="adj" fmla="val 16000"/>
            </a:avLst>
          </a:prstGeom>
          <a:solidFill>
            <a:srgbClr val="F1F5F9"/>
          </a:solidFill>
          <a:ln/>
        </p:spPr>
      </p:sp>
      <p:sp>
        <p:nvSpPr>
          <p:cNvPr id="11" name="Text 8"/>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rgbClr val="F97316"/>
                </a:solidFill>
              </a:rPr>
              <a:t>Vérification : </a:t>
            </a:r>
            <a:pPr indent="0" marL="0">
              <a:buNone/>
            </a:pPr>
            <a:r>
              <a:rPr lang="en-US" sz="1300" dirty="0">
                <a:solidFill>
                  <a:srgbClr val="1E293B"/>
                </a:solidFill>
              </a:rPr>
              <a:t>la nouvelle version progresse par paliers, puis est annulée si l'analyse échoue.</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TP5 (4/4) : analyse automatique</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sp>
        <p:nvSpPr>
          <p:cNvPr id="6" name="Bloc code"/>
          <p:cNvSpPr/>
          <p:nvPr/>
        </p:nvSpPr>
        <p:spPr>
          <a:xfrm>
            <a:off x="457200" y="1143000"/>
            <a:ext cx="8229600" cy="2971800"/>
          </a:xfrm>
          <a:prstGeom prst="roundRect">
            <a:avLst>
              <a:gd name="adj" fmla="val 1846"/>
            </a:avLst>
          </a:prstGeom>
          <a:solidFill>
            <a:srgbClr val="0F172A"/>
          </a:solidFill>
          <a:ln/>
        </p:spPr>
      </p:sp>
      <p:sp>
        <p:nvSpPr>
          <p:cNvPr id="7" name="Text 4"/>
          <p:cNvSpPr txBox="1"/>
          <p:nvPr/>
        </p:nvSpPr>
        <p:spPr>
          <a:xfrm>
            <a:off x="594360" y="1234440"/>
            <a:ext cx="7955280" cy="2788920"/>
          </a:xfrm>
          <a:prstGeom prst="rect">
            <a:avLst/>
          </a:prstGeom>
          <a:noFill/>
          <a:ln/>
        </p:spPr>
        <p:txBody>
          <a:bodyPr wrap="square" lIns="0" tIns="0" rIns="0" bIns="0" rtlCol="0" anchor="t"/>
          <a:lstStyle/>
          <a:p>
            <a:pPr indent="0" marL="0">
              <a:buNone/>
            </a:pPr>
            <a:r>
              <a:rPr lang="en-US" sz="1100" dirty="0">
                <a:solidFill>
                  <a:srgbClr val="5EEAD4"/>
                </a:solidFill>
                <a:latin typeface="Courier New" pitchFamily="34" charset="0"/>
                <a:ea typeface="Courier New" pitchFamily="34" charset="-122"/>
                <a:cs typeface="Courier New" pitchFamily="34" charset="-120"/>
              </a:rPr>
              <a:t>apiVersion: argoproj.io/v1alpha1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kind: AnalysisTemplate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metadata: { name: success-rate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spec:</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metrics: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name: success-rate</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interval: 30s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failureLimit: 1</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successCondition: result[0] &gt;= 0.95</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provider:</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prometheus:</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address: http://prometheus.monitoring:9090</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query: |</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sum(rate(http_requests_total{status!~"5.."}[1m]))</a:t>
            </a:r>
            <a:endParaRPr lang="en-US" sz="1100" dirty="0"/>
          </a:p>
          <a:p>
            <a:pPr indent="0" marL="0">
              <a:buNone/>
            </a:pPr>
            <a:r>
              <a:rPr lang="en-US" sz="1100" dirty="0">
                <a:solidFill>
                  <a:srgbClr val="5EEAD4"/>
                </a:solidFill>
                <a:latin typeface="Courier New" pitchFamily="34" charset="0"/>
                <a:ea typeface="Courier New" pitchFamily="34" charset="-122"/>
                <a:cs typeface="Courier New" pitchFamily="34" charset="-120"/>
              </a:rPr>
              <a:t>          / sum(rate(http_requests_total[1m]))</a:t>
            </a:r>
            <a:endParaRPr lang="en-US" sz="1100" dirty="0"/>
          </a:p>
        </p:txBody>
      </p:sp>
      <p:sp>
        <p:nvSpPr>
          <p:cNvPr id="8" name="Vérification"/>
          <p:cNvSpPr/>
          <p:nvPr/>
        </p:nvSpPr>
        <p:spPr>
          <a:xfrm>
            <a:off x="457200" y="4206240"/>
            <a:ext cx="8229600" cy="457200"/>
          </a:xfrm>
          <a:prstGeom prst="roundRect">
            <a:avLst>
              <a:gd name="adj" fmla="val 16000"/>
            </a:avLst>
          </a:prstGeom>
          <a:solidFill>
            <a:srgbClr val="F1F5F9"/>
          </a:solidFill>
          <a:ln/>
        </p:spPr>
      </p:sp>
      <p:sp>
        <p:nvSpPr>
          <p:cNvPr id="9" name="Text 6"/>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300" b="1" dirty="0">
                <a:solidFill>
                  <a:srgbClr val="F97316"/>
                </a:solidFill>
              </a:rPr>
              <a:t>Vérification : </a:t>
            </a:r>
            <a:pPr indent="0" marL="0">
              <a:buNone/>
            </a:pPr>
            <a:r>
              <a:rPr lang="en-US" sz="1300" dirty="0">
                <a:solidFill>
                  <a:srgbClr val="1E293B"/>
                </a:solidFill>
              </a:rPr>
              <a:t>avec une version défectueuse, la valeur passe sous 0,95 et le rollout est annulé.</a:t>
            </a:r>
            <a:endParaRPr lang="en-US" sz="13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quiz : Débutant</a:t>
            </a:r>
            <a:endParaRPr lang="en-US" sz="2800" dirty="0"/>
          </a:p>
        </p:txBody>
      </p:sp>
      <p:sp>
        <p:nvSpPr>
          <p:cNvPr id="3" name="Niveau"/>
          <p:cNvSpPr/>
          <p:nvPr/>
        </p:nvSpPr>
        <p:spPr>
          <a:xfrm>
            <a:off x="7223760" y="109728"/>
            <a:ext cx="1463040" cy="237744"/>
          </a:xfrm>
          <a:prstGeom prst="roundRect">
            <a:avLst>
              <a:gd name="adj" fmla="val 46154"/>
            </a:avLst>
          </a:prstGeom>
          <a:solidFill>
            <a:srgbClr val="0D9488"/>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DÉBUTANT</a:t>
            </a:r>
            <a:endParaRPr lang="en-US" sz="10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57200"/>
                <a:gridCol w="2651760"/>
                <a:gridCol w="512064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Réponse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Explication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 Une culture qui rapproche développement et exploitation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DevOps est avant tout une culture de collaboration, outillée par l'automatisation. Ce n'est ni un outil ni un poste.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 Compiler et tester automatiquement chaque commit</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Chaque commit déclenche build et tests pour détecter vite les erreurs.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 Le déploiement continu envoie en production sans approbation manuelle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En livraison continue, le passage en production reste une décision manuelle ; en déploiement continu, il est automatique.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 Le corriger avant tout autre travail</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Un build rouge s'arrête et se corrige en priorité : c'est la responsabilité de toute l'équipe.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 La séparation entre Dev (changement) et Ops (stabilité)</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Les objectifs opposés des deux équipes créent des silos et des livraisons risquées.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quiz : Intermédiaire</a:t>
            </a:r>
            <a:endParaRPr lang="en-US" sz="2800" dirty="0"/>
          </a:p>
        </p:txBody>
      </p:sp>
      <p:sp>
        <p:nvSpPr>
          <p:cNvPr id="3" name="Niveau"/>
          <p:cNvSpPr/>
          <p:nvPr/>
        </p:nvSpPr>
        <p:spPr>
          <a:xfrm>
            <a:off x="7223760" y="109728"/>
            <a:ext cx="1463040" cy="237744"/>
          </a:xfrm>
          <a:prstGeom prst="roundRect">
            <a:avLst>
              <a:gd name="adj" fmla="val 46154"/>
            </a:avLst>
          </a:prstGeom>
          <a:solidFill>
            <a:srgbClr val="0EA5E9"/>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INTERMÉDIAIRE</a:t>
            </a:r>
            <a:endParaRPr lang="en-US" sz="10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57200"/>
                <a:gridCol w="2651760"/>
                <a:gridCol w="512064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Réponse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Explication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 Reproductibilité et historique des changements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Les fichiers versionnés donnent le même résultat à chaque application, avec revue et retour arrière.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 Pour voir les changements avant de les appliquer</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Le plan liste les créations, modifications et suppressions prévues, avant toute action.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 Blue / Green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Blue/Green maintient deux environnements identiques et bascule le trafic : retour instantané mais coût doublé.</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 Métriques, logs, traces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Métriques, logs et traces se complètent pour comprendre pourquoi un système va mal.</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 La part des changements provoquant un incident ou un retour arrière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C'est une métrique de stabilité : le pourcentage de déploiements qui dégradent le service.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quiz : GitOps</a:t>
            </a:r>
            <a:endParaRPr lang="en-US" sz="2800" dirty="0"/>
          </a:p>
        </p:txBody>
      </p:sp>
      <p:sp>
        <p:nvSpPr>
          <p:cNvPr id="3" name="Niveau"/>
          <p:cNvSpPr/>
          <p:nvPr/>
        </p:nvSpPr>
        <p:spPr>
          <a:xfrm>
            <a:off x="7223760" y="109728"/>
            <a:ext cx="1463040" cy="237744"/>
          </a:xfrm>
          <a:prstGeom prst="roundRect">
            <a:avLst>
              <a:gd name="adj" fmla="val 46154"/>
            </a:avLst>
          </a:prstGeom>
          <a:solidFill>
            <a:srgbClr val="7C3AED"/>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GITOPS</a:t>
            </a:r>
            <a:endParaRPr lang="en-US" sz="10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57200"/>
                <a:gridCol w="2651760"/>
                <a:gridCol w="512064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Réponse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Explication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 Git</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L'état désiré est décrit dans Git ; le cluster doit y converger.</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 Un agent situé dans le cluster</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L'agent (Argo CD, Flux) lit Git et applique : aucun identifiant du cluster n'est exposé à l'extérieur.</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 Annule les modifications manuelles faites sur le cluster</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selfHeal ramène l'état réel à l'état de Git ; c'est prune qui supprime les ressources retirées.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 Avec git revert puis push</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Le revert est un nouveau commit que l'agent applique, avec une trace dans l'historique.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 Les fusions entre branches sont pénibles et provoquent des dérives</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Une base commune et des overlays par dossier restent lisibles, et la promotion se fait par pull request.</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indent="0" marL="0">
              <a:buNone/>
            </a:pPr>
            <a:r>
              <a:rPr lang="en-US" sz="2800" b="1" dirty="0">
                <a:solidFill>
                  <a:srgbClr val="0F172A"/>
                </a:solidFill>
                <a:latin typeface="Cambria" pitchFamily="34" charset="0"/>
                <a:ea typeface="Cambria" pitchFamily="34" charset="-122"/>
                <a:cs typeface="Cambria" pitchFamily="34" charset="-120"/>
              </a:rPr>
              <a:t>Corrigé quiz : Expert</a:t>
            </a:r>
            <a:endParaRPr lang="en-US" sz="2800" dirty="0"/>
          </a:p>
        </p:txBody>
      </p:sp>
      <p:sp>
        <p:nvSpPr>
          <p:cNvPr id="3" name="Niveau"/>
          <p:cNvSpPr/>
          <p:nvPr/>
        </p:nvSpPr>
        <p:spPr>
          <a:xfrm>
            <a:off x="7223760" y="109728"/>
            <a:ext cx="1463040" cy="237744"/>
          </a:xfrm>
          <a:prstGeom prst="roundRect">
            <a:avLst>
              <a:gd name="adj" fmla="val 46154"/>
            </a:avLst>
          </a:prstGeom>
          <a:solidFill>
            <a:srgbClr val="F97316"/>
          </a:solidFill>
          <a:ln/>
        </p:spPr>
      </p:sp>
      <p:sp>
        <p:nvSpPr>
          <p:cNvPr id="4" name="Niveau texte"/>
          <p:cNvSpPr txBox="1"/>
          <p:nvPr/>
        </p:nvSpPr>
        <p:spPr>
          <a:xfrm>
            <a:off x="7223760" y="109728"/>
            <a:ext cx="1463040" cy="237744"/>
          </a:xfrm>
          <a:prstGeom prst="rect">
            <a:avLst/>
          </a:prstGeom>
          <a:noFill/>
          <a:ln/>
        </p:spPr>
        <p:txBody>
          <a:bodyPr wrap="square" lIns="0" tIns="0" rIns="0" bIns="0" rtlCol="0" anchor="ctr"/>
          <a:lstStyle/>
          <a:p>
            <a:pPr algn="ctr" indent="0" marL="0">
              <a:buNone/>
            </a:pPr>
            <a:r>
              <a:rPr lang="en-US" sz="1000" b="1" dirty="0">
                <a:solidFill>
                  <a:srgbClr val="FFFFFF"/>
                </a:solidFill>
              </a:rPr>
              <a:t>EXPERT</a:t>
            </a:r>
            <a:endParaRPr lang="en-US" sz="10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57200"/>
                <a:gridCol w="2651760"/>
                <a:gridCol w="5120640"/>
              </a:tblGrid>
              <a:tr h="50292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Réponse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Explication</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 Compromis, car présent dans l'historique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Git conserve l'historique : le secret doit être considéré comme fuité et renouvelé.</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 External Secrets Operator</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Sealed Secrets et SOPS chiffrent dans Git ; External Secrets lit un coffre (Vault, gestionnaire cloud).</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 Générer plusieurs Applications à partir d'un modèle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Des générateurs (clusters, dossiers Git) produisent une Application par cible à partir d'un seul modèle.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 Rétablit automatiquement la version stable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Le rollout passe en Degraded et le trafic revient à la version stable.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50292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B) Kyverno (ou OPA Gatekeeper)</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Kyverno et Gatekeeper appliquent des politiques ; Trivy analyse des images, Cosign les signe.</a:t>
                      </a:r>
                      <a:endParaRPr lang="en-US" sz="1200" dirty="0">
                        <a:latin typeface="Calibri" charset="0"/>
                        <a:ea typeface="Calibri" charset="0"/>
                        <a:cs typeface="Calibri" charset="0"/>
                      </a:endParaRPr>
                    </a:p>
                  </a:txBody>
                  <a:tcPr marL="73152" marR="73152"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l"/>
            <a:fld id="{F7021451-1387-4CA6-816F-3879F97B5CBC}" type="slidenum">
              <a:rPr b="0" lang="en-US"/>
              <a:t>74</a:t>
            </a:fld>
            <a:endParaRPr lang="en-US"/>
          </a:p>
        </p:txBody>
      </p:sp>
    </p:spTree>
  </p:cSld>
  <p:clrMapOvr>
    <a:masterClrMapping/>
  </p:clrMapOvr>
</p:sld>
</file>

<file path=ppt/theme/theme1.xml><?xml version="1.0" encoding="utf-8"?>
<a:theme xmlns:a="http://schemas.openxmlformats.org/drawingml/2006/main" name="DevOps GitOps">
  <a:themeElements>
    <a:clrScheme name="DevOps GitOps">
      <a:dk1>
        <a:srgbClr val="1E293B"/>
      </a:dk1>
      <a:lt1>
        <a:srgbClr val="FFFFFF"/>
      </a:lt1>
      <a:dk2>
        <a:srgbClr val="0F172A"/>
      </a:dk2>
      <a:lt2>
        <a:srgbClr val="F1F5F9"/>
      </a:lt2>
      <a:accent1>
        <a:srgbClr val="0D9488"/>
      </a:accent1>
      <a:accent2>
        <a:srgbClr val="F97316"/>
      </a:accent2>
      <a:accent3>
        <a:srgbClr val="0EA5E9"/>
      </a:accent3>
      <a:accent4>
        <a:srgbClr val="7C3AED"/>
      </a:accent4>
      <a:accent5>
        <a:srgbClr val="5EEAD4"/>
      </a:accent5>
      <a:accent6>
        <a:srgbClr val="64748B"/>
      </a:accent6>
      <a:hlink>
        <a:srgbClr val="0EA5E9"/>
      </a:hlink>
      <a:folHlink>
        <a:srgbClr val="7C3AED"/>
      </a:folHlink>
    </a:clrScheme>
    <a:fontScheme name="DevOps GitOp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&amp; GitOps – du débutant à l'expert</dc:title>
  <dc:subject>DevOps et GitOps : du débutant à l'expert</dc:subject>
  <dc:creator>NZEMBOUONG Patrick</dc:creator>
  <cp:lastModifiedBy>NZEMBOUONG Patrick</cp:lastModifiedBy>
  <cp:revision>1</cp:revision>
  <dcterms:created xsi:type="dcterms:W3CDTF">2026-10-27T19:57:29Z</dcterms:created>
  <dcterms:modified xsi:type="dcterms:W3CDTF">2026-10-27T19:57:29Z</dcterms:modified>
</cp:coreProperties>
</file>